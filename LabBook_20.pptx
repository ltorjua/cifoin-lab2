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29"/>
  </p:notesMasterIdLst>
  <p:handoutMasterIdLst>
    <p:handoutMasterId r:id="rId30"/>
  </p:handoutMasterIdLst>
  <p:sldIdLst>
    <p:sldId id="256" r:id="rId2"/>
    <p:sldId id="289" r:id="rId3"/>
    <p:sldId id="295" r:id="rId4"/>
    <p:sldId id="304" r:id="rId5"/>
    <p:sldId id="305" r:id="rId6"/>
    <p:sldId id="306" r:id="rId7"/>
    <p:sldId id="302" r:id="rId8"/>
    <p:sldId id="307" r:id="rId9"/>
    <p:sldId id="303" r:id="rId10"/>
    <p:sldId id="308" r:id="rId11"/>
    <p:sldId id="309" r:id="rId12"/>
    <p:sldId id="310" r:id="rId13"/>
    <p:sldId id="296" r:id="rId14"/>
    <p:sldId id="293" r:id="rId15"/>
    <p:sldId id="311" r:id="rId16"/>
    <p:sldId id="312" r:id="rId17"/>
    <p:sldId id="294" r:id="rId18"/>
    <p:sldId id="313" r:id="rId19"/>
    <p:sldId id="299" r:id="rId20"/>
    <p:sldId id="300" r:id="rId21"/>
    <p:sldId id="314" r:id="rId22"/>
    <p:sldId id="301" r:id="rId23"/>
    <p:sldId id="290" r:id="rId24"/>
    <p:sldId id="297" r:id="rId25"/>
    <p:sldId id="292" r:id="rId26"/>
    <p:sldId id="298" r:id="rId27"/>
    <p:sldId id="288" r:id="rId28"/>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3A706B2-AA95-4CDC-834C-F4D908C80230}" v="95" dt="2025-02-09T23:48:29.268"/>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799" autoAdjust="0"/>
    <p:restoredTop sz="95033" autoAdjust="0"/>
  </p:normalViewPr>
  <p:slideViewPr>
    <p:cSldViewPr>
      <p:cViewPr>
        <p:scale>
          <a:sx n="100" d="100"/>
          <a:sy n="100" d="100"/>
        </p:scale>
        <p:origin x="437" y="-158"/>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handoutMaster" Target="handoutMasters/handoutMaster1.xml"/><Relationship Id="rId35" Type="http://schemas.microsoft.com/office/2016/11/relationships/changesInfo" Target="changesInfos/changesInfo1.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ian Camilo Cano Vasquez" userId="8c73a2a4-758b-4e34-81ed-39462e48bd92" providerId="ADAL" clId="{83A706B2-AA95-4CDC-834C-F4D908C80230}"/>
    <pc:docChg chg="undo redo custSel addSld delSld modSld">
      <pc:chgData name="Christian Camilo Cano Vasquez" userId="8c73a2a4-758b-4e34-81ed-39462e48bd92" providerId="ADAL" clId="{83A706B2-AA95-4CDC-834C-F4D908C80230}" dt="2025-02-10T11:46:25.185" v="655" actId="20577"/>
      <pc:docMkLst>
        <pc:docMk/>
      </pc:docMkLst>
      <pc:sldChg chg="modSp mod">
        <pc:chgData name="Christian Camilo Cano Vasquez" userId="8c73a2a4-758b-4e34-81ed-39462e48bd92" providerId="ADAL" clId="{83A706B2-AA95-4CDC-834C-F4D908C80230}" dt="2025-02-09T23:21:47.550" v="170" actId="20577"/>
        <pc:sldMkLst>
          <pc:docMk/>
          <pc:sldMk cId="0" sldId="256"/>
        </pc:sldMkLst>
        <pc:spChg chg="mod">
          <ac:chgData name="Christian Camilo Cano Vasquez" userId="8c73a2a4-758b-4e34-81ed-39462e48bd92" providerId="ADAL" clId="{83A706B2-AA95-4CDC-834C-F4D908C80230}" dt="2025-02-09T23:21:47.550" v="170" actId="20577"/>
          <ac:spMkLst>
            <pc:docMk/>
            <pc:sldMk cId="0" sldId="256"/>
            <ac:spMk id="3" creationId="{00000000-0000-0000-0000-000000000000}"/>
          </ac:spMkLst>
        </pc:spChg>
      </pc:sldChg>
      <pc:sldChg chg="modSp mod">
        <pc:chgData name="Christian Camilo Cano Vasquez" userId="8c73a2a4-758b-4e34-81ed-39462e48bd92" providerId="ADAL" clId="{83A706B2-AA95-4CDC-834C-F4D908C80230}" dt="2025-02-09T22:54:55.862" v="0" actId="20577"/>
        <pc:sldMkLst>
          <pc:docMk/>
          <pc:sldMk cId="560234623" sldId="289"/>
        </pc:sldMkLst>
        <pc:spChg chg="mod">
          <ac:chgData name="Christian Camilo Cano Vasquez" userId="8c73a2a4-758b-4e34-81ed-39462e48bd92" providerId="ADAL" clId="{83A706B2-AA95-4CDC-834C-F4D908C80230}" dt="2025-02-09T22:54:55.862" v="0" actId="20577"/>
          <ac:spMkLst>
            <pc:docMk/>
            <pc:sldMk cId="560234623" sldId="289"/>
            <ac:spMk id="4" creationId="{9F7BC140-B3D8-C3CB-55AD-9064C7CDE9CA}"/>
          </ac:spMkLst>
        </pc:spChg>
      </pc:sldChg>
      <pc:sldChg chg="addSp delSp modSp mod">
        <pc:chgData name="Christian Camilo Cano Vasquez" userId="8c73a2a4-758b-4e34-81ed-39462e48bd92" providerId="ADAL" clId="{83A706B2-AA95-4CDC-834C-F4D908C80230}" dt="2025-02-09T23:24:42.493" v="173" actId="20577"/>
        <pc:sldMkLst>
          <pc:docMk/>
          <pc:sldMk cId="730501311" sldId="290"/>
        </pc:sldMkLst>
        <pc:spChg chg="mod">
          <ac:chgData name="Christian Camilo Cano Vasquez" userId="8c73a2a4-758b-4e34-81ed-39462e48bd92" providerId="ADAL" clId="{83A706B2-AA95-4CDC-834C-F4D908C80230}" dt="2025-02-09T23:04:13.626" v="39" actId="20577"/>
          <ac:spMkLst>
            <pc:docMk/>
            <pc:sldMk cId="730501311" sldId="290"/>
            <ac:spMk id="2" creationId="{D0F8CF3B-B920-DBFC-F825-0C87B51EADA7}"/>
          </ac:spMkLst>
        </pc:spChg>
        <pc:spChg chg="del">
          <ac:chgData name="Christian Camilo Cano Vasquez" userId="8c73a2a4-758b-4e34-81ed-39462e48bd92" providerId="ADAL" clId="{83A706B2-AA95-4CDC-834C-F4D908C80230}" dt="2025-02-09T22:59:02.631" v="2" actId="478"/>
          <ac:spMkLst>
            <pc:docMk/>
            <pc:sldMk cId="730501311" sldId="290"/>
            <ac:spMk id="4" creationId="{AA9E72FF-B948-6B7A-8909-97C6BE95D6FB}"/>
          </ac:spMkLst>
        </pc:spChg>
        <pc:spChg chg="add mod">
          <ac:chgData name="Christian Camilo Cano Vasquez" userId="8c73a2a4-758b-4e34-81ed-39462e48bd92" providerId="ADAL" clId="{83A706B2-AA95-4CDC-834C-F4D908C80230}" dt="2025-02-09T23:00:11.400" v="3"/>
          <ac:spMkLst>
            <pc:docMk/>
            <pc:sldMk cId="730501311" sldId="290"/>
            <ac:spMk id="5" creationId="{E7488849-10A1-FB48-F511-E57B062CD7E2}"/>
          </ac:spMkLst>
        </pc:spChg>
        <pc:spChg chg="add mod">
          <ac:chgData name="Christian Camilo Cano Vasquez" userId="8c73a2a4-758b-4e34-81ed-39462e48bd92" providerId="ADAL" clId="{83A706B2-AA95-4CDC-834C-F4D908C80230}" dt="2025-02-09T23:00:11.400" v="3"/>
          <ac:spMkLst>
            <pc:docMk/>
            <pc:sldMk cId="730501311" sldId="290"/>
            <ac:spMk id="6" creationId="{68726DAB-1B5F-39D1-63A0-BB708EA6E17F}"/>
          </ac:spMkLst>
        </pc:spChg>
        <pc:spChg chg="add mod">
          <ac:chgData name="Christian Camilo Cano Vasquez" userId="8c73a2a4-758b-4e34-81ed-39462e48bd92" providerId="ADAL" clId="{83A706B2-AA95-4CDC-834C-F4D908C80230}" dt="2025-02-09T23:00:11.400" v="3"/>
          <ac:spMkLst>
            <pc:docMk/>
            <pc:sldMk cId="730501311" sldId="290"/>
            <ac:spMk id="7" creationId="{6D309BFB-98FD-0CBA-3C6A-346D8859893B}"/>
          </ac:spMkLst>
        </pc:spChg>
        <pc:spChg chg="add mod">
          <ac:chgData name="Christian Camilo Cano Vasquez" userId="8c73a2a4-758b-4e34-81ed-39462e48bd92" providerId="ADAL" clId="{83A706B2-AA95-4CDC-834C-F4D908C80230}" dt="2025-02-09T23:02:26.970" v="32" actId="20577"/>
          <ac:spMkLst>
            <pc:docMk/>
            <pc:sldMk cId="730501311" sldId="290"/>
            <ac:spMk id="8" creationId="{E9BD6C85-02F1-7B54-41E3-E3D9883786D8}"/>
          </ac:spMkLst>
        </pc:spChg>
        <pc:spChg chg="add mod">
          <ac:chgData name="Christian Camilo Cano Vasquez" userId="8c73a2a4-758b-4e34-81ed-39462e48bd92" providerId="ADAL" clId="{83A706B2-AA95-4CDC-834C-F4D908C80230}" dt="2025-02-09T23:02:32.780" v="33"/>
          <ac:spMkLst>
            <pc:docMk/>
            <pc:sldMk cId="730501311" sldId="290"/>
            <ac:spMk id="9" creationId="{7431A41C-EEB3-44D0-4622-A915E258C8F0}"/>
          </ac:spMkLst>
        </pc:spChg>
        <pc:spChg chg="mod">
          <ac:chgData name="Christian Camilo Cano Vasquez" userId="8c73a2a4-758b-4e34-81ed-39462e48bd92" providerId="ADAL" clId="{83A706B2-AA95-4CDC-834C-F4D908C80230}" dt="2025-02-09T23:24:42.493" v="173" actId="20577"/>
          <ac:spMkLst>
            <pc:docMk/>
            <pc:sldMk cId="730501311" sldId="290"/>
            <ac:spMk id="16" creationId="{471E1424-6C4B-2D9A-1352-30AFB987AD41}"/>
          </ac:spMkLst>
        </pc:spChg>
      </pc:sldChg>
      <pc:sldChg chg="addSp delSp modSp mod">
        <pc:chgData name="Christian Camilo Cano Vasquez" userId="8c73a2a4-758b-4e34-81ed-39462e48bd92" providerId="ADAL" clId="{83A706B2-AA95-4CDC-834C-F4D908C80230}" dt="2025-02-09T23:24:47.352" v="175" actId="20577"/>
        <pc:sldMkLst>
          <pc:docMk/>
          <pc:sldMk cId="3712356003" sldId="291"/>
        </pc:sldMkLst>
        <pc:spChg chg="mod">
          <ac:chgData name="Christian Camilo Cano Vasquez" userId="8c73a2a4-758b-4e34-81ed-39462e48bd92" providerId="ADAL" clId="{83A706B2-AA95-4CDC-834C-F4D908C80230}" dt="2025-02-09T23:15:16.003" v="106" actId="20577"/>
          <ac:spMkLst>
            <pc:docMk/>
            <pc:sldMk cId="3712356003" sldId="291"/>
            <ac:spMk id="2" creationId="{CA5F0FDF-2A95-453B-4ECA-AEB637FF2694}"/>
          </ac:spMkLst>
        </pc:spChg>
        <pc:spChg chg="add mod">
          <ac:chgData name="Christian Camilo Cano Vasquez" userId="8c73a2a4-758b-4e34-81ed-39462e48bd92" providerId="ADAL" clId="{83A706B2-AA95-4CDC-834C-F4D908C80230}" dt="2025-02-09T23:14:26.914" v="81" actId="1035"/>
          <ac:spMkLst>
            <pc:docMk/>
            <pc:sldMk cId="3712356003" sldId="291"/>
            <ac:spMk id="4" creationId="{FB4B77A0-B37C-3130-FB52-4E560C66946F}"/>
          </ac:spMkLst>
        </pc:spChg>
        <pc:spChg chg="add mod">
          <ac:chgData name="Christian Camilo Cano Vasquez" userId="8c73a2a4-758b-4e34-81ed-39462e48bd92" providerId="ADAL" clId="{83A706B2-AA95-4CDC-834C-F4D908C80230}" dt="2025-02-09T23:14:26.914" v="81" actId="1035"/>
          <ac:spMkLst>
            <pc:docMk/>
            <pc:sldMk cId="3712356003" sldId="291"/>
            <ac:spMk id="5" creationId="{DA7ECAA3-0876-C0FB-D7E5-448FCC5ED226}"/>
          </ac:spMkLst>
        </pc:spChg>
        <pc:spChg chg="del">
          <ac:chgData name="Christian Camilo Cano Vasquez" userId="8c73a2a4-758b-4e34-81ed-39462e48bd92" providerId="ADAL" clId="{83A706B2-AA95-4CDC-834C-F4D908C80230}" dt="2025-02-09T23:09:07.294" v="48" actId="478"/>
          <ac:spMkLst>
            <pc:docMk/>
            <pc:sldMk cId="3712356003" sldId="291"/>
            <ac:spMk id="7" creationId="{21F754A5-65BC-14A3-5F55-75716FFA9027}"/>
          </ac:spMkLst>
        </pc:spChg>
        <pc:spChg chg="del">
          <ac:chgData name="Christian Camilo Cano Vasquez" userId="8c73a2a4-758b-4e34-81ed-39462e48bd92" providerId="ADAL" clId="{83A706B2-AA95-4CDC-834C-F4D908C80230}" dt="2025-02-09T23:09:11.050" v="49" actId="478"/>
          <ac:spMkLst>
            <pc:docMk/>
            <pc:sldMk cId="3712356003" sldId="291"/>
            <ac:spMk id="8" creationId="{CD9C65D4-5494-F5CE-1094-CB0A32C33876}"/>
          </ac:spMkLst>
        </pc:spChg>
        <pc:spChg chg="add mod">
          <ac:chgData name="Christian Camilo Cano Vasquez" userId="8c73a2a4-758b-4e34-81ed-39462e48bd92" providerId="ADAL" clId="{83A706B2-AA95-4CDC-834C-F4D908C80230}" dt="2025-02-09T23:14:26.914" v="81" actId="1035"/>
          <ac:spMkLst>
            <pc:docMk/>
            <pc:sldMk cId="3712356003" sldId="291"/>
            <ac:spMk id="9" creationId="{C1467207-8D05-D4C6-EBD2-209F796AE977}"/>
          </ac:spMkLst>
        </pc:spChg>
        <pc:spChg chg="add mod">
          <ac:chgData name="Christian Camilo Cano Vasquez" userId="8c73a2a4-758b-4e34-81ed-39462e48bd92" providerId="ADAL" clId="{83A706B2-AA95-4CDC-834C-F4D908C80230}" dt="2025-02-09T23:14:26.914" v="81" actId="1035"/>
          <ac:spMkLst>
            <pc:docMk/>
            <pc:sldMk cId="3712356003" sldId="291"/>
            <ac:spMk id="10" creationId="{32E39C0C-95E1-ED90-891A-5D634D9DB76B}"/>
          </ac:spMkLst>
        </pc:spChg>
        <pc:spChg chg="mod">
          <ac:chgData name="Christian Camilo Cano Vasquez" userId="8c73a2a4-758b-4e34-81ed-39462e48bd92" providerId="ADAL" clId="{83A706B2-AA95-4CDC-834C-F4D908C80230}" dt="2025-02-09T23:24:47.352" v="175" actId="20577"/>
          <ac:spMkLst>
            <pc:docMk/>
            <pc:sldMk cId="3712356003" sldId="291"/>
            <ac:spMk id="16" creationId="{5431EA70-9578-8BF1-5A05-77CDC26788B4}"/>
          </ac:spMkLst>
        </pc:spChg>
        <pc:picChg chg="del">
          <ac:chgData name="Christian Camilo Cano Vasquez" userId="8c73a2a4-758b-4e34-81ed-39462e48bd92" providerId="ADAL" clId="{83A706B2-AA95-4CDC-834C-F4D908C80230}" dt="2025-02-09T23:08:10.270" v="47" actId="478"/>
          <ac:picMkLst>
            <pc:docMk/>
            <pc:sldMk cId="3712356003" sldId="291"/>
            <ac:picMk id="6" creationId="{380A8455-6386-C7D5-7BB6-B79D8D91F0EF}"/>
          </ac:picMkLst>
        </pc:picChg>
      </pc:sldChg>
      <pc:sldChg chg="addSp delSp modSp mod">
        <pc:chgData name="Christian Camilo Cano Vasquez" userId="8c73a2a4-758b-4e34-81ed-39462e48bd92" providerId="ADAL" clId="{83A706B2-AA95-4CDC-834C-F4D908C80230}" dt="2025-02-09T23:31:23.910" v="296" actId="20577"/>
        <pc:sldMkLst>
          <pc:docMk/>
          <pc:sldMk cId="2900117438" sldId="292"/>
        </pc:sldMkLst>
        <pc:spChg chg="mod">
          <ac:chgData name="Christian Camilo Cano Vasquez" userId="8c73a2a4-758b-4e34-81ed-39462e48bd92" providerId="ADAL" clId="{83A706B2-AA95-4CDC-834C-F4D908C80230}" dt="2025-02-09T23:31:23.910" v="296" actId="20577"/>
          <ac:spMkLst>
            <pc:docMk/>
            <pc:sldMk cId="2900117438" sldId="292"/>
            <ac:spMk id="2" creationId="{82A62DD6-5488-72A1-9926-0CAEE59089A9}"/>
          </ac:spMkLst>
        </pc:spChg>
        <pc:spChg chg="add mod">
          <ac:chgData name="Christian Camilo Cano Vasquez" userId="8c73a2a4-758b-4e34-81ed-39462e48bd92" providerId="ADAL" clId="{83A706B2-AA95-4CDC-834C-F4D908C80230}" dt="2025-02-09T23:30:25.991" v="253"/>
          <ac:spMkLst>
            <pc:docMk/>
            <pc:sldMk cId="2900117438" sldId="292"/>
            <ac:spMk id="4" creationId="{796EDE51-D41E-C23B-F402-2F7357DE8714}"/>
          </ac:spMkLst>
        </pc:spChg>
        <pc:spChg chg="add mod">
          <ac:chgData name="Christian Camilo Cano Vasquez" userId="8c73a2a4-758b-4e34-81ed-39462e48bd92" providerId="ADAL" clId="{83A706B2-AA95-4CDC-834C-F4D908C80230}" dt="2025-02-09T23:30:25.991" v="253"/>
          <ac:spMkLst>
            <pc:docMk/>
            <pc:sldMk cId="2900117438" sldId="292"/>
            <ac:spMk id="5" creationId="{5A3233C9-FE6F-52D8-4D87-224222BDA8E1}"/>
          </ac:spMkLst>
        </pc:spChg>
        <pc:spChg chg="add mod">
          <ac:chgData name="Christian Camilo Cano Vasquez" userId="8c73a2a4-758b-4e34-81ed-39462e48bd92" providerId="ADAL" clId="{83A706B2-AA95-4CDC-834C-F4D908C80230}" dt="2025-02-09T23:30:25.991" v="253"/>
          <ac:spMkLst>
            <pc:docMk/>
            <pc:sldMk cId="2900117438" sldId="292"/>
            <ac:spMk id="6" creationId="{0C016548-01A2-6E58-B80D-148384B98EB3}"/>
          </ac:spMkLst>
        </pc:spChg>
        <pc:spChg chg="del">
          <ac:chgData name="Christian Camilo Cano Vasquez" userId="8c73a2a4-758b-4e34-81ed-39462e48bd92" providerId="ADAL" clId="{83A706B2-AA95-4CDC-834C-F4D908C80230}" dt="2025-02-09T23:30:21.832" v="251" actId="478"/>
          <ac:spMkLst>
            <pc:docMk/>
            <pc:sldMk cId="2900117438" sldId="292"/>
            <ac:spMk id="7" creationId="{FBC7D187-267A-ADD4-764C-D3820B8ED302}"/>
          </ac:spMkLst>
        </pc:spChg>
        <pc:spChg chg="del">
          <ac:chgData name="Christian Camilo Cano Vasquez" userId="8c73a2a4-758b-4e34-81ed-39462e48bd92" providerId="ADAL" clId="{83A706B2-AA95-4CDC-834C-F4D908C80230}" dt="2025-02-09T23:30:25.360" v="252" actId="478"/>
          <ac:spMkLst>
            <pc:docMk/>
            <pc:sldMk cId="2900117438" sldId="292"/>
            <ac:spMk id="8" creationId="{1EF5BFDA-8EC1-8C73-A932-F36C4DB93C73}"/>
          </ac:spMkLst>
        </pc:spChg>
        <pc:spChg chg="add mod">
          <ac:chgData name="Christian Camilo Cano Vasquez" userId="8c73a2a4-758b-4e34-81ed-39462e48bd92" providerId="ADAL" clId="{83A706B2-AA95-4CDC-834C-F4D908C80230}" dt="2025-02-09T23:30:25.991" v="253"/>
          <ac:spMkLst>
            <pc:docMk/>
            <pc:sldMk cId="2900117438" sldId="292"/>
            <ac:spMk id="9" creationId="{075D03BE-0D6A-89E5-3C68-D7BD97B4676E}"/>
          </ac:spMkLst>
        </pc:spChg>
        <pc:spChg chg="add mod">
          <ac:chgData name="Christian Camilo Cano Vasquez" userId="8c73a2a4-758b-4e34-81ed-39462e48bd92" providerId="ADAL" clId="{83A706B2-AA95-4CDC-834C-F4D908C80230}" dt="2025-02-09T23:30:25.991" v="253"/>
          <ac:spMkLst>
            <pc:docMk/>
            <pc:sldMk cId="2900117438" sldId="292"/>
            <ac:spMk id="10" creationId="{AC01EDEE-71CC-C570-700B-076F03FCF7E1}"/>
          </ac:spMkLst>
        </pc:spChg>
        <pc:spChg chg="mod">
          <ac:chgData name="Christian Camilo Cano Vasquez" userId="8c73a2a4-758b-4e34-81ed-39462e48bd92" providerId="ADAL" clId="{83A706B2-AA95-4CDC-834C-F4D908C80230}" dt="2025-02-09T23:29:51.940" v="250" actId="20577"/>
          <ac:spMkLst>
            <pc:docMk/>
            <pc:sldMk cId="2900117438" sldId="292"/>
            <ac:spMk id="16" creationId="{6AA2E789-F7AE-F068-274C-E0F13A22DBCA}"/>
          </ac:spMkLst>
        </pc:spChg>
      </pc:sldChg>
      <pc:sldChg chg="del">
        <pc:chgData name="Christian Camilo Cano Vasquez" userId="8c73a2a4-758b-4e34-81ed-39462e48bd92" providerId="ADAL" clId="{83A706B2-AA95-4CDC-834C-F4D908C80230}" dt="2025-02-09T23:36:40.142" v="343" actId="47"/>
        <pc:sldMkLst>
          <pc:docMk/>
          <pc:sldMk cId="3660438245" sldId="293"/>
        </pc:sldMkLst>
      </pc:sldChg>
      <pc:sldChg chg="addSp delSp modSp mod">
        <pc:chgData name="Christian Camilo Cano Vasquez" userId="8c73a2a4-758b-4e34-81ed-39462e48bd92" providerId="ADAL" clId="{83A706B2-AA95-4CDC-834C-F4D908C80230}" dt="2025-02-09T23:43:58.113" v="517" actId="20577"/>
        <pc:sldMkLst>
          <pc:docMk/>
          <pc:sldMk cId="2815679427" sldId="294"/>
        </pc:sldMkLst>
        <pc:spChg chg="add del mod">
          <ac:chgData name="Christian Camilo Cano Vasquez" userId="8c73a2a4-758b-4e34-81ed-39462e48bd92" providerId="ADAL" clId="{83A706B2-AA95-4CDC-834C-F4D908C80230}" dt="2025-02-09T23:39:50.840" v="385" actId="20577"/>
          <ac:spMkLst>
            <pc:docMk/>
            <pc:sldMk cId="2815679427" sldId="294"/>
            <ac:spMk id="2" creationId="{B5029729-ADF3-3B30-4FF9-83BE1DB82BD7}"/>
          </ac:spMkLst>
        </pc:spChg>
        <pc:spChg chg="add mod">
          <ac:chgData name="Christian Camilo Cano Vasquez" userId="8c73a2a4-758b-4e34-81ed-39462e48bd92" providerId="ADAL" clId="{83A706B2-AA95-4CDC-834C-F4D908C80230}" dt="2025-02-09T23:38:32.744" v="355" actId="1076"/>
          <ac:spMkLst>
            <pc:docMk/>
            <pc:sldMk cId="2815679427" sldId="294"/>
            <ac:spMk id="4" creationId="{06A90612-6654-786D-6F6A-F4EA67014379}"/>
          </ac:spMkLst>
        </pc:spChg>
        <pc:spChg chg="add mod">
          <ac:chgData name="Christian Camilo Cano Vasquez" userId="8c73a2a4-758b-4e34-81ed-39462e48bd92" providerId="ADAL" clId="{83A706B2-AA95-4CDC-834C-F4D908C80230}" dt="2025-02-09T23:38:32.744" v="355" actId="1076"/>
          <ac:spMkLst>
            <pc:docMk/>
            <pc:sldMk cId="2815679427" sldId="294"/>
            <ac:spMk id="5" creationId="{5032AC03-DEF1-DAF0-236E-A42778A7A062}"/>
          </ac:spMkLst>
        </pc:spChg>
        <pc:spChg chg="add mod">
          <ac:chgData name="Christian Camilo Cano Vasquez" userId="8c73a2a4-758b-4e34-81ed-39462e48bd92" providerId="ADAL" clId="{83A706B2-AA95-4CDC-834C-F4D908C80230}" dt="2025-02-09T23:37:46.370" v="351"/>
          <ac:spMkLst>
            <pc:docMk/>
            <pc:sldMk cId="2815679427" sldId="294"/>
            <ac:spMk id="6" creationId="{3338A34B-BF11-73AC-D891-565FD218C2F6}"/>
          </ac:spMkLst>
        </pc:spChg>
        <pc:spChg chg="add del mod">
          <ac:chgData name="Christian Camilo Cano Vasquez" userId="8c73a2a4-758b-4e34-81ed-39462e48bd92" providerId="ADAL" clId="{83A706B2-AA95-4CDC-834C-F4D908C80230}" dt="2025-02-09T23:39:04.073" v="372" actId="1036"/>
          <ac:spMkLst>
            <pc:docMk/>
            <pc:sldMk cId="2815679427" sldId="294"/>
            <ac:spMk id="7" creationId="{98DE5FDA-4E91-E843-E84A-1467BFAA9986}"/>
          </ac:spMkLst>
        </pc:spChg>
        <pc:spChg chg="add del mod">
          <ac:chgData name="Christian Camilo Cano Vasquez" userId="8c73a2a4-758b-4e34-81ed-39462e48bd92" providerId="ADAL" clId="{83A706B2-AA95-4CDC-834C-F4D908C80230}" dt="2025-02-09T23:43:58.113" v="517" actId="20577"/>
          <ac:spMkLst>
            <pc:docMk/>
            <pc:sldMk cId="2815679427" sldId="294"/>
            <ac:spMk id="8" creationId="{0DA14DBA-172E-DA2C-0573-6A00BF18F4A5}"/>
          </ac:spMkLst>
        </pc:spChg>
        <pc:spChg chg="add mod">
          <ac:chgData name="Christian Camilo Cano Vasquez" userId="8c73a2a4-758b-4e34-81ed-39462e48bd92" providerId="ADAL" clId="{83A706B2-AA95-4CDC-834C-F4D908C80230}" dt="2025-02-09T23:38:32.744" v="355" actId="1076"/>
          <ac:spMkLst>
            <pc:docMk/>
            <pc:sldMk cId="2815679427" sldId="294"/>
            <ac:spMk id="9" creationId="{4D1551B0-A822-E426-5721-B1FC37702FCB}"/>
          </ac:spMkLst>
        </pc:spChg>
        <pc:spChg chg="add mod">
          <ac:chgData name="Christian Camilo Cano Vasquez" userId="8c73a2a4-758b-4e34-81ed-39462e48bd92" providerId="ADAL" clId="{83A706B2-AA95-4CDC-834C-F4D908C80230}" dt="2025-02-09T23:38:32.744" v="355" actId="1076"/>
          <ac:spMkLst>
            <pc:docMk/>
            <pc:sldMk cId="2815679427" sldId="294"/>
            <ac:spMk id="11" creationId="{EFED69C0-44A5-9995-03AC-A48118DEE677}"/>
          </ac:spMkLst>
        </pc:spChg>
        <pc:spChg chg="mod">
          <ac:chgData name="Christian Camilo Cano Vasquez" userId="8c73a2a4-758b-4e34-81ed-39462e48bd92" providerId="ADAL" clId="{83A706B2-AA95-4CDC-834C-F4D908C80230}" dt="2025-02-09T23:38:57.830" v="367" actId="20577"/>
          <ac:spMkLst>
            <pc:docMk/>
            <pc:sldMk cId="2815679427" sldId="294"/>
            <ac:spMk id="16" creationId="{2B8D44BF-A3B5-6BED-C39C-FA8260E83536}"/>
          </ac:spMkLst>
        </pc:spChg>
        <pc:picChg chg="add mod">
          <ac:chgData name="Christian Camilo Cano Vasquez" userId="8c73a2a4-758b-4e34-81ed-39462e48bd92" providerId="ADAL" clId="{83A706B2-AA95-4CDC-834C-F4D908C80230}" dt="2025-02-09T23:38:32.744" v="355" actId="1076"/>
          <ac:picMkLst>
            <pc:docMk/>
            <pc:sldMk cId="2815679427" sldId="294"/>
            <ac:picMk id="10" creationId="{EA7B2FC2-D98A-62A1-228C-2882147646FE}"/>
          </ac:picMkLst>
        </pc:picChg>
      </pc:sldChg>
      <pc:sldChg chg="addSp delSp modSp new mod">
        <pc:chgData name="Christian Camilo Cano Vasquez" userId="8c73a2a4-758b-4e34-81ed-39462e48bd92" providerId="ADAL" clId="{83A706B2-AA95-4CDC-834C-F4D908C80230}" dt="2025-02-09T23:17:54.551" v="115" actId="403"/>
        <pc:sldMkLst>
          <pc:docMk/>
          <pc:sldMk cId="1640019522" sldId="295"/>
        </pc:sldMkLst>
        <pc:spChg chg="del">
          <ac:chgData name="Christian Camilo Cano Vasquez" userId="8c73a2a4-758b-4e34-81ed-39462e48bd92" providerId="ADAL" clId="{83A706B2-AA95-4CDC-834C-F4D908C80230}" dt="2025-02-09T23:17:37.829" v="108" actId="478"/>
          <ac:spMkLst>
            <pc:docMk/>
            <pc:sldMk cId="1640019522" sldId="295"/>
            <ac:spMk id="2" creationId="{5D66A4B3-0EC3-435E-57A3-EB664561ABDB}"/>
          </ac:spMkLst>
        </pc:spChg>
        <pc:spChg chg="del">
          <ac:chgData name="Christian Camilo Cano Vasquez" userId="8c73a2a4-758b-4e34-81ed-39462e48bd92" providerId="ADAL" clId="{83A706B2-AA95-4CDC-834C-F4D908C80230}" dt="2025-02-09T23:17:45.590" v="109"/>
          <ac:spMkLst>
            <pc:docMk/>
            <pc:sldMk cId="1640019522" sldId="295"/>
            <ac:spMk id="3" creationId="{A7B12427-6892-E9F1-A7EF-25CEDC14529C}"/>
          </ac:spMkLst>
        </pc:spChg>
        <pc:spChg chg="add mod">
          <ac:chgData name="Christian Camilo Cano Vasquez" userId="8c73a2a4-758b-4e34-81ed-39462e48bd92" providerId="ADAL" clId="{83A706B2-AA95-4CDC-834C-F4D908C80230}" dt="2025-02-09T23:17:54.551" v="115" actId="403"/>
          <ac:spMkLst>
            <pc:docMk/>
            <pc:sldMk cId="1640019522" sldId="295"/>
            <ac:spMk id="6" creationId="{AF6692CA-D0D0-2BAF-E673-933E02AE2BB8}"/>
          </ac:spMkLst>
        </pc:spChg>
      </pc:sldChg>
      <pc:sldChg chg="modSp add mod">
        <pc:chgData name="Christian Camilo Cano Vasquez" userId="8c73a2a4-758b-4e34-81ed-39462e48bd92" providerId="ADAL" clId="{83A706B2-AA95-4CDC-834C-F4D908C80230}" dt="2025-02-09T23:18:46.605" v="158" actId="20577"/>
        <pc:sldMkLst>
          <pc:docMk/>
          <pc:sldMk cId="3873318961" sldId="296"/>
        </pc:sldMkLst>
        <pc:spChg chg="mod">
          <ac:chgData name="Christian Camilo Cano Vasquez" userId="8c73a2a4-758b-4e34-81ed-39462e48bd92" providerId="ADAL" clId="{83A706B2-AA95-4CDC-834C-F4D908C80230}" dt="2025-02-09T23:18:46.605" v="158" actId="20577"/>
          <ac:spMkLst>
            <pc:docMk/>
            <pc:sldMk cId="3873318961" sldId="296"/>
            <ac:spMk id="6" creationId="{8111062F-F9A0-241E-6CCB-6E8BE4D8C60A}"/>
          </ac:spMkLst>
        </pc:spChg>
      </pc:sldChg>
      <pc:sldChg chg="modSp add mod">
        <pc:chgData name="Christian Camilo Cano Vasquez" userId="8c73a2a4-758b-4e34-81ed-39462e48bd92" providerId="ADAL" clId="{83A706B2-AA95-4CDC-834C-F4D908C80230}" dt="2025-02-10T11:46:25.185" v="655" actId="20577"/>
        <pc:sldMkLst>
          <pc:docMk/>
          <pc:sldMk cId="3454032079" sldId="297"/>
        </pc:sldMkLst>
        <pc:spChg chg="mod">
          <ac:chgData name="Christian Camilo Cano Vasquez" userId="8c73a2a4-758b-4e34-81ed-39462e48bd92" providerId="ADAL" clId="{83A706B2-AA95-4CDC-834C-F4D908C80230}" dt="2025-02-09T23:26:45.534" v="237" actId="20577"/>
          <ac:spMkLst>
            <pc:docMk/>
            <pc:sldMk cId="3454032079" sldId="297"/>
            <ac:spMk id="2" creationId="{181326FD-308E-2C47-D5D2-57B3357241AA}"/>
          </ac:spMkLst>
        </pc:spChg>
        <pc:spChg chg="mod">
          <ac:chgData name="Christian Camilo Cano Vasquez" userId="8c73a2a4-758b-4e34-81ed-39462e48bd92" providerId="ADAL" clId="{83A706B2-AA95-4CDC-834C-F4D908C80230}" dt="2025-02-09T23:26:13.591" v="226" actId="20577"/>
          <ac:spMkLst>
            <pc:docMk/>
            <pc:sldMk cId="3454032079" sldId="297"/>
            <ac:spMk id="8" creationId="{B08C2240-8810-4E0A-7DCF-E62A8271EA2E}"/>
          </ac:spMkLst>
        </pc:spChg>
        <pc:spChg chg="mod">
          <ac:chgData name="Christian Camilo Cano Vasquez" userId="8c73a2a4-758b-4e34-81ed-39462e48bd92" providerId="ADAL" clId="{83A706B2-AA95-4CDC-834C-F4D908C80230}" dt="2025-02-09T23:26:17.294" v="229" actId="20577"/>
          <ac:spMkLst>
            <pc:docMk/>
            <pc:sldMk cId="3454032079" sldId="297"/>
            <ac:spMk id="9" creationId="{BBDDC809-0F06-CBE2-4D1A-3A2FA36C33A8}"/>
          </ac:spMkLst>
        </pc:spChg>
        <pc:spChg chg="mod">
          <ac:chgData name="Christian Camilo Cano Vasquez" userId="8c73a2a4-758b-4e34-81ed-39462e48bd92" providerId="ADAL" clId="{83A706B2-AA95-4CDC-834C-F4D908C80230}" dt="2025-02-10T11:46:25.185" v="655" actId="20577"/>
          <ac:spMkLst>
            <pc:docMk/>
            <pc:sldMk cId="3454032079" sldId="297"/>
            <ac:spMk id="16" creationId="{5AC39480-E3E5-69B1-401F-A50C45531EF2}"/>
          </ac:spMkLst>
        </pc:spChg>
      </pc:sldChg>
      <pc:sldChg chg="modSp add mod">
        <pc:chgData name="Christian Camilo Cano Vasquez" userId="8c73a2a4-758b-4e34-81ed-39462e48bd92" providerId="ADAL" clId="{83A706B2-AA95-4CDC-834C-F4D908C80230}" dt="2025-02-09T23:36:30.584" v="342" actId="20577"/>
        <pc:sldMkLst>
          <pc:docMk/>
          <pc:sldMk cId="2103719889" sldId="298"/>
        </pc:sldMkLst>
        <pc:spChg chg="mod">
          <ac:chgData name="Christian Camilo Cano Vasquez" userId="8c73a2a4-758b-4e34-81ed-39462e48bd92" providerId="ADAL" clId="{83A706B2-AA95-4CDC-834C-F4D908C80230}" dt="2025-02-09T23:36:30.584" v="342" actId="20577"/>
          <ac:spMkLst>
            <pc:docMk/>
            <pc:sldMk cId="2103719889" sldId="298"/>
            <ac:spMk id="2" creationId="{8D88CB07-C5F5-9BB7-9F41-E171F0F0E2B9}"/>
          </ac:spMkLst>
        </pc:spChg>
        <pc:spChg chg="mod">
          <ac:chgData name="Christian Camilo Cano Vasquez" userId="8c73a2a4-758b-4e34-81ed-39462e48bd92" providerId="ADAL" clId="{83A706B2-AA95-4CDC-834C-F4D908C80230}" dt="2025-02-09T23:35:30.421" v="324" actId="20577"/>
          <ac:spMkLst>
            <pc:docMk/>
            <pc:sldMk cId="2103719889" sldId="298"/>
            <ac:spMk id="9" creationId="{2BDFECD2-156D-6697-CFBF-8CD783F9B986}"/>
          </ac:spMkLst>
        </pc:spChg>
        <pc:spChg chg="mod">
          <ac:chgData name="Christian Camilo Cano Vasquez" userId="8c73a2a4-758b-4e34-81ed-39462e48bd92" providerId="ADAL" clId="{83A706B2-AA95-4CDC-834C-F4D908C80230}" dt="2025-02-09T23:35:34.437" v="331" actId="20577"/>
          <ac:spMkLst>
            <pc:docMk/>
            <pc:sldMk cId="2103719889" sldId="298"/>
            <ac:spMk id="10" creationId="{3BFC64CA-DE35-A528-CF09-36A26DB3DEE4}"/>
          </ac:spMkLst>
        </pc:spChg>
        <pc:spChg chg="mod">
          <ac:chgData name="Christian Camilo Cano Vasquez" userId="8c73a2a4-758b-4e34-81ed-39462e48bd92" providerId="ADAL" clId="{83A706B2-AA95-4CDC-834C-F4D908C80230}" dt="2025-02-09T23:35:16.010" v="319" actId="20577"/>
          <ac:spMkLst>
            <pc:docMk/>
            <pc:sldMk cId="2103719889" sldId="298"/>
            <ac:spMk id="16" creationId="{53FFBD12-4EFF-41C1-4765-2AD268B2BD94}"/>
          </ac:spMkLst>
        </pc:spChg>
      </pc:sldChg>
      <pc:sldChg chg="modSp add mod">
        <pc:chgData name="Christian Camilo Cano Vasquez" userId="8c73a2a4-758b-4e34-81ed-39462e48bd92" providerId="ADAL" clId="{83A706B2-AA95-4CDC-834C-F4D908C80230}" dt="2025-02-09T23:43:30.035" v="490" actId="20577"/>
        <pc:sldMkLst>
          <pc:docMk/>
          <pc:sldMk cId="2685215753" sldId="299"/>
        </pc:sldMkLst>
        <pc:spChg chg="mod">
          <ac:chgData name="Christian Camilo Cano Vasquez" userId="8c73a2a4-758b-4e34-81ed-39462e48bd92" providerId="ADAL" clId="{83A706B2-AA95-4CDC-834C-F4D908C80230}" dt="2025-02-09T23:43:30.035" v="490" actId="20577"/>
          <ac:spMkLst>
            <pc:docMk/>
            <pc:sldMk cId="2685215753" sldId="299"/>
            <ac:spMk id="2" creationId="{43D7D9E5-DAC3-2BB8-7377-826863CBAD4E}"/>
          </ac:spMkLst>
        </pc:spChg>
        <pc:spChg chg="mod">
          <ac:chgData name="Christian Camilo Cano Vasquez" userId="8c73a2a4-758b-4e34-81ed-39462e48bd92" providerId="ADAL" clId="{83A706B2-AA95-4CDC-834C-F4D908C80230}" dt="2025-02-09T23:43:03.787" v="468" actId="1076"/>
          <ac:spMkLst>
            <pc:docMk/>
            <pc:sldMk cId="2685215753" sldId="299"/>
            <ac:spMk id="8" creationId="{643565A9-7DB6-D6EE-152F-2852C8BA7986}"/>
          </ac:spMkLst>
        </pc:spChg>
        <pc:spChg chg="mod">
          <ac:chgData name="Christian Camilo Cano Vasquez" userId="8c73a2a4-758b-4e34-81ed-39462e48bd92" providerId="ADAL" clId="{83A706B2-AA95-4CDC-834C-F4D908C80230}" dt="2025-02-09T23:43:18.188" v="482" actId="20577"/>
          <ac:spMkLst>
            <pc:docMk/>
            <pc:sldMk cId="2685215753" sldId="299"/>
            <ac:spMk id="16" creationId="{C096193E-AB86-E3CD-BDAC-0F9156C1A3F0}"/>
          </ac:spMkLst>
        </pc:spChg>
      </pc:sldChg>
      <pc:sldChg chg="modSp add mod">
        <pc:chgData name="Christian Camilo Cano Vasquez" userId="8c73a2a4-758b-4e34-81ed-39462e48bd92" providerId="ADAL" clId="{83A706B2-AA95-4CDC-834C-F4D908C80230}" dt="2025-02-09T23:48:20.230" v="543" actId="20577"/>
        <pc:sldMkLst>
          <pc:docMk/>
          <pc:sldMk cId="1023731220" sldId="300"/>
        </pc:sldMkLst>
        <pc:spChg chg="mod">
          <ac:chgData name="Christian Camilo Cano Vasquez" userId="8c73a2a4-758b-4e34-81ed-39462e48bd92" providerId="ADAL" clId="{83A706B2-AA95-4CDC-834C-F4D908C80230}" dt="2025-02-09T23:45:57.548" v="541" actId="20577"/>
          <ac:spMkLst>
            <pc:docMk/>
            <pc:sldMk cId="1023731220" sldId="300"/>
            <ac:spMk id="8" creationId="{B0CFB20A-64F3-A296-71E8-F4FA17D35314}"/>
          </ac:spMkLst>
        </pc:spChg>
        <pc:spChg chg="mod">
          <ac:chgData name="Christian Camilo Cano Vasquez" userId="8c73a2a4-758b-4e34-81ed-39462e48bd92" providerId="ADAL" clId="{83A706B2-AA95-4CDC-834C-F4D908C80230}" dt="2025-02-09T23:48:20.230" v="543" actId="20577"/>
          <ac:spMkLst>
            <pc:docMk/>
            <pc:sldMk cId="1023731220" sldId="300"/>
            <ac:spMk id="16" creationId="{E1662E38-DE72-ADF3-A38E-08ED40DCC2AD}"/>
          </ac:spMkLst>
        </pc:spChg>
      </pc:sldChg>
      <pc:sldChg chg="modSp add mod">
        <pc:chgData name="Christian Camilo Cano Vasquez" userId="8c73a2a4-758b-4e34-81ed-39462e48bd92" providerId="ADAL" clId="{83A706B2-AA95-4CDC-834C-F4D908C80230}" dt="2025-02-10T08:28:14.084" v="652" actId="20577"/>
        <pc:sldMkLst>
          <pc:docMk/>
          <pc:sldMk cId="699864314" sldId="301"/>
        </pc:sldMkLst>
        <pc:spChg chg="mod">
          <ac:chgData name="Christian Camilo Cano Vasquez" userId="8c73a2a4-758b-4e34-81ed-39462e48bd92" providerId="ADAL" clId="{83A706B2-AA95-4CDC-834C-F4D908C80230}" dt="2025-02-09T23:49:32.025" v="650" actId="20577"/>
          <ac:spMkLst>
            <pc:docMk/>
            <pc:sldMk cId="699864314" sldId="301"/>
            <ac:spMk id="2" creationId="{42D73A2E-0E5A-8A39-6B70-F9E94D6DBB70}"/>
          </ac:spMkLst>
        </pc:spChg>
        <pc:spChg chg="mod">
          <ac:chgData name="Christian Camilo Cano Vasquez" userId="8c73a2a4-758b-4e34-81ed-39462e48bd92" providerId="ADAL" clId="{83A706B2-AA95-4CDC-834C-F4D908C80230}" dt="2025-02-10T08:28:14.084" v="652" actId="20577"/>
          <ac:spMkLst>
            <pc:docMk/>
            <pc:sldMk cId="699864314" sldId="301"/>
            <ac:spMk id="16" creationId="{1E256546-3103-104D-A87F-78AEBE5D595E}"/>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27/04/2026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27/04/2026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805FA0-8310-95D9-F59F-8F42EEDA245A}"/>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3AABB8C-A6AF-3BA6-45D2-74E49192B4CE}"/>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4EF13E16-C481-3712-5627-1CB01BC0AFB9}"/>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134307B-A280-388B-6938-077D670A8B36}"/>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22433268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D7D5F6-EE4B-DBF5-46B6-DC091AA2222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2F8459E7-E42C-AEC7-7988-1258D54457CF}"/>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9A1866CC-E4A1-2661-5B36-0258987A20B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F177EBE-7AF8-0B33-4A0A-46D7104890D4}"/>
              </a:ext>
            </a:extLst>
          </p:cNvPr>
          <p:cNvSpPr>
            <a:spLocks noGrp="1"/>
          </p:cNvSpPr>
          <p:nvPr>
            <p:ph type="sldNum" sz="quarter" idx="5"/>
          </p:nvPr>
        </p:nvSpPr>
        <p:spPr/>
        <p:txBody>
          <a:bodyPr/>
          <a:lstStyle/>
          <a:p>
            <a:fld id="{676223B9-C868-4436-87D9-1A3152E1157A}" type="slidenum">
              <a:rPr lang="es-ES" smtClean="0"/>
              <a:t>6</a:t>
            </a:fld>
            <a:endParaRPr lang="es-ES"/>
          </a:p>
        </p:txBody>
      </p:sp>
    </p:spTree>
    <p:extLst>
      <p:ext uri="{BB962C8B-B14F-4D97-AF65-F5344CB8AC3E}">
        <p14:creationId xmlns:p14="http://schemas.microsoft.com/office/powerpoint/2010/main" val="123322387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4438A7-7899-A307-6C90-D3A73AD2D35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D849CA7-6569-7BE9-9AB5-25077A5726C9}"/>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ED60DF00-DBEB-4907-1E26-441FD826D2E2}"/>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E1E232A-8911-AE01-BEB9-1EF0BF46163F}"/>
              </a:ext>
            </a:extLst>
          </p:cNvPr>
          <p:cNvSpPr>
            <a:spLocks noGrp="1"/>
          </p:cNvSpPr>
          <p:nvPr>
            <p:ph type="sldNum" sz="quarter" idx="5"/>
          </p:nvPr>
        </p:nvSpPr>
        <p:spPr/>
        <p:txBody>
          <a:bodyPr/>
          <a:lstStyle/>
          <a:p>
            <a:fld id="{676223B9-C868-4436-87D9-1A3152E1157A}" type="slidenum">
              <a:rPr lang="es-ES" smtClean="0"/>
              <a:t>8</a:t>
            </a:fld>
            <a:endParaRPr lang="es-ES"/>
          </a:p>
        </p:txBody>
      </p:sp>
    </p:spTree>
    <p:extLst>
      <p:ext uri="{BB962C8B-B14F-4D97-AF65-F5344CB8AC3E}">
        <p14:creationId xmlns:p14="http://schemas.microsoft.com/office/powerpoint/2010/main" val="37235977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9</a:t>
            </a:fld>
            <a:endParaRPr lang="es-ES"/>
          </a:p>
        </p:txBody>
      </p:sp>
    </p:spTree>
    <p:extLst>
      <p:ext uri="{BB962C8B-B14F-4D97-AF65-F5344CB8AC3E}">
        <p14:creationId xmlns:p14="http://schemas.microsoft.com/office/powerpoint/2010/main" val="41160790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64454F-0878-7CEE-CF50-A103ECC9DB7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BB21B1E-FB90-688E-B9DC-156F8C3BBD98}"/>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D3EECF7-7299-5BEE-9B9B-8B98CAB5566C}"/>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3677DAB8-DEF1-B663-EBFF-A0753DD70E55}"/>
              </a:ext>
            </a:extLst>
          </p:cNvPr>
          <p:cNvSpPr>
            <a:spLocks noGrp="1"/>
          </p:cNvSpPr>
          <p:nvPr>
            <p:ph type="sldNum" sz="quarter" idx="5"/>
          </p:nvPr>
        </p:nvSpPr>
        <p:spPr/>
        <p:txBody>
          <a:bodyPr/>
          <a:lstStyle/>
          <a:p>
            <a:fld id="{676223B9-C868-4436-87D9-1A3152E1157A}" type="slidenum">
              <a:rPr lang="es-ES" smtClean="0"/>
              <a:t>10</a:t>
            </a:fld>
            <a:endParaRPr lang="es-ES"/>
          </a:p>
        </p:txBody>
      </p:sp>
    </p:spTree>
    <p:extLst>
      <p:ext uri="{BB962C8B-B14F-4D97-AF65-F5344CB8AC3E}">
        <p14:creationId xmlns:p14="http://schemas.microsoft.com/office/powerpoint/2010/main" val="140733342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ED805F-3063-79EC-543B-DFAB71AF864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703078E-B50C-DD8F-FA26-10E656F7D1E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6DC5F04-0E58-8BD1-33B6-FDFCC87B89B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48218579-8C14-7CD7-75C8-569C35426792}"/>
              </a:ext>
            </a:extLst>
          </p:cNvPr>
          <p:cNvSpPr>
            <a:spLocks noGrp="1"/>
          </p:cNvSpPr>
          <p:nvPr>
            <p:ph type="sldNum" sz="quarter" idx="5"/>
          </p:nvPr>
        </p:nvSpPr>
        <p:spPr/>
        <p:txBody>
          <a:bodyPr/>
          <a:lstStyle/>
          <a:p>
            <a:fld id="{676223B9-C868-4436-87D9-1A3152E1157A}" type="slidenum">
              <a:rPr lang="es-ES" smtClean="0"/>
              <a:t>11</a:t>
            </a:fld>
            <a:endParaRPr lang="es-ES"/>
          </a:p>
        </p:txBody>
      </p:sp>
    </p:spTree>
    <p:extLst>
      <p:ext uri="{BB962C8B-B14F-4D97-AF65-F5344CB8AC3E}">
        <p14:creationId xmlns:p14="http://schemas.microsoft.com/office/powerpoint/2010/main" val="308252928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272324-A32F-B9AC-50E7-65FCF8A26CF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A8AF1A7-42C7-2BAD-44D5-4D27F8929EF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45EB82A0-D9DE-365C-CBB6-1F3940C6092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F21D0CC7-4111-5D63-5F06-052D2A5B706F}"/>
              </a:ext>
            </a:extLst>
          </p:cNvPr>
          <p:cNvSpPr>
            <a:spLocks noGrp="1"/>
          </p:cNvSpPr>
          <p:nvPr>
            <p:ph type="sldNum" sz="quarter" idx="5"/>
          </p:nvPr>
        </p:nvSpPr>
        <p:spPr/>
        <p:txBody>
          <a:bodyPr/>
          <a:lstStyle/>
          <a:p>
            <a:fld id="{676223B9-C868-4436-87D9-1A3152E1157A}" type="slidenum">
              <a:rPr lang="es-ES" smtClean="0"/>
              <a:t>12</a:t>
            </a:fld>
            <a:endParaRPr lang="es-ES"/>
          </a:p>
        </p:txBody>
      </p:sp>
    </p:spTree>
    <p:extLst>
      <p:ext uri="{BB962C8B-B14F-4D97-AF65-F5344CB8AC3E}">
        <p14:creationId xmlns:p14="http://schemas.microsoft.com/office/powerpoint/2010/main" val="174452449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23B86-D15F-9CD8-C5EA-3EAAD8BACC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73881A-26A5-ECF9-C6F2-3DEFA77AEFC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B7AFC79-4973-3930-959B-AEF8810CFE6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345D0F3-6273-0338-FCDA-175B73D7C9EB}"/>
              </a:ext>
            </a:extLst>
          </p:cNvPr>
          <p:cNvSpPr>
            <a:spLocks noGrp="1"/>
          </p:cNvSpPr>
          <p:nvPr>
            <p:ph type="sldNum" sz="quarter" idx="5"/>
          </p:nvPr>
        </p:nvSpPr>
        <p:spPr/>
        <p:txBody>
          <a:bodyPr/>
          <a:lstStyle/>
          <a:p>
            <a:fld id="{676223B9-C868-4436-87D9-1A3152E1157A}" type="slidenum">
              <a:rPr lang="es-ES" smtClean="0"/>
              <a:t>14</a:t>
            </a:fld>
            <a:endParaRPr lang="es-ES"/>
          </a:p>
        </p:txBody>
      </p:sp>
    </p:spTree>
    <p:extLst>
      <p:ext uri="{BB962C8B-B14F-4D97-AF65-F5344CB8AC3E}">
        <p14:creationId xmlns:p14="http://schemas.microsoft.com/office/powerpoint/2010/main" val="343311592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B30BA2-3EDD-C00F-1E9F-1C4C3354F9C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C7E2A370-C424-5C10-028D-1182022ED817}"/>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8834D9E3-B30F-FFB7-ECE8-CE697EC06B9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F13F2DBD-61A4-84B1-285D-6176746E67E7}"/>
              </a:ext>
            </a:extLst>
          </p:cNvPr>
          <p:cNvSpPr>
            <a:spLocks noGrp="1"/>
          </p:cNvSpPr>
          <p:nvPr>
            <p:ph type="sldNum" sz="quarter" idx="5"/>
          </p:nvPr>
        </p:nvSpPr>
        <p:spPr/>
        <p:txBody>
          <a:bodyPr/>
          <a:lstStyle/>
          <a:p>
            <a:fld id="{676223B9-C868-4436-87D9-1A3152E1157A}" type="slidenum">
              <a:rPr lang="es-ES" smtClean="0"/>
              <a:t>15</a:t>
            </a:fld>
            <a:endParaRPr lang="es-ES"/>
          </a:p>
        </p:txBody>
      </p:sp>
    </p:spTree>
    <p:extLst>
      <p:ext uri="{BB962C8B-B14F-4D97-AF65-F5344CB8AC3E}">
        <p14:creationId xmlns:p14="http://schemas.microsoft.com/office/powerpoint/2010/main" val="270949804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D0C1D0-1D56-98AC-F808-3E50A2E18D0A}"/>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6015224-D113-BB46-5A26-5EED4760F2B9}"/>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EEC43180-97F8-438D-38DE-ABCC1485657B}"/>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1FC060C-8016-8F5A-1B40-21ECBDF327ED}"/>
              </a:ext>
            </a:extLst>
          </p:cNvPr>
          <p:cNvSpPr>
            <a:spLocks noGrp="1"/>
          </p:cNvSpPr>
          <p:nvPr>
            <p:ph type="sldNum" sz="quarter" idx="5"/>
          </p:nvPr>
        </p:nvSpPr>
        <p:spPr/>
        <p:txBody>
          <a:bodyPr/>
          <a:lstStyle/>
          <a:p>
            <a:fld id="{676223B9-C868-4436-87D9-1A3152E1157A}" type="slidenum">
              <a:rPr lang="es-ES" smtClean="0"/>
              <a:t>16</a:t>
            </a:fld>
            <a:endParaRPr lang="es-ES"/>
          </a:p>
        </p:txBody>
      </p:sp>
    </p:spTree>
    <p:extLst>
      <p:ext uri="{BB962C8B-B14F-4D97-AF65-F5344CB8AC3E}">
        <p14:creationId xmlns:p14="http://schemas.microsoft.com/office/powerpoint/2010/main" val="24338497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12144-FCBE-6A8A-A0AE-4B9D57DA8E1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8B7E8D5-CF3D-FB31-A479-FE9B4678B44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E98ECD-779C-B147-FA65-387301E8BDD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4D029A2-BBAC-779C-5358-BB9C7A2A122B}"/>
              </a:ext>
            </a:extLst>
          </p:cNvPr>
          <p:cNvSpPr>
            <a:spLocks noGrp="1"/>
          </p:cNvSpPr>
          <p:nvPr>
            <p:ph type="sldNum" sz="quarter" idx="5"/>
          </p:nvPr>
        </p:nvSpPr>
        <p:spPr/>
        <p:txBody>
          <a:bodyPr/>
          <a:lstStyle/>
          <a:p>
            <a:fld id="{676223B9-C868-4436-87D9-1A3152E1157A}" type="slidenum">
              <a:rPr lang="es-ES" smtClean="0"/>
              <a:t>17</a:t>
            </a:fld>
            <a:endParaRPr lang="es-ES"/>
          </a:p>
        </p:txBody>
      </p:sp>
    </p:spTree>
    <p:extLst>
      <p:ext uri="{BB962C8B-B14F-4D97-AF65-F5344CB8AC3E}">
        <p14:creationId xmlns:p14="http://schemas.microsoft.com/office/powerpoint/2010/main" val="366451984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5ED715-E0AF-B835-3E3D-4C34BA73BEC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4CDB9127-61EF-9CD1-9094-0C61E61EA787}"/>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CE1E093-FF3C-2B3E-8E5D-C38A77397D7C}"/>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F99AB70F-764F-327D-064C-98ED0121B8B9}"/>
              </a:ext>
            </a:extLst>
          </p:cNvPr>
          <p:cNvSpPr>
            <a:spLocks noGrp="1"/>
          </p:cNvSpPr>
          <p:nvPr>
            <p:ph type="sldNum" sz="quarter" idx="5"/>
          </p:nvPr>
        </p:nvSpPr>
        <p:spPr/>
        <p:txBody>
          <a:bodyPr/>
          <a:lstStyle/>
          <a:p>
            <a:fld id="{676223B9-C868-4436-87D9-1A3152E1157A}" type="slidenum">
              <a:rPr lang="es-ES" smtClean="0"/>
              <a:t>18</a:t>
            </a:fld>
            <a:endParaRPr lang="es-ES"/>
          </a:p>
        </p:txBody>
      </p:sp>
    </p:spTree>
    <p:extLst>
      <p:ext uri="{BB962C8B-B14F-4D97-AF65-F5344CB8AC3E}">
        <p14:creationId xmlns:p14="http://schemas.microsoft.com/office/powerpoint/2010/main" val="384074189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46B1C6-3682-4180-87C4-06A6C4E8012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AAE3208-A690-FD1F-E94C-D310F334A7E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8F7B85C-6C72-3DDD-289B-E766AA64E93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B91AFB1E-8F28-1193-6909-CAB4A27B11F0}"/>
              </a:ext>
            </a:extLst>
          </p:cNvPr>
          <p:cNvSpPr>
            <a:spLocks noGrp="1"/>
          </p:cNvSpPr>
          <p:nvPr>
            <p:ph type="sldNum" sz="quarter" idx="5"/>
          </p:nvPr>
        </p:nvSpPr>
        <p:spPr/>
        <p:txBody>
          <a:bodyPr/>
          <a:lstStyle/>
          <a:p>
            <a:fld id="{676223B9-C868-4436-87D9-1A3152E1157A}" type="slidenum">
              <a:rPr lang="es-ES" smtClean="0"/>
              <a:t>19</a:t>
            </a:fld>
            <a:endParaRPr lang="es-ES"/>
          </a:p>
        </p:txBody>
      </p:sp>
    </p:spTree>
    <p:extLst>
      <p:ext uri="{BB962C8B-B14F-4D97-AF65-F5344CB8AC3E}">
        <p14:creationId xmlns:p14="http://schemas.microsoft.com/office/powerpoint/2010/main" val="283517099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0BA22-DBA9-14F1-E21B-ACB4C6B7F32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316E6B2-214F-F40F-258D-FF87081027D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DB75D3B-42C9-35E9-99BA-0268BA71467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1A531B01-1E40-9F79-3CC8-FA6E8156BAFE}"/>
              </a:ext>
            </a:extLst>
          </p:cNvPr>
          <p:cNvSpPr>
            <a:spLocks noGrp="1"/>
          </p:cNvSpPr>
          <p:nvPr>
            <p:ph type="sldNum" sz="quarter" idx="5"/>
          </p:nvPr>
        </p:nvSpPr>
        <p:spPr/>
        <p:txBody>
          <a:bodyPr/>
          <a:lstStyle/>
          <a:p>
            <a:fld id="{676223B9-C868-4436-87D9-1A3152E1157A}" type="slidenum">
              <a:rPr lang="es-ES" smtClean="0"/>
              <a:t>20</a:t>
            </a:fld>
            <a:endParaRPr lang="es-ES"/>
          </a:p>
        </p:txBody>
      </p:sp>
    </p:spTree>
    <p:extLst>
      <p:ext uri="{BB962C8B-B14F-4D97-AF65-F5344CB8AC3E}">
        <p14:creationId xmlns:p14="http://schemas.microsoft.com/office/powerpoint/2010/main" val="71495306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FCFB65-B08E-9414-2220-EC66BF5F527C}"/>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C068E61E-781E-2507-62AC-8F751BE982E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46F5E14-ABD4-746F-B180-9A4F1F5B5B91}"/>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D42F473B-5C73-E53D-451D-9CD71E6F5DC5}"/>
              </a:ext>
            </a:extLst>
          </p:cNvPr>
          <p:cNvSpPr>
            <a:spLocks noGrp="1"/>
          </p:cNvSpPr>
          <p:nvPr>
            <p:ph type="sldNum" sz="quarter" idx="5"/>
          </p:nvPr>
        </p:nvSpPr>
        <p:spPr/>
        <p:txBody>
          <a:bodyPr/>
          <a:lstStyle/>
          <a:p>
            <a:fld id="{676223B9-C868-4436-87D9-1A3152E1157A}" type="slidenum">
              <a:rPr lang="es-ES" smtClean="0"/>
              <a:t>21</a:t>
            </a:fld>
            <a:endParaRPr lang="es-ES"/>
          </a:p>
        </p:txBody>
      </p:sp>
    </p:spTree>
    <p:extLst>
      <p:ext uri="{BB962C8B-B14F-4D97-AF65-F5344CB8AC3E}">
        <p14:creationId xmlns:p14="http://schemas.microsoft.com/office/powerpoint/2010/main" val="350106998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18B0B-1527-F1CE-B7C6-3A4EEEE44FB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D26890C-BFDE-EB57-C86A-5199A0D9621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EEF1C62-7FB2-EC14-4109-CC2B3204CEB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388CFB6A-4B50-8F81-53B5-44C94D279BC8}"/>
              </a:ext>
            </a:extLst>
          </p:cNvPr>
          <p:cNvSpPr>
            <a:spLocks noGrp="1"/>
          </p:cNvSpPr>
          <p:nvPr>
            <p:ph type="sldNum" sz="quarter" idx="5"/>
          </p:nvPr>
        </p:nvSpPr>
        <p:spPr/>
        <p:txBody>
          <a:bodyPr/>
          <a:lstStyle/>
          <a:p>
            <a:fld id="{676223B9-C868-4436-87D9-1A3152E1157A}" type="slidenum">
              <a:rPr lang="es-ES" smtClean="0"/>
              <a:t>22</a:t>
            </a:fld>
            <a:endParaRPr lang="es-ES"/>
          </a:p>
        </p:txBody>
      </p:sp>
    </p:spTree>
    <p:extLst>
      <p:ext uri="{BB962C8B-B14F-4D97-AF65-F5344CB8AC3E}">
        <p14:creationId xmlns:p14="http://schemas.microsoft.com/office/powerpoint/2010/main" val="91556084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23</a:t>
            </a:fld>
            <a:endParaRPr lang="es-ES"/>
          </a:p>
        </p:txBody>
      </p:sp>
    </p:spTree>
    <p:extLst>
      <p:ext uri="{BB962C8B-B14F-4D97-AF65-F5344CB8AC3E}">
        <p14:creationId xmlns:p14="http://schemas.microsoft.com/office/powerpoint/2010/main" val="94223294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C9112F-7FB7-4F49-F4F6-C1D0DC6ADBE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190F532-536D-B583-3561-FD0C56234D4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CC233B1A-142E-BC7B-FE19-6D22CE4082B2}"/>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685087E6-8FC6-B2E3-2D74-B3C5168F5568}"/>
              </a:ext>
            </a:extLst>
          </p:cNvPr>
          <p:cNvSpPr>
            <a:spLocks noGrp="1"/>
          </p:cNvSpPr>
          <p:nvPr>
            <p:ph type="sldNum" sz="quarter" idx="5"/>
          </p:nvPr>
        </p:nvSpPr>
        <p:spPr/>
        <p:txBody>
          <a:bodyPr/>
          <a:lstStyle/>
          <a:p>
            <a:fld id="{676223B9-C868-4436-87D9-1A3152E1157A}" type="slidenum">
              <a:rPr lang="es-ES" smtClean="0"/>
              <a:t>24</a:t>
            </a:fld>
            <a:endParaRPr lang="es-ES"/>
          </a:p>
        </p:txBody>
      </p:sp>
    </p:spTree>
    <p:extLst>
      <p:ext uri="{BB962C8B-B14F-4D97-AF65-F5344CB8AC3E}">
        <p14:creationId xmlns:p14="http://schemas.microsoft.com/office/powerpoint/2010/main" val="158185900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25</a:t>
            </a:fld>
            <a:endParaRPr lang="es-ES"/>
          </a:p>
        </p:txBody>
      </p:sp>
    </p:spTree>
    <p:extLst>
      <p:ext uri="{BB962C8B-B14F-4D97-AF65-F5344CB8AC3E}">
        <p14:creationId xmlns:p14="http://schemas.microsoft.com/office/powerpoint/2010/main" val="290595306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3BE0A-4FED-FF2A-A29F-A3D3BA9386A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78D4508-C900-33E0-69A9-12D9A5EC8BE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3678FD2-F52A-F464-A6DC-9AE4044DCA6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6FF2B29-AFFB-903E-D5AD-4E4E99BA5701}"/>
              </a:ext>
            </a:extLst>
          </p:cNvPr>
          <p:cNvSpPr>
            <a:spLocks noGrp="1"/>
          </p:cNvSpPr>
          <p:nvPr>
            <p:ph type="sldNum" sz="quarter" idx="5"/>
          </p:nvPr>
        </p:nvSpPr>
        <p:spPr/>
        <p:txBody>
          <a:bodyPr/>
          <a:lstStyle/>
          <a:p>
            <a:fld id="{676223B9-C868-4436-87D9-1A3152E1157A}" type="slidenum">
              <a:rPr lang="es-ES" smtClean="0"/>
              <a:t>26</a:t>
            </a:fld>
            <a:endParaRPr lang="es-ES"/>
          </a:p>
        </p:txBody>
      </p:sp>
    </p:spTree>
    <p:extLst>
      <p:ext uri="{BB962C8B-B14F-4D97-AF65-F5344CB8AC3E}">
        <p14:creationId xmlns:p14="http://schemas.microsoft.com/office/powerpoint/2010/main" val="10832986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2.0. COUPLERS</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3.svg"/><Relationship Id="rId7"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png"/></Relationships>
</file>

<file path=ppt/slides/_rels/slide1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1.xml.rels><?xml version="1.0" encoding="UTF-8" standalone="yes"?>
<Relationships xmlns="http://schemas.openxmlformats.org/package/2006/relationships"><Relationship Id="rId3" Type="http://schemas.openxmlformats.org/officeDocument/2006/relationships/image" Target="../media/image3.svg"/><Relationship Id="rId7" Type="http://schemas.openxmlformats.org/officeDocument/2006/relationships/image" Target="../media/image25.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91.png"/></Relationships>
</file>

<file path=ppt/slides/_rels/slide1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28.png"/><Relationship Id="rId4" Type="http://schemas.openxmlformats.org/officeDocument/2006/relationships/image" Target="../media/image27.png"/></Relationships>
</file>

<file path=ppt/slides/_rels/slide1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1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31.png"/><Relationship Id="rId4" Type="http://schemas.openxmlformats.org/officeDocument/2006/relationships/image" Target="../media/image30.png"/></Relationships>
</file>

<file path=ppt/slides/_rels/slide1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34.png"/><Relationship Id="rId4" Type="http://schemas.openxmlformats.org/officeDocument/2006/relationships/image" Target="../media/image33.png"/></Relationships>
</file>

<file path=ppt/slides/_rels/slide2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36.png"/><Relationship Id="rId4" Type="http://schemas.openxmlformats.org/officeDocument/2006/relationships/image" Target="../media/image35.png"/></Relationships>
</file>

<file path=ppt/slides/_rels/slide2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s>
</file>

<file path=ppt/slides/_rels/slide2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s>
</file>

<file path=ppt/slides/_rels/slide2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s>
</file>

<file path=ppt/slides/_rels/slide2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40.png"/><Relationship Id="rId5" Type="http://schemas.openxmlformats.org/officeDocument/2006/relationships/image" Target="../media/image130.png"/></Relationships>
</file>

<file path=ppt/slides/_rels/slide27.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6106795" cy="513715"/>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2.0. </a:t>
            </a:r>
            <a:r>
              <a:rPr lang="es-ES" sz="3200" b="1" dirty="0" err="1">
                <a:latin typeface="Lucida Sans"/>
                <a:cs typeface="Lucida Sans"/>
              </a:rPr>
              <a:t>Couplers</a:t>
            </a: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a:latin typeface="Arial"/>
                <a:cs typeface="Arial"/>
              </a:rPr>
              <a:t>Student: Lidia Tórtola Juan y Raúl Salido Calatayud</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Fork the repo: https://github.com/cccanvas-upv/cifoin-lab2.git</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Clone the repo using </a:t>
            </a:r>
            <a:r>
              <a:rPr lang="en-US" kern="0" dirty="0" err="1">
                <a:solidFill>
                  <a:sysClr val="windowText" lastClr="000000"/>
                </a:solidFill>
                <a:sym typeface="Wingdings" pitchFamily="2" charset="2"/>
              </a:rPr>
              <a:t>VSCode</a:t>
            </a:r>
            <a:endParaRPr lang="en-US" kern="0" dirty="0">
              <a:solidFill>
                <a:sysClr val="windowText" lastClr="000000"/>
              </a:solidFill>
              <a:sym typeface="Wingdings" pitchFamily="2" charset="2"/>
            </a:endParaRPr>
          </a:p>
          <a:p>
            <a:pPr marL="342900" indent="-342900" algn="just">
              <a:buFont typeface="Arial" panose="020B0604020202020204" pitchFamily="34" charset="0"/>
              <a:buChar char="•"/>
            </a:pPr>
            <a:r>
              <a:rPr lang="en-US" kern="0" dirty="0">
                <a:solidFill>
                  <a:sysClr val="windowText" lastClr="000000"/>
                </a:solidFill>
              </a:rPr>
              <a:t>Run the </a:t>
            </a:r>
            <a:r>
              <a:rPr lang="en-US" kern="0" dirty="0" err="1">
                <a:solidFill>
                  <a:sysClr val="windowText" lastClr="000000"/>
                </a:solidFill>
              </a:rPr>
              <a:t>Jupyter</a:t>
            </a:r>
            <a:r>
              <a:rPr lang="en-US" kern="0" dirty="0">
                <a:solidFill>
                  <a:sysClr val="windowText" lastClr="000000"/>
                </a:solidFill>
              </a:rPr>
              <a:t> Notebook: </a:t>
            </a:r>
          </a:p>
          <a:p>
            <a:pPr marL="800100" lvl="1" indent="-342900" algn="just">
              <a:buFont typeface="Arial" panose="020B0604020202020204" pitchFamily="34" charset="0"/>
              <a:buChar char="•"/>
            </a:pPr>
            <a:r>
              <a:rPr lang="en-US" kern="0" dirty="0" err="1">
                <a:solidFill>
                  <a:sysClr val="windowText" lastClr="000000"/>
                </a:solidFill>
              </a:rPr>
              <a:t>COUPLERS_Student.ipynb</a:t>
            </a:r>
            <a:r>
              <a:rPr lang="en-US" kern="0" dirty="0">
                <a:solidFill>
                  <a:sysClr val="windowText" lastClr="000000"/>
                </a:solidFill>
              </a:rPr>
              <a:t> </a:t>
            </a:r>
          </a:p>
          <a:p>
            <a:pPr algn="just"/>
            <a:endParaRPr lang="en-US" b="1" i="1" dirty="0"/>
          </a:p>
          <a:p>
            <a:pPr algn="just"/>
            <a:r>
              <a:rPr lang="en-US" b="1" i="1" dirty="0"/>
              <a:t>Cross-Sections </a:t>
            </a:r>
            <a:r>
              <a:rPr lang="en-US" i="1" dirty="0"/>
              <a:t>to be studied:</a:t>
            </a:r>
            <a:endParaRPr lang="en-US" b="1" i="1" dirty="0"/>
          </a:p>
          <a:p>
            <a:pPr algn="just"/>
            <a:endParaRPr lang="en-US" sz="2000" b="1" i="1" dirty="0"/>
          </a:p>
          <a:p>
            <a:pPr algn="just"/>
            <a:endParaRPr lang="en-US" sz="2000" kern="0" dirty="0">
              <a:solidFill>
                <a:sysClr val="windowText" lastClr="000000"/>
              </a:solidFill>
            </a:endParaRPr>
          </a:p>
        </p:txBody>
      </p:sp>
      <p:sp>
        <p:nvSpPr>
          <p:cNvPr id="96" name="object 7">
            <a:extLst>
              <a:ext uri="{FF2B5EF4-FFF2-40B4-BE49-F238E27FC236}">
                <a16:creationId xmlns:a16="http://schemas.microsoft.com/office/drawing/2014/main" id="{BB459788-0671-D4BA-B6DB-A3544D24EA92}"/>
              </a:ext>
            </a:extLst>
          </p:cNvPr>
          <p:cNvSpPr/>
          <p:nvPr/>
        </p:nvSpPr>
        <p:spPr>
          <a:xfrm>
            <a:off x="1241591"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97" name="object 62">
            <a:extLst>
              <a:ext uri="{FF2B5EF4-FFF2-40B4-BE49-F238E27FC236}">
                <a16:creationId xmlns:a16="http://schemas.microsoft.com/office/drawing/2014/main" id="{13E0425E-CEDF-CBC4-B34B-0CC3951920EA}"/>
              </a:ext>
            </a:extLst>
          </p:cNvPr>
          <p:cNvSpPr/>
          <p:nvPr/>
        </p:nvSpPr>
        <p:spPr>
          <a:xfrm>
            <a:off x="1795778"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98" name="object 63">
            <a:extLst>
              <a:ext uri="{FF2B5EF4-FFF2-40B4-BE49-F238E27FC236}">
                <a16:creationId xmlns:a16="http://schemas.microsoft.com/office/drawing/2014/main" id="{FDE45797-C0E3-ACE0-F66B-057BDEDB9070}"/>
              </a:ext>
            </a:extLst>
          </p:cNvPr>
          <p:cNvSpPr txBox="1"/>
          <p:nvPr/>
        </p:nvSpPr>
        <p:spPr>
          <a:xfrm>
            <a:off x="1229760"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
        <p:nvSpPr>
          <p:cNvPr id="99" name="object 64">
            <a:extLst>
              <a:ext uri="{FF2B5EF4-FFF2-40B4-BE49-F238E27FC236}">
                <a16:creationId xmlns:a16="http://schemas.microsoft.com/office/drawing/2014/main" id="{ABAAA5DD-56CA-BF94-2180-F0866658B6B3}"/>
              </a:ext>
            </a:extLst>
          </p:cNvPr>
          <p:cNvSpPr/>
          <p:nvPr/>
        </p:nvSpPr>
        <p:spPr>
          <a:xfrm>
            <a:off x="1948179" y="4155787"/>
            <a:ext cx="914400" cy="89266"/>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0" name="object 65">
            <a:extLst>
              <a:ext uri="{FF2B5EF4-FFF2-40B4-BE49-F238E27FC236}">
                <a16:creationId xmlns:a16="http://schemas.microsoft.com/office/drawing/2014/main" id="{A1EF013C-5123-D9A7-DC76-FEFD731E96E2}"/>
              </a:ext>
            </a:extLst>
          </p:cNvPr>
          <p:cNvSpPr txBox="1"/>
          <p:nvPr/>
        </p:nvSpPr>
        <p:spPr>
          <a:xfrm>
            <a:off x="2073955" y="3856694"/>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01" name="object 73">
            <a:extLst>
              <a:ext uri="{FF2B5EF4-FFF2-40B4-BE49-F238E27FC236}">
                <a16:creationId xmlns:a16="http://schemas.microsoft.com/office/drawing/2014/main" id="{4C5C0871-D9B5-E642-7661-FFBCAD75720B}"/>
              </a:ext>
            </a:extLst>
          </p:cNvPr>
          <p:cNvSpPr txBox="1"/>
          <p:nvPr/>
        </p:nvSpPr>
        <p:spPr>
          <a:xfrm>
            <a:off x="352355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02" name="object 74">
            <a:extLst>
              <a:ext uri="{FF2B5EF4-FFF2-40B4-BE49-F238E27FC236}">
                <a16:creationId xmlns:a16="http://schemas.microsoft.com/office/drawing/2014/main" id="{10CC4DBA-05F4-4CDC-BA0E-6200AF622CA9}"/>
              </a:ext>
            </a:extLst>
          </p:cNvPr>
          <p:cNvSpPr txBox="1"/>
          <p:nvPr/>
        </p:nvSpPr>
        <p:spPr>
          <a:xfrm>
            <a:off x="4421819" y="5309818"/>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11" name="object 7">
            <a:extLst>
              <a:ext uri="{FF2B5EF4-FFF2-40B4-BE49-F238E27FC236}">
                <a16:creationId xmlns:a16="http://schemas.microsoft.com/office/drawing/2014/main" id="{06801468-6F27-A16A-64E3-D7AD4B6B6B96}"/>
              </a:ext>
            </a:extLst>
          </p:cNvPr>
          <p:cNvSpPr/>
          <p:nvPr/>
        </p:nvSpPr>
        <p:spPr>
          <a:xfrm>
            <a:off x="7239000"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114" name="object 64">
            <a:extLst>
              <a:ext uri="{FF2B5EF4-FFF2-40B4-BE49-F238E27FC236}">
                <a16:creationId xmlns:a16="http://schemas.microsoft.com/office/drawing/2014/main" id="{D9E5D738-CA47-1898-E0D8-DFBC514F5A50}"/>
              </a:ext>
            </a:extLst>
          </p:cNvPr>
          <p:cNvSpPr/>
          <p:nvPr/>
        </p:nvSpPr>
        <p:spPr>
          <a:xfrm>
            <a:off x="7663179" y="4163346"/>
            <a:ext cx="3165333" cy="48374"/>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15" name="object 65">
            <a:extLst>
              <a:ext uri="{FF2B5EF4-FFF2-40B4-BE49-F238E27FC236}">
                <a16:creationId xmlns:a16="http://schemas.microsoft.com/office/drawing/2014/main" id="{74A4CAE1-BC33-1BCD-6F24-54F1DFA8AEDB}"/>
              </a:ext>
            </a:extLst>
          </p:cNvPr>
          <p:cNvSpPr txBox="1"/>
          <p:nvPr/>
        </p:nvSpPr>
        <p:spPr>
          <a:xfrm>
            <a:off x="8910954" y="3926878"/>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16" name="object 73">
            <a:extLst>
              <a:ext uri="{FF2B5EF4-FFF2-40B4-BE49-F238E27FC236}">
                <a16:creationId xmlns:a16="http://schemas.microsoft.com/office/drawing/2014/main" id="{CC9D2269-0CA8-143F-4E45-F3AF594A2ED3}"/>
              </a:ext>
            </a:extLst>
          </p:cNvPr>
          <p:cNvSpPr txBox="1"/>
          <p:nvPr/>
        </p:nvSpPr>
        <p:spPr>
          <a:xfrm>
            <a:off x="7663179" y="4325314"/>
            <a:ext cx="3165333"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lang="es-ES" sz="1600" b="1" spc="-10" dirty="0">
                <a:latin typeface="Calibri"/>
                <a:cs typeface="Calibri"/>
              </a:rPr>
              <a:t>MMI </a:t>
            </a:r>
            <a:r>
              <a:rPr lang="es-ES" sz="1600" b="1" spc="-10" dirty="0" err="1">
                <a:latin typeface="Calibri"/>
                <a:cs typeface="Calibri"/>
              </a:rPr>
              <a:t>Body</a:t>
            </a:r>
            <a:endParaRPr sz="1600" dirty="0">
              <a:latin typeface="Calibri"/>
              <a:cs typeface="Calibri"/>
            </a:endParaRPr>
          </a:p>
        </p:txBody>
      </p:sp>
      <p:sp>
        <p:nvSpPr>
          <p:cNvPr id="117" name="object 74">
            <a:extLst>
              <a:ext uri="{FF2B5EF4-FFF2-40B4-BE49-F238E27FC236}">
                <a16:creationId xmlns:a16="http://schemas.microsoft.com/office/drawing/2014/main" id="{8A3332FF-25D4-1955-323F-BBD1D30324AC}"/>
              </a:ext>
            </a:extLst>
          </p:cNvPr>
          <p:cNvSpPr txBox="1"/>
          <p:nvPr/>
        </p:nvSpPr>
        <p:spPr>
          <a:xfrm>
            <a:off x="7284458" y="5303772"/>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2" name="CuadroTexto 1">
            <a:extLst>
              <a:ext uri="{FF2B5EF4-FFF2-40B4-BE49-F238E27FC236}">
                <a16:creationId xmlns:a16="http://schemas.microsoft.com/office/drawing/2014/main" id="{57D9AFBE-EF33-9078-9CE3-5C8B079B0C36}"/>
              </a:ext>
            </a:extLst>
          </p:cNvPr>
          <p:cNvSpPr txBox="1"/>
          <p:nvPr/>
        </p:nvSpPr>
        <p:spPr>
          <a:xfrm>
            <a:off x="7377675" y="5580458"/>
            <a:ext cx="3954288" cy="369332"/>
          </a:xfrm>
          <a:prstGeom prst="rect">
            <a:avLst/>
          </a:prstGeom>
          <a:noFill/>
        </p:spPr>
        <p:txBody>
          <a:bodyPr wrap="none" rtlCol="0">
            <a:spAutoFit/>
          </a:bodyPr>
          <a:lstStyle/>
          <a:p>
            <a:pPr algn="r"/>
            <a:r>
              <a:rPr lang="en-US" b="1" dirty="0"/>
              <a:t>Multimode Interference (MMI) </a:t>
            </a:r>
            <a:r>
              <a:rPr lang="en-US" dirty="0"/>
              <a:t>coupler</a:t>
            </a:r>
            <a:r>
              <a:rPr lang="en-US" b="1" dirty="0"/>
              <a:t> </a:t>
            </a:r>
            <a:endParaRPr lang="en-US" dirty="0"/>
          </a:p>
        </p:txBody>
      </p:sp>
      <p:sp>
        <p:nvSpPr>
          <p:cNvPr id="8" name="CuadroTexto 7">
            <a:extLst>
              <a:ext uri="{FF2B5EF4-FFF2-40B4-BE49-F238E27FC236}">
                <a16:creationId xmlns:a16="http://schemas.microsoft.com/office/drawing/2014/main" id="{7336B5D8-2D70-3E7A-336D-AF55EC49DEB8}"/>
              </a:ext>
            </a:extLst>
          </p:cNvPr>
          <p:cNvSpPr txBox="1"/>
          <p:nvPr/>
        </p:nvSpPr>
        <p:spPr>
          <a:xfrm>
            <a:off x="1168826" y="5579058"/>
            <a:ext cx="2743199" cy="369332"/>
          </a:xfrm>
          <a:prstGeom prst="rect">
            <a:avLst/>
          </a:prstGeom>
          <a:noFill/>
        </p:spPr>
        <p:txBody>
          <a:bodyPr wrap="square">
            <a:spAutoFit/>
          </a:bodyPr>
          <a:lstStyle/>
          <a:p>
            <a:r>
              <a:rPr lang="en-US" b="1" dirty="0"/>
              <a:t>Directional </a:t>
            </a:r>
            <a:r>
              <a:rPr lang="en-US" dirty="0"/>
              <a:t>coupler (DC)</a:t>
            </a:r>
          </a:p>
        </p:txBody>
      </p:sp>
      <p:sp>
        <p:nvSpPr>
          <p:cNvPr id="7" name="object 73">
            <a:extLst>
              <a:ext uri="{FF2B5EF4-FFF2-40B4-BE49-F238E27FC236}">
                <a16:creationId xmlns:a16="http://schemas.microsoft.com/office/drawing/2014/main" id="{9404A65A-9F07-371B-17B4-56EE1381567B}"/>
              </a:ext>
            </a:extLst>
          </p:cNvPr>
          <p:cNvSpPr txBox="1"/>
          <p:nvPr/>
        </p:nvSpPr>
        <p:spPr>
          <a:xfrm>
            <a:off x="194817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9" name="object 64">
            <a:extLst>
              <a:ext uri="{FF2B5EF4-FFF2-40B4-BE49-F238E27FC236}">
                <a16:creationId xmlns:a16="http://schemas.microsoft.com/office/drawing/2014/main" id="{B06C28EB-4BF4-A40B-513B-ACC7E468CDC3}"/>
              </a:ext>
            </a:extLst>
          </p:cNvPr>
          <p:cNvSpPr/>
          <p:nvPr/>
        </p:nvSpPr>
        <p:spPr>
          <a:xfrm flipV="1">
            <a:off x="2911079" y="5067632"/>
            <a:ext cx="590401" cy="45719"/>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 name="object 63">
            <a:extLst>
              <a:ext uri="{FF2B5EF4-FFF2-40B4-BE49-F238E27FC236}">
                <a16:creationId xmlns:a16="http://schemas.microsoft.com/office/drawing/2014/main" id="{4601CBDA-CF6C-DA98-1398-C31497498862}"/>
              </a:ext>
            </a:extLst>
          </p:cNvPr>
          <p:cNvSpPr txBox="1"/>
          <p:nvPr/>
        </p:nvSpPr>
        <p:spPr>
          <a:xfrm>
            <a:off x="2939643" y="5090491"/>
            <a:ext cx="577850" cy="454025"/>
          </a:xfrm>
          <a:prstGeom prst="rect">
            <a:avLst/>
          </a:prstGeom>
        </p:spPr>
        <p:txBody>
          <a:bodyPr vert="horz" wrap="square" lIns="0" tIns="13335" rIns="0" bIns="0" rtlCol="0">
            <a:spAutoFit/>
          </a:bodyPr>
          <a:lstStyle/>
          <a:p>
            <a:pPr marR="3175" algn="ctr">
              <a:lnSpc>
                <a:spcPct val="100000"/>
              </a:lnSpc>
              <a:spcBef>
                <a:spcPts val="105"/>
              </a:spcBef>
            </a:pPr>
            <a:r>
              <a:rPr lang="es-ES" sz="1400" dirty="0">
                <a:latin typeface="Calibri"/>
                <a:cs typeface="Calibri"/>
              </a:rPr>
              <a:t>g</a:t>
            </a:r>
            <a:endParaRPr sz="1400" dirty="0">
              <a:latin typeface="Calibri"/>
              <a:cs typeface="Calibri"/>
            </a:endParaRPr>
          </a:p>
          <a:p>
            <a:pPr marR="5080" algn="ctr">
              <a:lnSpc>
                <a:spcPct val="100000"/>
              </a:lnSpc>
              <a:spcBef>
                <a:spcPts val="5"/>
              </a:spcBef>
            </a:pPr>
            <a:r>
              <a:rPr sz="1400" spc="-10" dirty="0">
                <a:latin typeface="Calibri"/>
                <a:cs typeface="Calibri"/>
              </a:rPr>
              <a:t>(</a:t>
            </a:r>
            <a:r>
              <a:rPr lang="es-ES" sz="1400" spc="-10" dirty="0">
                <a:latin typeface="Calibri"/>
                <a:cs typeface="Calibri"/>
              </a:rPr>
              <a:t>gap</a:t>
            </a:r>
            <a:r>
              <a:rPr sz="1400" dirty="0">
                <a:latin typeface="Calibri"/>
                <a:cs typeface="Calibri"/>
              </a:rPr>
              <a:t>)</a:t>
            </a:r>
          </a:p>
        </p:txBody>
      </p:sp>
      <p:sp>
        <p:nvSpPr>
          <p:cNvPr id="11" name="object 62">
            <a:extLst>
              <a:ext uri="{FF2B5EF4-FFF2-40B4-BE49-F238E27FC236}">
                <a16:creationId xmlns:a16="http://schemas.microsoft.com/office/drawing/2014/main" id="{F1DAA8E2-74AD-BD39-C248-2324458F6D54}"/>
              </a:ext>
            </a:extLst>
          </p:cNvPr>
          <p:cNvSpPr/>
          <p:nvPr/>
        </p:nvSpPr>
        <p:spPr>
          <a:xfrm>
            <a:off x="7448782"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2" name="object 63">
            <a:extLst>
              <a:ext uri="{FF2B5EF4-FFF2-40B4-BE49-F238E27FC236}">
                <a16:creationId xmlns:a16="http://schemas.microsoft.com/office/drawing/2014/main" id="{FCE9BE8C-E2F4-7CBE-236B-A2E5451F5C01}"/>
              </a:ext>
            </a:extLst>
          </p:cNvPr>
          <p:cNvSpPr txBox="1"/>
          <p:nvPr/>
        </p:nvSpPr>
        <p:spPr>
          <a:xfrm>
            <a:off x="6882764"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1F74687F-7302-3F32-F9D1-0566D05F33A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78335A49-ACE2-C055-50CA-8DD755D2E76D}"/>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6" name="Título 4">
            <a:extLst>
              <a:ext uri="{FF2B5EF4-FFF2-40B4-BE49-F238E27FC236}">
                <a16:creationId xmlns:a16="http://schemas.microsoft.com/office/drawing/2014/main" id="{AF6692CA-D0D0-2BAF-E673-933E02AE2BB8}"/>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Directional coupler</a:t>
            </a:r>
          </a:p>
        </p:txBody>
      </p:sp>
    </p:spTree>
    <p:extLst>
      <p:ext uri="{BB962C8B-B14F-4D97-AF65-F5344CB8AC3E}">
        <p14:creationId xmlns:p14="http://schemas.microsoft.com/office/powerpoint/2010/main" val="16400195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Directional coupler cross-section in </a:t>
            </a:r>
            <a:r>
              <a:rPr lang="en-US" sz="2500" dirty="0" err="1"/>
              <a:t>GDSFactory</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AA9E72FF-B948-6B7A-8909-97C6BE95D6FB}"/>
                  </a:ext>
                </a:extLst>
              </p:cNvPr>
              <p:cNvSpPr txBox="1">
                <a:spLocks/>
              </p:cNvSpPr>
              <p:nvPr/>
            </p:nvSpPr>
            <p:spPr>
              <a:xfrm>
                <a:off x="608012" y="914400"/>
                <a:ext cx="11048999" cy="5339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sz="2000" b="1" dirty="0"/>
                  <a:t>INSTRUCTOR:</a:t>
                </a:r>
              </a:p>
              <a:p>
                <a:pPr marL="342900" indent="-342900" algn="just">
                  <a:buFont typeface="Arial" panose="020B0604020202020204" pitchFamily="34" charset="0"/>
                  <a:buChar char="•"/>
                </a:pPr>
                <a:r>
                  <a:rPr lang="en-US" sz="2000" dirty="0"/>
                  <a:t>Present Python and </a:t>
                </a:r>
                <a:r>
                  <a:rPr lang="en-US" sz="2000" dirty="0" err="1"/>
                  <a:t>GDSFactory</a:t>
                </a:r>
                <a:r>
                  <a:rPr lang="en-US" sz="2000" dirty="0"/>
                  <a:t> implementation of DC cross-section</a:t>
                </a:r>
              </a:p>
              <a:p>
                <a:pPr marL="342900" indent="-342900" algn="just">
                  <a:buFont typeface="Arial" panose="020B0604020202020204" pitchFamily="34" charset="0"/>
                  <a:buChar char="•"/>
                </a:pPr>
                <a:r>
                  <a:rPr lang="en-US" sz="2000" dirty="0"/>
                  <a:t>Describe how to obtain the beating length </a:t>
                </a:r>
                <a14:m>
                  <m:oMath xmlns:m="http://schemas.openxmlformats.org/officeDocument/2006/math">
                    <m:sSub>
                      <m:sSubPr>
                        <m:ctrlPr>
                          <a:rPr lang="es-ES" sz="2000" b="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𝜋</m:t>
                        </m:r>
                      </m:sub>
                    </m:sSub>
                  </m:oMath>
                </a14:m>
                <a:endParaRPr lang="en-US" sz="2000" dirty="0"/>
              </a:p>
              <a:p>
                <a:pPr marL="342900" indent="-342900" algn="just">
                  <a:buFont typeface="Arial" panose="020B0604020202020204" pitchFamily="34" charset="0"/>
                  <a:buChar char="•"/>
                </a:pPr>
                <a:r>
                  <a:rPr lang="en-US" sz="2000" dirty="0"/>
                  <a:t>Describe the outputs.</a:t>
                </a:r>
              </a:p>
              <a:p>
                <a:pPr marL="0" indent="0" algn="just">
                  <a:buNone/>
                </a:pPr>
                <a:r>
                  <a:rPr lang="en-US" sz="2000" b="1" dirty="0"/>
                  <a:t>ALL EXAMPLE #1: </a:t>
                </a:r>
                <a:r>
                  <a:rPr lang="en-US" sz="2000" dirty="0"/>
                  <a:t>waveguide width 1.2 µm, gap between waveguides 0.6 µm, deep </a:t>
                </a:r>
                <a:r>
                  <a:rPr lang="en-US" sz="2000" dirty="0" err="1"/>
                  <a:t>wvg</a:t>
                </a:r>
                <a:r>
                  <a:rPr lang="en-US" sz="2000" dirty="0"/>
                  <a:t>, wavelength start and end same 1.55 µm </a:t>
                </a:r>
                <a:r>
                  <a:rPr lang="en-US" sz="2000" dirty="0">
                    <a:sym typeface="Wingdings" pitchFamily="2" charset="2"/>
                  </a:rPr>
                  <a:t> all ”Run”</a:t>
                </a:r>
                <a:endParaRPr lang="en-US" sz="2000" dirty="0"/>
              </a:p>
              <a:p>
                <a:pPr marL="0" indent="0" algn="just">
                  <a:buNone/>
                </a:pPr>
                <a:r>
                  <a:rPr lang="en-US" sz="2000" b="1" dirty="0"/>
                  <a:t>ALL: </a:t>
                </a:r>
                <a:r>
                  <a:rPr lang="en-US" sz="2000" dirty="0"/>
                  <a:t>Follow</a:t>
                </a:r>
                <a:r>
                  <a:rPr lang="en-US" sz="2000" b="1" dirty="0"/>
                  <a:t> </a:t>
                </a:r>
                <a:r>
                  <a:rPr lang="en-US" sz="2000" dirty="0"/>
                  <a:t>instructor, that will show how to 1) plot mode, 2) explore the results (neff …)</a:t>
                </a:r>
              </a:p>
              <a:p>
                <a:pPr algn="just"/>
                <a:endParaRPr lang="en-US" sz="2000" b="1" i="1" dirty="0"/>
              </a:p>
              <a:p>
                <a:pPr algn="just"/>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AA9E72FF-B948-6B7A-8909-97C6BE95D6FB}"/>
                  </a:ext>
                </a:extLst>
              </p:cNvPr>
              <p:cNvSpPr txBox="1">
                <a:spLocks noRot="1" noChangeAspect="1" noMove="1" noResize="1" noEditPoints="1" noAdjustHandles="1" noChangeArrowheads="1" noChangeShapeType="1" noTextEdit="1"/>
              </p:cNvSpPr>
              <p:nvPr/>
            </p:nvSpPr>
            <p:spPr>
              <a:xfrm>
                <a:off x="608012" y="914400"/>
                <a:ext cx="11048999" cy="5339137"/>
              </a:xfrm>
              <a:prstGeom prst="rect">
                <a:avLst/>
              </a:prstGeom>
              <a:blipFill>
                <a:blip r:embed="rId4"/>
                <a:stretch>
                  <a:fillRect l="-607" t="-571" r="-552"/>
                </a:stretch>
              </a:blipFill>
            </p:spPr>
            <p:txBody>
              <a:bodyPr/>
              <a:lstStyle/>
              <a:p>
                <a:r>
                  <a:rPr lang="es-ES">
                    <a:noFill/>
                  </a:rPr>
                  <a:t> </a:t>
                </a:r>
              </a:p>
            </p:txBody>
          </p:sp>
        </mc:Fallback>
      </mc:AlternateContent>
    </p:spTree>
    <p:extLst>
      <p:ext uri="{BB962C8B-B14F-4D97-AF65-F5344CB8AC3E}">
        <p14:creationId xmlns:p14="http://schemas.microsoft.com/office/powerpoint/2010/main" val="7305013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BE5FB7-679F-9236-EFA5-8116C168EE61}"/>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920478D-90D9-694D-4EA3-EFE80BF036FC}"/>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Directional coupler cross-section in </a:t>
            </a:r>
            <a:r>
              <a:rPr lang="en-US" sz="2500" dirty="0" err="1"/>
              <a:t>GDSFactory</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00118739-26AC-C210-6730-157922FFED9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5AE30E4E-B78E-19DD-C84C-EAA8F630743A}"/>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3" name="Marcador de pie de página 2">
            <a:extLst>
              <a:ext uri="{FF2B5EF4-FFF2-40B4-BE49-F238E27FC236}">
                <a16:creationId xmlns:a16="http://schemas.microsoft.com/office/drawing/2014/main" id="{D0B4D3F1-CD3C-CC85-9A87-5D07D41685A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Marcador de texto 2">
            <a:extLst>
              <a:ext uri="{FF2B5EF4-FFF2-40B4-BE49-F238E27FC236}">
                <a16:creationId xmlns:a16="http://schemas.microsoft.com/office/drawing/2014/main" id="{D0DB3E0E-A522-21B2-DDBD-754E3CB15760}"/>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endParaRPr lang="en-US" sz="2000" b="1" i="1" dirty="0"/>
          </a:p>
          <a:p>
            <a:pPr algn="just"/>
            <a:endParaRPr lang="en-US" sz="2000" kern="0" dirty="0">
              <a:solidFill>
                <a:sysClr val="windowText" lastClr="000000"/>
              </a:solidFill>
            </a:endParaRPr>
          </a:p>
        </p:txBody>
      </p:sp>
      <p:sp>
        <p:nvSpPr>
          <p:cNvPr id="2" name="CuadroTexto 1">
            <a:extLst>
              <a:ext uri="{FF2B5EF4-FFF2-40B4-BE49-F238E27FC236}">
                <a16:creationId xmlns:a16="http://schemas.microsoft.com/office/drawing/2014/main" id="{3BC5BF70-E113-8DE7-7A88-D8E96A4F4219}"/>
              </a:ext>
            </a:extLst>
          </p:cNvPr>
          <p:cNvSpPr txBox="1"/>
          <p:nvPr/>
        </p:nvSpPr>
        <p:spPr>
          <a:xfrm>
            <a:off x="418305" y="4507405"/>
            <a:ext cx="11428412" cy="1569660"/>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Document all your results (neff, plot fields of different modes, comparison between different polarizations…)</a:t>
            </a:r>
          </a:p>
          <a:p>
            <a:pPr algn="just"/>
            <a:endParaRPr lang="en-US" sz="900" dirty="0">
              <a:latin typeface="Arial" panose="020B0604020202020204" pitchFamily="34" charset="0"/>
              <a:cs typeface="Arial" panose="020B0604020202020204" pitchFamily="34" charset="0"/>
            </a:endParaRPr>
          </a:p>
          <a:p>
            <a:pPr algn="just"/>
            <a:r>
              <a:rPr lang="en-US" sz="900" dirty="0">
                <a:latin typeface="Arial" panose="020B0604020202020204" pitchFamily="34" charset="0"/>
                <a:cs typeface="Arial" panose="020B0604020202020204" pitchFamily="34" charset="0"/>
              </a:rPr>
              <a:t>En </a:t>
            </a:r>
            <a:r>
              <a:rPr lang="en-US" sz="900" dirty="0" err="1">
                <a:latin typeface="Arial" panose="020B0604020202020204" pitchFamily="34" charset="0"/>
                <a:cs typeface="Arial" panose="020B0604020202020204" pitchFamily="34" charset="0"/>
              </a:rPr>
              <a:t>este</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ejercicio</a:t>
            </a:r>
            <a:r>
              <a:rPr lang="en-US" sz="900" dirty="0">
                <a:latin typeface="Arial" panose="020B0604020202020204" pitchFamily="34" charset="0"/>
                <a:cs typeface="Arial" panose="020B0604020202020204" pitchFamily="34" charset="0"/>
              </a:rPr>
              <a:t> se ha </a:t>
            </a:r>
            <a:r>
              <a:rPr lang="en-US" sz="900" dirty="0" err="1">
                <a:latin typeface="Arial" panose="020B0604020202020204" pitchFamily="34" charset="0"/>
                <a:cs typeface="Arial" panose="020B0604020202020204" pitchFamily="34" charset="0"/>
              </a:rPr>
              <a:t>estudiado</a:t>
            </a:r>
            <a:r>
              <a:rPr lang="en-US" sz="900" dirty="0">
                <a:latin typeface="Arial" panose="020B0604020202020204" pitchFamily="34" charset="0"/>
                <a:cs typeface="Arial" panose="020B0604020202020204" pitchFamily="34" charset="0"/>
              </a:rPr>
              <a:t> la </a:t>
            </a:r>
            <a:r>
              <a:rPr lang="en-US" sz="900" dirty="0" err="1">
                <a:latin typeface="Arial" panose="020B0604020202020204" pitchFamily="34" charset="0"/>
                <a:cs typeface="Arial" panose="020B0604020202020204" pitchFamily="34" charset="0"/>
              </a:rPr>
              <a:t>sección</a:t>
            </a:r>
            <a:r>
              <a:rPr lang="en-US" sz="900" dirty="0">
                <a:latin typeface="Arial" panose="020B0604020202020204" pitchFamily="34" charset="0"/>
                <a:cs typeface="Arial" panose="020B0604020202020204" pitchFamily="34" charset="0"/>
              </a:rPr>
              <a:t> transversal de un </a:t>
            </a:r>
            <a:r>
              <a:rPr lang="en-US" sz="900" dirty="0" err="1">
                <a:latin typeface="Arial" panose="020B0604020202020204" pitchFamily="34" charset="0"/>
                <a:cs typeface="Arial" panose="020B0604020202020204" pitchFamily="34" charset="0"/>
              </a:rPr>
              <a:t>acoplador</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direccional</a:t>
            </a:r>
            <a:r>
              <a:rPr lang="en-US" sz="900" dirty="0">
                <a:latin typeface="Arial" panose="020B0604020202020204" pitchFamily="34" charset="0"/>
                <a:cs typeface="Arial" panose="020B0604020202020204" pitchFamily="34" charset="0"/>
              </a:rPr>
              <a:t>. </a:t>
            </a:r>
            <a:r>
              <a:rPr lang="es-ES" sz="900" dirty="0">
                <a:latin typeface="Arial" panose="020B0604020202020204" pitchFamily="34" charset="0"/>
                <a:cs typeface="Arial" panose="020B0604020202020204" pitchFamily="34" charset="0"/>
              </a:rPr>
              <a:t>En primer lugar, se han definido los materiales: para el núcleo de las guías se ha usado nitruro de silicio, mientras que para la cubierta se ha usado óxido de silicio. </a:t>
            </a:r>
          </a:p>
          <a:p>
            <a:pPr algn="just"/>
            <a:endParaRPr lang="es-ES" sz="900" dirty="0">
              <a:latin typeface="Arial" panose="020B0604020202020204" pitchFamily="34" charset="0"/>
              <a:cs typeface="Arial" panose="020B0604020202020204" pitchFamily="34" charset="0"/>
            </a:endParaRPr>
          </a:p>
          <a:p>
            <a:pPr algn="just"/>
            <a:r>
              <a:rPr lang="es-ES" sz="900" dirty="0">
                <a:latin typeface="Arial" panose="020B0604020202020204" pitchFamily="34" charset="0"/>
                <a:cs typeface="Arial" panose="020B0604020202020204" pitchFamily="34" charset="0"/>
              </a:rPr>
              <a:t>Al </a:t>
            </a:r>
            <a:r>
              <a:rPr lang="en-US" sz="900" dirty="0" err="1">
                <a:latin typeface="Arial" panose="020B0604020202020204" pitchFamily="34" charset="0"/>
                <a:cs typeface="Arial" panose="020B0604020202020204" pitchFamily="34" charset="0"/>
              </a:rPr>
              <a:t>tratarse</a:t>
            </a:r>
            <a:r>
              <a:rPr lang="en-US" sz="900" dirty="0">
                <a:latin typeface="Arial" panose="020B0604020202020204" pitchFamily="34" charset="0"/>
                <a:cs typeface="Arial" panose="020B0604020202020204" pitchFamily="34" charset="0"/>
              </a:rPr>
              <a:t> de un </a:t>
            </a:r>
            <a:r>
              <a:rPr lang="en-US" sz="900" dirty="0" err="1">
                <a:latin typeface="Arial" panose="020B0604020202020204" pitchFamily="34" charset="0"/>
                <a:cs typeface="Arial" panose="020B0604020202020204" pitchFamily="34" charset="0"/>
              </a:rPr>
              <a:t>acoplador</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direccional</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estará</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formado</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por</a:t>
            </a:r>
            <a:r>
              <a:rPr lang="en-US" sz="900" dirty="0">
                <a:latin typeface="Arial" panose="020B0604020202020204" pitchFamily="34" charset="0"/>
                <a:cs typeface="Arial" panose="020B0604020202020204" pitchFamily="34" charset="0"/>
              </a:rPr>
              <a:t> 2 </a:t>
            </a:r>
            <a:r>
              <a:rPr lang="en-US" sz="900" dirty="0" err="1">
                <a:latin typeface="Arial" panose="020B0604020202020204" pitchFamily="34" charset="0"/>
                <a:cs typeface="Arial" panose="020B0604020202020204" pitchFamily="34" charset="0"/>
              </a:rPr>
              <a:t>guías</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paralelas</a:t>
            </a:r>
            <a:r>
              <a:rPr lang="en-US" sz="900" dirty="0">
                <a:latin typeface="Arial" panose="020B0604020202020204" pitchFamily="34" charset="0"/>
                <a:cs typeface="Arial" panose="020B0604020202020204" pitchFamily="34" charset="0"/>
              </a:rPr>
              <a:t> (con </a:t>
            </a:r>
            <a:r>
              <a:rPr lang="es-ES" sz="900" dirty="0">
                <a:latin typeface="Arial" panose="020B0604020202020204" pitchFamily="34" charset="0"/>
                <a:cs typeface="Arial" panose="020B0604020202020204" pitchFamily="34" charset="0"/>
              </a:rPr>
              <a:t>una anchura de 1200 nm y una altura de 300 nm</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situadas</a:t>
            </a:r>
            <a:r>
              <a:rPr lang="en-US" sz="900" dirty="0">
                <a:latin typeface="Arial" panose="020B0604020202020204" pitchFamily="34" charset="0"/>
                <a:cs typeface="Arial" panose="020B0604020202020204" pitchFamily="34" charset="0"/>
              </a:rPr>
              <a:t> a </a:t>
            </a:r>
            <a:r>
              <a:rPr lang="en-US" sz="900" dirty="0" err="1">
                <a:latin typeface="Arial" panose="020B0604020202020204" pitchFamily="34" charset="0"/>
                <a:cs typeface="Arial" panose="020B0604020202020204" pitchFamily="34" charset="0"/>
              </a:rPr>
              <a:t>cierta</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distancia</a:t>
            </a:r>
            <a:r>
              <a:rPr lang="en-US" sz="900" dirty="0">
                <a:latin typeface="Arial" panose="020B0604020202020204" pitchFamily="34" charset="0"/>
                <a:cs typeface="Arial" panose="020B0604020202020204" pitchFamily="34" charset="0"/>
              </a:rPr>
              <a:t> entre </a:t>
            </a:r>
            <a:r>
              <a:rPr lang="en-US" sz="900" dirty="0" err="1">
                <a:latin typeface="Arial" panose="020B0604020202020204" pitchFamily="34" charset="0"/>
                <a:cs typeface="Arial" panose="020B0604020202020204" pitchFamily="34" charset="0"/>
              </a:rPr>
              <a:t>ellas</a:t>
            </a:r>
            <a:r>
              <a:rPr lang="en-US" sz="900" dirty="0">
                <a:latin typeface="Arial" panose="020B0604020202020204" pitchFamily="34" charset="0"/>
                <a:cs typeface="Arial" panose="020B0604020202020204" pitchFamily="34" charset="0"/>
              </a:rPr>
              <a:t>, es </a:t>
            </a:r>
            <a:r>
              <a:rPr lang="en-US" sz="900" dirty="0" err="1">
                <a:latin typeface="Arial" panose="020B0604020202020204" pitchFamily="34" charset="0"/>
                <a:cs typeface="Arial" panose="020B0604020202020204" pitchFamily="34" charset="0"/>
              </a:rPr>
              <a:t>por</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ello</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que</a:t>
            </a:r>
            <a:r>
              <a:rPr lang="en-US" sz="900" dirty="0">
                <a:latin typeface="Arial" panose="020B0604020202020204" pitchFamily="34" charset="0"/>
                <a:cs typeface="Arial" panose="020B0604020202020204" pitchFamily="34" charset="0"/>
              </a:rPr>
              <a:t> también se ha </a:t>
            </a:r>
            <a:r>
              <a:rPr lang="en-US" sz="900" dirty="0" err="1">
                <a:latin typeface="Arial" panose="020B0604020202020204" pitchFamily="34" charset="0"/>
                <a:cs typeface="Arial" panose="020B0604020202020204" pitchFamily="34" charset="0"/>
              </a:rPr>
              <a:t>definido</a:t>
            </a:r>
            <a:r>
              <a:rPr lang="en-US" sz="900" dirty="0">
                <a:latin typeface="Arial" panose="020B0604020202020204" pitchFamily="34" charset="0"/>
                <a:cs typeface="Arial" panose="020B0604020202020204" pitchFamily="34" charset="0"/>
              </a:rPr>
              <a:t> un gap de 600 nm, </a:t>
            </a:r>
            <a:r>
              <a:rPr lang="en-US" sz="900" dirty="0" err="1">
                <a:latin typeface="Arial" panose="020B0604020202020204" pitchFamily="34" charset="0"/>
                <a:cs typeface="Arial" panose="020B0604020202020204" pitchFamily="34" charset="0"/>
              </a:rPr>
              <a:t>el</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cual</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será</a:t>
            </a:r>
            <a:r>
              <a:rPr lang="en-US" sz="900" dirty="0">
                <a:latin typeface="Arial" panose="020B0604020202020204" pitchFamily="34" charset="0"/>
                <a:cs typeface="Arial" panose="020B0604020202020204" pitchFamily="34" charset="0"/>
              </a:rPr>
              <a:t> la </a:t>
            </a:r>
            <a:r>
              <a:rPr lang="en-US" sz="900" dirty="0" err="1">
                <a:latin typeface="Arial" panose="020B0604020202020204" pitchFamily="34" charset="0"/>
                <a:cs typeface="Arial" panose="020B0604020202020204" pitchFamily="34" charset="0"/>
              </a:rPr>
              <a:t>separación</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que</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habrá</a:t>
            </a:r>
            <a:r>
              <a:rPr lang="en-US" sz="900" dirty="0">
                <a:latin typeface="Arial" panose="020B0604020202020204" pitchFamily="34" charset="0"/>
                <a:cs typeface="Arial" panose="020B0604020202020204" pitchFamily="34" charset="0"/>
              </a:rPr>
              <a:t> entre las dos. </a:t>
            </a:r>
            <a:r>
              <a:rPr lang="en-US" sz="900" dirty="0" err="1">
                <a:latin typeface="Arial" panose="020B0604020202020204" pitchFamily="34" charset="0"/>
                <a:cs typeface="Arial" panose="020B0604020202020204" pitchFamily="34" charset="0"/>
              </a:rPr>
              <a:t>Dicho</a:t>
            </a:r>
            <a:r>
              <a:rPr lang="en-US" sz="900" dirty="0">
                <a:latin typeface="Arial" panose="020B0604020202020204" pitchFamily="34" charset="0"/>
                <a:cs typeface="Arial" panose="020B0604020202020204" pitchFamily="34" charset="0"/>
              </a:rPr>
              <a:t> gap </a:t>
            </a:r>
            <a:r>
              <a:rPr lang="en-US" sz="900" dirty="0" err="1">
                <a:latin typeface="Arial" panose="020B0604020202020204" pitchFamily="34" charset="0"/>
                <a:cs typeface="Arial" panose="020B0604020202020204" pitchFamily="34" charset="0"/>
              </a:rPr>
              <a:t>determinará</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el</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grado</a:t>
            </a:r>
            <a:r>
              <a:rPr lang="en-US" sz="900" dirty="0">
                <a:latin typeface="Arial" panose="020B0604020202020204" pitchFamily="34" charset="0"/>
                <a:cs typeface="Arial" panose="020B0604020202020204" pitchFamily="34" charset="0"/>
              </a:rPr>
              <a:t> de </a:t>
            </a:r>
            <a:r>
              <a:rPr lang="en-US" sz="900" dirty="0" err="1">
                <a:latin typeface="Arial" panose="020B0604020202020204" pitchFamily="34" charset="0"/>
                <a:cs typeface="Arial" panose="020B0604020202020204" pitchFamily="34" charset="0"/>
              </a:rPr>
              <a:t>acoplo</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que</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habrá</a:t>
            </a:r>
            <a:r>
              <a:rPr lang="en-US" sz="900" dirty="0">
                <a:latin typeface="Arial" panose="020B0604020202020204" pitchFamily="34" charset="0"/>
                <a:cs typeface="Arial" panose="020B0604020202020204" pitchFamily="34" charset="0"/>
              </a:rPr>
              <a:t> entre las dos </a:t>
            </a:r>
            <a:r>
              <a:rPr lang="en-US" sz="900" dirty="0" err="1">
                <a:latin typeface="Arial" panose="020B0604020202020204" pitchFamily="34" charset="0"/>
                <a:cs typeface="Arial" panose="020B0604020202020204" pitchFamily="34" charset="0"/>
              </a:rPr>
              <a:t>guías</a:t>
            </a:r>
            <a:r>
              <a:rPr lang="en-US" sz="900" dirty="0">
                <a:latin typeface="Arial" panose="020B0604020202020204" pitchFamily="34" charset="0"/>
                <a:cs typeface="Arial" panose="020B0604020202020204" pitchFamily="34" charset="0"/>
              </a:rPr>
              <a:t> (se </a:t>
            </a:r>
            <a:r>
              <a:rPr lang="en-US" sz="900" dirty="0" err="1">
                <a:latin typeface="Arial" panose="020B0604020202020204" pitchFamily="34" charset="0"/>
                <a:cs typeface="Arial" panose="020B0604020202020204" pitchFamily="34" charset="0"/>
              </a:rPr>
              <a:t>estudia</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en</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el</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ejercicio</a:t>
            </a:r>
            <a:r>
              <a:rPr lang="en-US" sz="900" dirty="0">
                <a:latin typeface="Arial" panose="020B0604020202020204" pitchFamily="34" charset="0"/>
                <a:cs typeface="Arial" panose="020B0604020202020204" pitchFamily="34" charset="0"/>
              </a:rPr>
              <a:t> x).</a:t>
            </a:r>
          </a:p>
          <a:p>
            <a:pPr algn="just"/>
            <a:endParaRPr lang="en-US" sz="900" dirty="0">
              <a:latin typeface="Arial" panose="020B0604020202020204" pitchFamily="34" charset="0"/>
              <a:cs typeface="Arial" panose="020B0604020202020204" pitchFamily="34" charset="0"/>
            </a:endParaRPr>
          </a:p>
          <a:p>
            <a:pPr algn="just"/>
            <a:r>
              <a:rPr lang="en-US" sz="900" dirty="0" err="1">
                <a:latin typeface="Arial" panose="020B0604020202020204" pitchFamily="34" charset="0"/>
                <a:cs typeface="Arial" panose="020B0604020202020204" pitchFamily="34" charset="0"/>
              </a:rPr>
              <a:t>Además</a:t>
            </a:r>
            <a:r>
              <a:rPr lang="en-US" sz="900" dirty="0">
                <a:latin typeface="Arial" panose="020B0604020202020204" pitchFamily="34" charset="0"/>
                <a:cs typeface="Arial" panose="020B0604020202020204" pitchFamily="34" charset="0"/>
              </a:rPr>
              <a:t>, se </a:t>
            </a:r>
            <a:r>
              <a:rPr lang="en-US" sz="900" dirty="0" err="1">
                <a:latin typeface="Arial" panose="020B0604020202020204" pitchFamily="34" charset="0"/>
                <a:cs typeface="Arial" panose="020B0604020202020204" pitchFamily="34" charset="0"/>
              </a:rPr>
              <a:t>han</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usado</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guías</a:t>
            </a:r>
            <a:r>
              <a:rPr lang="en-US" sz="900" dirty="0">
                <a:latin typeface="Arial" panose="020B0604020202020204" pitchFamily="34" charset="0"/>
                <a:cs typeface="Arial" panose="020B0604020202020204" pitchFamily="34" charset="0"/>
              </a:rPr>
              <a:t> deep, </a:t>
            </a:r>
            <a:r>
              <a:rPr lang="en-US" sz="900" dirty="0" err="1">
                <a:latin typeface="Arial" panose="020B0604020202020204" pitchFamily="34" charset="0"/>
                <a:cs typeface="Arial" panose="020B0604020202020204" pitchFamily="34" charset="0"/>
              </a:rPr>
              <a:t>por</a:t>
            </a:r>
            <a:r>
              <a:rPr lang="en-US" sz="900" dirty="0">
                <a:latin typeface="Arial" panose="020B0604020202020204" pitchFamily="34" charset="0"/>
                <a:cs typeface="Arial" panose="020B0604020202020204" pitchFamily="34" charset="0"/>
              </a:rPr>
              <a:t> lo </a:t>
            </a:r>
            <a:r>
              <a:rPr lang="en-US" sz="900" dirty="0" err="1">
                <a:latin typeface="Arial" panose="020B0604020202020204" pitchFamily="34" charset="0"/>
                <a:cs typeface="Arial" panose="020B0604020202020204" pitchFamily="34" charset="0"/>
              </a:rPr>
              <a:t>que</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su</a:t>
            </a:r>
            <a:r>
              <a:rPr lang="en-US" sz="900" dirty="0">
                <a:latin typeface="Arial" panose="020B0604020202020204" pitchFamily="34" charset="0"/>
                <a:cs typeface="Arial" panose="020B0604020202020204" pitchFamily="34" charset="0"/>
              </a:rPr>
              <a:t> slab thickness es de 0 nm.</a:t>
            </a:r>
          </a:p>
          <a:p>
            <a:pPr algn="just"/>
            <a:endParaRPr lang="en-US" sz="1200" dirty="0">
              <a:latin typeface="Arial" panose="020B0604020202020204" pitchFamily="34" charset="0"/>
              <a:cs typeface="Arial" panose="020B0604020202020204" pitchFamily="34" charset="0"/>
            </a:endParaRPr>
          </a:p>
        </p:txBody>
      </p:sp>
      <p:pic>
        <p:nvPicPr>
          <p:cNvPr id="6" name="Imagen 5">
            <a:extLst>
              <a:ext uri="{FF2B5EF4-FFF2-40B4-BE49-F238E27FC236}">
                <a16:creationId xmlns:a16="http://schemas.microsoft.com/office/drawing/2014/main" id="{59141B15-8551-99D6-E4D1-59A47D3554F5}"/>
              </a:ext>
            </a:extLst>
          </p:cNvPr>
          <p:cNvPicPr>
            <a:picLocks noChangeAspect="1"/>
          </p:cNvPicPr>
          <p:nvPr/>
        </p:nvPicPr>
        <p:blipFill>
          <a:blip r:embed="rId4"/>
          <a:srcRect l="1283" t="3639" r="1613" b="3352"/>
          <a:stretch>
            <a:fillRect/>
          </a:stretch>
        </p:blipFill>
        <p:spPr>
          <a:xfrm>
            <a:off x="3232698" y="957318"/>
            <a:ext cx="4992213" cy="3373615"/>
          </a:xfrm>
          <a:prstGeom prst="rect">
            <a:avLst/>
          </a:prstGeom>
        </p:spPr>
      </p:pic>
    </p:spTree>
    <p:extLst>
      <p:ext uri="{BB962C8B-B14F-4D97-AF65-F5344CB8AC3E}">
        <p14:creationId xmlns:p14="http://schemas.microsoft.com/office/powerpoint/2010/main" val="35006142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141ECB-54A7-CD32-E901-1DE76599A0F2}"/>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B57F6DB5-0035-3F87-53D3-5A772C36FBE7}"/>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Directional coupler cross-section in </a:t>
            </a:r>
            <a:r>
              <a:rPr lang="en-US" sz="2500" dirty="0" err="1"/>
              <a:t>GDSFactory</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16A97CEF-DDB5-5FE0-9CC7-3EEFB33A54A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CBCE179A-9458-E55C-F478-16CB37E84CFB}"/>
              </a:ext>
            </a:extLst>
          </p:cNvPr>
          <p:cNvSpPr>
            <a:spLocks noGrp="1"/>
          </p:cNvSpPr>
          <p:nvPr>
            <p:ph type="sldNum" sz="quarter" idx="7"/>
          </p:nvPr>
        </p:nvSpPr>
        <p:spPr/>
        <p:txBody>
          <a:bodyPr/>
          <a:lstStyle/>
          <a:p>
            <a:fld id="{B6F15528-21DE-4FAA-801E-634DDDAF4B2B}" type="slidenum">
              <a:rPr lang="es-ES" smtClean="0"/>
              <a:t>6</a:t>
            </a:fld>
            <a:endParaRPr lang="es-ES"/>
          </a:p>
        </p:txBody>
      </p:sp>
      <p:sp>
        <p:nvSpPr>
          <p:cNvPr id="3" name="Marcador de pie de página 2">
            <a:extLst>
              <a:ext uri="{FF2B5EF4-FFF2-40B4-BE49-F238E27FC236}">
                <a16:creationId xmlns:a16="http://schemas.microsoft.com/office/drawing/2014/main" id="{46F1AA5F-CD88-674C-B9D7-83301368A111}"/>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Marcador de texto 2">
            <a:extLst>
              <a:ext uri="{FF2B5EF4-FFF2-40B4-BE49-F238E27FC236}">
                <a16:creationId xmlns:a16="http://schemas.microsoft.com/office/drawing/2014/main" id="{E81A0744-12CB-A4CC-F67D-C11E9E829C43}"/>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endParaRPr lang="en-US" sz="2000" b="1" i="1" dirty="0"/>
          </a:p>
          <a:p>
            <a:pPr algn="just"/>
            <a:endParaRPr lang="en-US" sz="2000" kern="0" dirty="0">
              <a:solidFill>
                <a:sysClr val="windowText" lastClr="000000"/>
              </a:solidFill>
            </a:endParaRPr>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25D166AB-2064-687C-51FC-01FB8AB452D0}"/>
                  </a:ext>
                </a:extLst>
              </p:cNvPr>
              <p:cNvSpPr txBox="1"/>
              <p:nvPr/>
            </p:nvSpPr>
            <p:spPr>
              <a:xfrm>
                <a:off x="231571" y="3665670"/>
                <a:ext cx="11223010" cy="2452851"/>
              </a:xfrm>
              <a:prstGeom prst="rect">
                <a:avLst/>
              </a:prstGeom>
              <a:solidFill>
                <a:schemeClr val="bg1">
                  <a:lumMod val="95000"/>
                </a:schemeClr>
              </a:solidFill>
              <a:ln w="28575">
                <a:solidFill>
                  <a:srgbClr val="E0700D"/>
                </a:solidFill>
              </a:ln>
            </p:spPr>
            <p:txBody>
              <a:bodyPr wrap="square" rtlCol="0">
                <a:spAutoFit/>
              </a:bodyPr>
              <a:lstStyle/>
              <a:p>
                <a:pPr algn="just"/>
                <a:r>
                  <a:rPr lang="en-US" sz="900" b="1" i="1" dirty="0">
                    <a:latin typeface="Arial" panose="020B0604020202020204" pitchFamily="34" charset="0"/>
                    <a:cs typeface="Arial" panose="020B0604020202020204" pitchFamily="34" charset="0"/>
                  </a:rPr>
                  <a:t>Document all your results (neff, plot fields of different modes, comparison between different polarizations…)</a:t>
                </a:r>
              </a:p>
              <a:p>
                <a:pPr algn="just"/>
                <a:endParaRPr lang="en-US" sz="900" dirty="0">
                  <a:latin typeface="Arial" panose="020B0604020202020204" pitchFamily="34" charset="0"/>
                  <a:cs typeface="Arial" panose="020B0604020202020204" pitchFamily="34" charset="0"/>
                </a:endParaRPr>
              </a:p>
              <a:p>
                <a:pPr algn="just"/>
                <a:r>
                  <a:rPr lang="es-ES" sz="900" dirty="0">
                    <a:latin typeface="Arial" panose="020B0604020202020204" pitchFamily="34" charset="0"/>
                    <a:cs typeface="Arial" panose="020B0604020202020204" pitchFamily="34" charset="0"/>
                  </a:rPr>
                  <a:t>En segundo lugar, se han calculado los cuatro primeros modos del acoplador direccional. Los dos primeros corresponden a modos TE, ya que están asociados principalmente a la componente Ex</a:t>
                </a:r>
                <a:r>
                  <a:rPr lang="ar-AE" sz="900" dirty="0">
                    <a:latin typeface="Arial" panose="020B0604020202020204" pitchFamily="34" charset="0"/>
                    <a:cs typeface="Arial" panose="020B0604020202020204" pitchFamily="34" charset="0"/>
                  </a:rPr>
                  <a:t>, </a:t>
                </a:r>
                <a:r>
                  <a:rPr lang="es-ES" sz="900" dirty="0">
                    <a:latin typeface="Arial" panose="020B0604020202020204" pitchFamily="34" charset="0"/>
                    <a:cs typeface="Arial" panose="020B0604020202020204" pitchFamily="34" charset="0"/>
                  </a:rPr>
                  <a:t>mientras que los otros dos corresponden a modos TM, asociados principalmente a la componente </a:t>
                </a:r>
                <a:r>
                  <a:rPr lang="es-ES" sz="900" dirty="0" err="1">
                    <a:latin typeface="Arial" panose="020B0604020202020204" pitchFamily="34" charset="0"/>
                    <a:cs typeface="Arial" panose="020B0604020202020204" pitchFamily="34" charset="0"/>
                  </a:rPr>
                  <a:t>Ey</a:t>
                </a:r>
                <a:r>
                  <a:rPr lang="es-ES" sz="900" dirty="0">
                    <a:latin typeface="Arial" panose="020B0604020202020204" pitchFamily="34" charset="0"/>
                    <a:cs typeface="Arial" panose="020B0604020202020204" pitchFamily="34" charset="0"/>
                  </a:rPr>
                  <a:t>.</a:t>
                </a:r>
              </a:p>
              <a:p>
                <a:pPr algn="just"/>
                <a:endParaRPr lang="en-US" sz="900" dirty="0">
                  <a:latin typeface="Arial" panose="020B0604020202020204" pitchFamily="34" charset="0"/>
                  <a:cs typeface="Arial" panose="020B0604020202020204" pitchFamily="34" charset="0"/>
                </a:endParaRPr>
              </a:p>
              <a:p>
                <a:pPr algn="just"/>
                <a:r>
                  <a:rPr lang="en-US" sz="900" dirty="0">
                    <a:latin typeface="Arial" panose="020B0604020202020204" pitchFamily="34" charset="0"/>
                    <a:cs typeface="Arial" panose="020B0604020202020204" pitchFamily="34" charset="0"/>
                  </a:rPr>
                  <a:t>En </a:t>
                </a:r>
                <a:r>
                  <a:rPr lang="en-US" sz="900" dirty="0" err="1">
                    <a:latin typeface="Arial" panose="020B0604020202020204" pitchFamily="34" charset="0"/>
                    <a:cs typeface="Arial" panose="020B0604020202020204" pitchFamily="34" charset="0"/>
                  </a:rPr>
                  <a:t>este</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caso</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en</a:t>
                </a:r>
                <a:r>
                  <a:rPr lang="en-US" sz="900" dirty="0">
                    <a:latin typeface="Arial" panose="020B0604020202020204" pitchFamily="34" charset="0"/>
                    <a:cs typeface="Arial" panose="020B0604020202020204" pitchFamily="34" charset="0"/>
                  </a:rPr>
                  <a:t> las </a:t>
                </a:r>
                <a:r>
                  <a:rPr lang="en-US" sz="900" dirty="0" err="1">
                    <a:latin typeface="Arial" panose="020B0604020202020204" pitchFamily="34" charset="0"/>
                    <a:cs typeface="Arial" panose="020B0604020202020204" pitchFamily="34" charset="0"/>
                  </a:rPr>
                  <a:t>imágenes</a:t>
                </a:r>
                <a:r>
                  <a:rPr lang="en-US" sz="900" dirty="0">
                    <a:latin typeface="Arial" panose="020B0604020202020204" pitchFamily="34" charset="0"/>
                    <a:cs typeface="Arial" panose="020B0604020202020204" pitchFamily="34" charset="0"/>
                  </a:rPr>
                  <a:t> se </a:t>
                </a:r>
                <a:r>
                  <a:rPr lang="en-US" sz="900" dirty="0" err="1">
                    <a:latin typeface="Arial" panose="020B0604020202020204" pitchFamily="34" charset="0"/>
                    <a:cs typeface="Arial" panose="020B0604020202020204" pitchFamily="34" charset="0"/>
                  </a:rPr>
                  <a:t>han</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representado</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los</a:t>
                </a:r>
                <a:r>
                  <a:rPr lang="en-US" sz="900" dirty="0">
                    <a:latin typeface="Arial" panose="020B0604020202020204" pitchFamily="34" charset="0"/>
                    <a:cs typeface="Arial" panose="020B0604020202020204" pitchFamily="34" charset="0"/>
                  </a:rPr>
                  <a:t> dos primeros </a:t>
                </a:r>
                <a:r>
                  <a:rPr lang="en-US" sz="900" dirty="0" err="1">
                    <a:latin typeface="Arial" panose="020B0604020202020204" pitchFamily="34" charset="0"/>
                    <a:cs typeface="Arial" panose="020B0604020202020204" pitchFamily="34" charset="0"/>
                  </a:rPr>
                  <a:t>modos</a:t>
                </a:r>
                <a:r>
                  <a:rPr lang="en-US" sz="900" dirty="0">
                    <a:latin typeface="Arial" panose="020B0604020202020204" pitchFamily="34" charset="0"/>
                    <a:cs typeface="Arial" panose="020B0604020202020204" pitchFamily="34" charset="0"/>
                  </a:rPr>
                  <a:t> TE. La imagen de la </a:t>
                </a:r>
                <a:r>
                  <a:rPr lang="en-US" sz="900" dirty="0" err="1">
                    <a:latin typeface="Arial" panose="020B0604020202020204" pitchFamily="34" charset="0"/>
                    <a:cs typeface="Arial" panose="020B0604020202020204" pitchFamily="34" charset="0"/>
                  </a:rPr>
                  <a:t>izquierda</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corresponde</a:t>
                </a:r>
                <a:r>
                  <a:rPr lang="en-US" sz="900" dirty="0">
                    <a:latin typeface="Arial" panose="020B0604020202020204" pitchFamily="34" charset="0"/>
                    <a:cs typeface="Arial" panose="020B0604020202020204" pitchFamily="34" charset="0"/>
                  </a:rPr>
                  <a:t> al primer modo (TE0), </a:t>
                </a:r>
                <a:r>
                  <a:rPr lang="en-US" sz="900" dirty="0" err="1">
                    <a:latin typeface="Arial" panose="020B0604020202020204" pitchFamily="34" charset="0"/>
                    <a:cs typeface="Arial" panose="020B0604020202020204" pitchFamily="34" charset="0"/>
                  </a:rPr>
                  <a:t>el</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cual</a:t>
                </a:r>
                <a:r>
                  <a:rPr lang="en-US" sz="900" dirty="0">
                    <a:latin typeface="Arial" panose="020B0604020202020204" pitchFamily="34" charset="0"/>
                    <a:cs typeface="Arial" panose="020B0604020202020204" pitchFamily="34" charset="0"/>
                  </a:rPr>
                  <a:t> se </a:t>
                </a:r>
                <a:r>
                  <a:rPr lang="en-US" sz="900" dirty="0" err="1">
                    <a:latin typeface="Arial" panose="020B0604020202020204" pitchFamily="34" charset="0"/>
                    <a:cs typeface="Arial" panose="020B0604020202020204" pitchFamily="34" charset="0"/>
                  </a:rPr>
                  <a:t>trata</a:t>
                </a:r>
                <a:r>
                  <a:rPr lang="en-US" sz="900" dirty="0">
                    <a:latin typeface="Arial" panose="020B0604020202020204" pitchFamily="34" charset="0"/>
                    <a:cs typeface="Arial" panose="020B0604020202020204" pitchFamily="34" charset="0"/>
                  </a:rPr>
                  <a:t> de un modo </a:t>
                </a:r>
                <a:r>
                  <a:rPr lang="en-US" sz="900" dirty="0" err="1">
                    <a:latin typeface="Arial" panose="020B0604020202020204" pitchFamily="34" charset="0"/>
                    <a:cs typeface="Arial" panose="020B0604020202020204" pitchFamily="34" charset="0"/>
                  </a:rPr>
                  <a:t>simétrico</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el</a:t>
                </a:r>
                <a:r>
                  <a:rPr lang="en-US" sz="900" dirty="0">
                    <a:latin typeface="Arial" panose="020B0604020202020204" pitchFamily="34" charset="0"/>
                    <a:cs typeface="Arial" panose="020B0604020202020204" pitchFamily="34" charset="0"/>
                  </a:rPr>
                  <a:t> primer modo </a:t>
                </a:r>
                <a:r>
                  <a:rPr lang="en-US" sz="900" dirty="0" err="1">
                    <a:latin typeface="Arial" panose="020B0604020202020204" pitchFamily="34" charset="0"/>
                    <a:cs typeface="Arial" panose="020B0604020202020204" pitchFamily="34" charset="0"/>
                  </a:rPr>
                  <a:t>siempre</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va</a:t>
                </a:r>
                <a:r>
                  <a:rPr lang="en-US" sz="900" dirty="0">
                    <a:latin typeface="Arial" panose="020B0604020202020204" pitchFamily="34" charset="0"/>
                    <a:cs typeface="Arial" panose="020B0604020202020204" pitchFamily="34" charset="0"/>
                  </a:rPr>
                  <a:t> a ser </a:t>
                </a:r>
                <a:r>
                  <a:rPr lang="en-US" sz="900" dirty="0" err="1">
                    <a:latin typeface="Arial" panose="020B0604020202020204" pitchFamily="34" charset="0"/>
                    <a:cs typeface="Arial" panose="020B0604020202020204" pitchFamily="34" charset="0"/>
                  </a:rPr>
                  <a:t>simétrico</a:t>
                </a:r>
                <a:r>
                  <a:rPr lang="en-US" sz="900" dirty="0">
                    <a:latin typeface="Arial" panose="020B0604020202020204" pitchFamily="34" charset="0"/>
                    <a:cs typeface="Arial" panose="020B0604020202020204" pitchFamily="34" charset="0"/>
                  </a:rPr>
                  <a:t>)</a:t>
                </a:r>
                <a:r>
                  <a:rPr lang="es-ES" sz="900" dirty="0">
                    <a:latin typeface="Arial" panose="020B0604020202020204" pitchFamily="34" charset="0"/>
                    <a:cs typeface="Arial" panose="020B0604020202020204" pitchFamily="34" charset="0"/>
                  </a:rPr>
                  <a:t>, ya que el campo tiene el mismo signo en ambas guías y aparecen dos lóbulos positivos. </a:t>
                </a:r>
              </a:p>
              <a:p>
                <a:pPr algn="just"/>
                <a:endParaRPr lang="es-ES" sz="900" dirty="0">
                  <a:latin typeface="Arial" panose="020B0604020202020204" pitchFamily="34" charset="0"/>
                  <a:cs typeface="Arial" panose="020B0604020202020204" pitchFamily="34" charset="0"/>
                </a:endParaRPr>
              </a:p>
              <a:p>
                <a:pPr algn="just"/>
                <a:r>
                  <a:rPr lang="es-ES" sz="900" dirty="0">
                    <a:latin typeface="Arial" panose="020B0604020202020204" pitchFamily="34" charset="0"/>
                    <a:cs typeface="Arial" panose="020B0604020202020204" pitchFamily="34" charset="0"/>
                  </a:rPr>
                  <a:t>Por otro lado, la imagen de la derecha corresponde al segundo modo (TE1), el cual es un modo antisimétrico, ya que el campo cambia de signo entre una guía y la otra, apareciendo un lóbulo positivo y otro negativo.</a:t>
                </a:r>
              </a:p>
              <a:p>
                <a:pPr algn="just"/>
                <a:endParaRPr lang="es-ES" sz="900" dirty="0">
                  <a:latin typeface="Arial" panose="020B0604020202020204" pitchFamily="34" charset="0"/>
                  <a:cs typeface="Arial" panose="020B0604020202020204" pitchFamily="34" charset="0"/>
                </a:endParaRPr>
              </a:p>
              <a:p>
                <a:pPr algn="just"/>
                <a:r>
                  <a:rPr lang="es-ES" sz="900" dirty="0">
                    <a:latin typeface="Arial" panose="020B0604020202020204" pitchFamily="34" charset="0"/>
                    <a:cs typeface="Arial" panose="020B0604020202020204" pitchFamily="34" charset="0"/>
                  </a:rPr>
                  <a:t>Esta diferencia entre el modo simétrico y el antisimétrico es la base del acoplo direccional: ambos modos se propagan con índices efectivos distintos y producen una transferencia periódica de potencia entre las dos guías. A partir de estos índices efectivos se calcula 𝐿𝜋, que representa la distancia necesaria para transferir completamente la potencia de una guía a la otra. </a:t>
                </a:r>
              </a:p>
              <a:p>
                <a:pPr algn="just"/>
                <a:endParaRPr lang="es-ES" sz="900" dirty="0">
                  <a:latin typeface="Arial" panose="020B0604020202020204" pitchFamily="34" charset="0"/>
                  <a:cs typeface="Arial" panose="020B0604020202020204" pitchFamily="34" charset="0"/>
                </a:endParaRPr>
              </a:p>
              <a:p>
                <a:pPr algn="just"/>
                <a:r>
                  <a:rPr lang="es-ES" sz="900" dirty="0">
                    <a:latin typeface="Arial" panose="020B0604020202020204" pitchFamily="34" charset="0"/>
                    <a:cs typeface="Arial" panose="020B0604020202020204" pitchFamily="34" charset="0"/>
                  </a:rPr>
                  <a:t>Para los modos TE, usando los modos 0 y 1, se obtiene </a:t>
                </a:r>
                <a14:m>
                  <m:oMath xmlns:m="http://schemas.openxmlformats.org/officeDocument/2006/math">
                    <m:sSub>
                      <m:sSubPr>
                        <m:ctrlPr>
                          <a:rPr lang="ar-AE" sz="900" i="1">
                            <a:latin typeface="Cambria Math" panose="02040503050406030204" pitchFamily="18" charset="0"/>
                          </a:rPr>
                        </m:ctrlPr>
                      </m:sSubPr>
                      <m:e>
                        <m:r>
                          <a:rPr lang="ar-AE" sz="900" b="0" i="1">
                            <a:latin typeface="Cambria Math" panose="02040503050406030204" pitchFamily="18" charset="0"/>
                          </a:rPr>
                          <m:t>𝐿</m:t>
                        </m:r>
                      </m:e>
                      <m:sub>
                        <m:r>
                          <a:rPr lang="ar-AE" sz="900" b="0" i="1">
                            <a:latin typeface="Cambria Math" panose="02040503050406030204" pitchFamily="18" charset="0"/>
                          </a:rPr>
                          <m:t>𝜋</m:t>
                        </m:r>
                        <m:r>
                          <a:rPr lang="ar-AE" sz="900" b="0">
                            <a:latin typeface="Cambria Math" panose="02040503050406030204" pitchFamily="18" charset="0"/>
                          </a:rPr>
                          <m:t>,</m:t>
                        </m:r>
                        <m:r>
                          <a:rPr lang="ar-AE" sz="900" b="0" i="1">
                            <a:latin typeface="Cambria Math" panose="02040503050406030204" pitchFamily="18" charset="0"/>
                          </a:rPr>
                          <m:t>𝑇𝐸</m:t>
                        </m:r>
                      </m:sub>
                    </m:sSub>
                    <m:r>
                      <a:rPr lang="ar-AE" sz="900" b="0">
                        <a:latin typeface="Cambria Math" panose="02040503050406030204" pitchFamily="18" charset="0"/>
                      </a:rPr>
                      <m:t>=</m:t>
                    </m:r>
                    <m:r>
                      <a:rPr lang="ar-AE" sz="900" b="0" i="1">
                        <a:latin typeface="Cambria Math" panose="02040503050406030204" pitchFamily="18" charset="0"/>
                      </a:rPr>
                      <m:t>93</m:t>
                    </m:r>
                    <m:r>
                      <a:rPr lang="ar-AE" sz="900" b="0">
                        <a:latin typeface="Cambria Math" panose="02040503050406030204" pitchFamily="18" charset="0"/>
                      </a:rPr>
                      <m:t>.</m:t>
                    </m:r>
                    <m:r>
                      <a:rPr lang="ar-AE" sz="900" b="0" i="1">
                        <a:latin typeface="Cambria Math" panose="02040503050406030204" pitchFamily="18" charset="0"/>
                      </a:rPr>
                      <m:t>84</m:t>
                    </m:r>
                    <m:r>
                      <m:rPr>
                        <m:nor/>
                      </m:rPr>
                      <a:rPr lang="ar-AE" sz="900" i="1">
                        <a:latin typeface="Arial" panose="020B0604020202020204" pitchFamily="34" charset="0"/>
                        <a:cs typeface="Arial" panose="020B0604020202020204" pitchFamily="34" charset="0"/>
                      </a:rPr>
                      <m:t> </m:t>
                    </m:r>
                    <m:r>
                      <a:rPr lang="ar-AE" sz="900" b="0" i="1">
                        <a:latin typeface="Cambria Math" panose="02040503050406030204" pitchFamily="18" charset="0"/>
                      </a:rPr>
                      <m:t>𝜇</m:t>
                    </m:r>
                    <m:r>
                      <a:rPr lang="ar-AE" sz="900" b="0" i="1">
                        <a:latin typeface="Cambria Math" panose="02040503050406030204" pitchFamily="18" charset="0"/>
                      </a:rPr>
                      <m:t>𝑚</m:t>
                    </m:r>
                  </m:oMath>
                </a14:m>
                <a:r>
                  <a:rPr lang="ar-AE" sz="900" dirty="0">
                    <a:latin typeface="Arial" panose="020B0604020202020204" pitchFamily="34" charset="0"/>
                    <a:cs typeface="Arial" panose="020B0604020202020204" pitchFamily="34" charset="0"/>
                  </a:rPr>
                  <a:t>, </a:t>
                </a:r>
                <a:r>
                  <a:rPr lang="es-ES" sz="900" dirty="0">
                    <a:latin typeface="Arial" panose="020B0604020202020204" pitchFamily="34" charset="0"/>
                    <a:cs typeface="Arial" panose="020B0604020202020204" pitchFamily="34" charset="0"/>
                  </a:rPr>
                  <a:t>mientras que para los modos TM, usando los modos 2 y 3, se obtiene </a:t>
                </a:r>
                <a14:m>
                  <m:oMath xmlns:m="http://schemas.openxmlformats.org/officeDocument/2006/math">
                    <m:sSub>
                      <m:sSubPr>
                        <m:ctrlPr>
                          <a:rPr lang="ar-AE" sz="900" i="1">
                            <a:latin typeface="Cambria Math" panose="02040503050406030204" pitchFamily="18" charset="0"/>
                          </a:rPr>
                        </m:ctrlPr>
                      </m:sSubPr>
                      <m:e>
                        <m:r>
                          <a:rPr lang="ar-AE" sz="900" b="0" i="1">
                            <a:latin typeface="Cambria Math" panose="02040503050406030204" pitchFamily="18" charset="0"/>
                          </a:rPr>
                          <m:t>𝐿</m:t>
                        </m:r>
                      </m:e>
                      <m:sub>
                        <m:r>
                          <a:rPr lang="ar-AE" sz="900" b="0" i="1">
                            <a:latin typeface="Cambria Math" panose="02040503050406030204" pitchFamily="18" charset="0"/>
                          </a:rPr>
                          <m:t>𝜋</m:t>
                        </m:r>
                        <m:r>
                          <a:rPr lang="ar-AE" sz="900" b="0">
                            <a:latin typeface="Cambria Math" panose="02040503050406030204" pitchFamily="18" charset="0"/>
                          </a:rPr>
                          <m:t>,</m:t>
                        </m:r>
                        <m:r>
                          <a:rPr lang="ar-AE" sz="900" b="0" i="1">
                            <a:latin typeface="Cambria Math" panose="02040503050406030204" pitchFamily="18" charset="0"/>
                          </a:rPr>
                          <m:t>𝑇𝑀</m:t>
                        </m:r>
                      </m:sub>
                    </m:sSub>
                    <m:r>
                      <a:rPr lang="ar-AE" sz="900" b="0">
                        <a:latin typeface="Cambria Math" panose="02040503050406030204" pitchFamily="18" charset="0"/>
                      </a:rPr>
                      <m:t>=</m:t>
                    </m:r>
                    <m:r>
                      <a:rPr lang="ar-AE" sz="900" b="0" i="1">
                        <a:latin typeface="Cambria Math" panose="02040503050406030204" pitchFamily="18" charset="0"/>
                      </a:rPr>
                      <m:t>52</m:t>
                    </m:r>
                    <m:r>
                      <a:rPr lang="ar-AE" sz="900" b="0">
                        <a:latin typeface="Cambria Math" panose="02040503050406030204" pitchFamily="18" charset="0"/>
                      </a:rPr>
                      <m:t>.</m:t>
                    </m:r>
                    <m:r>
                      <a:rPr lang="ar-AE" sz="900" b="0" i="1">
                        <a:latin typeface="Cambria Math" panose="02040503050406030204" pitchFamily="18" charset="0"/>
                      </a:rPr>
                      <m:t>26</m:t>
                    </m:r>
                    <m:r>
                      <m:rPr>
                        <m:nor/>
                      </m:rPr>
                      <a:rPr lang="ar-AE" sz="900" i="1">
                        <a:latin typeface="Arial" panose="020B0604020202020204" pitchFamily="34" charset="0"/>
                        <a:cs typeface="Arial" panose="020B0604020202020204" pitchFamily="34" charset="0"/>
                      </a:rPr>
                      <m:t> </m:t>
                    </m:r>
                    <m:r>
                      <a:rPr lang="ar-AE" sz="900" b="0" i="1">
                        <a:latin typeface="Cambria Math" panose="02040503050406030204" pitchFamily="18" charset="0"/>
                      </a:rPr>
                      <m:t>𝜇</m:t>
                    </m:r>
                    <m:r>
                      <a:rPr lang="ar-AE" sz="900" b="0" i="1">
                        <a:latin typeface="Cambria Math" panose="02040503050406030204" pitchFamily="18" charset="0"/>
                      </a:rPr>
                      <m:t>𝑚</m:t>
                    </m:r>
                    <m:r>
                      <a:rPr lang="es-ES" sz="900" b="0" i="0" smtClean="0">
                        <a:latin typeface="Cambria Math" panose="02040503050406030204" pitchFamily="18" charset="0"/>
                      </a:rPr>
                      <m:t>. </m:t>
                    </m:r>
                  </m:oMath>
                </a14:m>
                <a:endParaRPr lang="es-ES" sz="900" dirty="0">
                  <a:latin typeface="Arial" panose="020B0604020202020204" pitchFamily="34" charset="0"/>
                  <a:cs typeface="Arial" panose="020B0604020202020204" pitchFamily="34" charset="0"/>
                </a:endParaRPr>
              </a:p>
              <a:p>
                <a:pPr algn="just"/>
                <a:r>
                  <a:rPr lang="es-ES" sz="900" dirty="0">
                    <a:latin typeface="Arial" panose="020B0604020202020204" pitchFamily="34" charset="0"/>
                    <a:cs typeface="Arial" panose="020B0604020202020204" pitchFamily="34" charset="0"/>
                  </a:rPr>
                  <a:t>Por tanto, vemos que se requiere una distancia mayor para los modos TE. Esto no se debe simplemente a que estén más confinados, sino a que la diferencia entre los índices efectivos del modo TE simétrico y el modo TE antisimétrico es menor. Al ser menor esta diferencia, necesitan más distancia de propagación para acumular un desfase de 180º entre ellos. Por otro lado, en los modos TM dicha distancia es menor, porque la diferencia entre sus índices efectivos es mayor. Por tanto, los modos TM acumulan el desfase de 180º en una distancia más corta.</a:t>
                </a:r>
                <a:endParaRPr lang="en-US" sz="9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25D166AB-2064-687C-51FC-01FB8AB452D0}"/>
                  </a:ext>
                </a:extLst>
              </p:cNvPr>
              <p:cNvSpPr txBox="1">
                <a:spLocks noRot="1" noChangeAspect="1" noMove="1" noResize="1" noEditPoints="1" noAdjustHandles="1" noChangeArrowheads="1" noChangeShapeType="1" noTextEdit="1"/>
              </p:cNvSpPr>
              <p:nvPr/>
            </p:nvSpPr>
            <p:spPr>
              <a:xfrm>
                <a:off x="231571" y="3665670"/>
                <a:ext cx="11223010" cy="2452851"/>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pic>
        <p:nvPicPr>
          <p:cNvPr id="7" name="Imagen 6">
            <a:extLst>
              <a:ext uri="{FF2B5EF4-FFF2-40B4-BE49-F238E27FC236}">
                <a16:creationId xmlns:a16="http://schemas.microsoft.com/office/drawing/2014/main" id="{10B2241D-7FF2-1E4A-6EBE-A4ED4B60569D}"/>
              </a:ext>
            </a:extLst>
          </p:cNvPr>
          <p:cNvPicPr>
            <a:picLocks noChangeAspect="1"/>
          </p:cNvPicPr>
          <p:nvPr/>
        </p:nvPicPr>
        <p:blipFill>
          <a:blip r:embed="rId5"/>
          <a:stretch>
            <a:fillRect/>
          </a:stretch>
        </p:blipFill>
        <p:spPr>
          <a:xfrm>
            <a:off x="1676400" y="941928"/>
            <a:ext cx="3914873" cy="2668506"/>
          </a:xfrm>
          <a:prstGeom prst="rect">
            <a:avLst/>
          </a:prstGeom>
        </p:spPr>
      </p:pic>
      <p:pic>
        <p:nvPicPr>
          <p:cNvPr id="9" name="Imagen 8">
            <a:extLst>
              <a:ext uri="{FF2B5EF4-FFF2-40B4-BE49-F238E27FC236}">
                <a16:creationId xmlns:a16="http://schemas.microsoft.com/office/drawing/2014/main" id="{CEB22B8A-119E-DB99-7BE5-D46EEEF57377}"/>
              </a:ext>
            </a:extLst>
          </p:cNvPr>
          <p:cNvPicPr>
            <a:picLocks noChangeAspect="1"/>
          </p:cNvPicPr>
          <p:nvPr/>
        </p:nvPicPr>
        <p:blipFill>
          <a:blip r:embed="rId6"/>
          <a:stretch>
            <a:fillRect/>
          </a:stretch>
        </p:blipFill>
        <p:spPr>
          <a:xfrm>
            <a:off x="5838411" y="945038"/>
            <a:ext cx="3986875" cy="2668506"/>
          </a:xfrm>
          <a:prstGeom prst="rect">
            <a:avLst/>
          </a:prstGeom>
        </p:spPr>
      </p:pic>
    </p:spTree>
    <p:extLst>
      <p:ext uri="{BB962C8B-B14F-4D97-AF65-F5344CB8AC3E}">
        <p14:creationId xmlns:p14="http://schemas.microsoft.com/office/powerpoint/2010/main" val="30411944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Directional coupler length and coupling coefficient</a:t>
            </a:r>
            <a:br>
              <a:rPr lang="en-US" sz="2500" spc="-5" dirty="0">
                <a:latin typeface="+mj-lt"/>
                <a:cs typeface="Lucida Sans"/>
              </a:rPr>
            </a:br>
            <a:r>
              <a:rPr lang="en-US" b="0" dirty="0"/>
              <a:t>Wavelength 1.5 µm – width 1.2 µm – gap 0.6 µm – thickness 300 nm</a:t>
            </a:r>
            <a:endParaRPr lang="en-US"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7" name="Rectángulo 6">
            <a:extLst>
              <a:ext uri="{FF2B5EF4-FFF2-40B4-BE49-F238E27FC236}">
                <a16:creationId xmlns:a16="http://schemas.microsoft.com/office/drawing/2014/main" id="{21F754A5-65BC-14A3-5F55-75716FFA9027}"/>
              </a:ext>
            </a:extLst>
          </p:cNvPr>
          <p:cNvSpPr/>
          <p:nvPr/>
        </p:nvSpPr>
        <p:spPr>
          <a:xfrm>
            <a:off x="609441" y="1418373"/>
            <a:ext cx="11199971" cy="384005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Imagen 5" descr="Forma&#10;&#10;Descripción generada automáticamente con confianza media">
            <a:extLst>
              <a:ext uri="{FF2B5EF4-FFF2-40B4-BE49-F238E27FC236}">
                <a16:creationId xmlns:a16="http://schemas.microsoft.com/office/drawing/2014/main" id="{380A8455-6386-C7D5-7BB6-B79D8D91F0E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028853" y="678806"/>
            <a:ext cx="2057400" cy="598179"/>
          </a:xfrm>
          <a:prstGeom prst="rect">
            <a:avLst/>
          </a:prstGeom>
        </p:spPr>
      </p:pic>
      <p:pic>
        <p:nvPicPr>
          <p:cNvPr id="12" name="Imagen 11">
            <a:extLst>
              <a:ext uri="{FF2B5EF4-FFF2-40B4-BE49-F238E27FC236}">
                <a16:creationId xmlns:a16="http://schemas.microsoft.com/office/drawing/2014/main" id="{FE35E716-E84E-C89F-43EA-B2B64AC2D287}"/>
              </a:ext>
            </a:extLst>
          </p:cNvPr>
          <p:cNvPicPr>
            <a:picLocks noChangeAspect="1"/>
          </p:cNvPicPr>
          <p:nvPr/>
        </p:nvPicPr>
        <p:blipFill>
          <a:blip r:embed="rId5"/>
          <a:stretch>
            <a:fillRect/>
          </a:stretch>
        </p:blipFill>
        <p:spPr>
          <a:xfrm>
            <a:off x="1151489" y="1504186"/>
            <a:ext cx="4944511" cy="3735584"/>
          </a:xfrm>
          <a:prstGeom prst="rect">
            <a:avLst/>
          </a:prstGeom>
        </p:spPr>
      </p:pic>
      <p:pic>
        <p:nvPicPr>
          <p:cNvPr id="14" name="Imagen 13">
            <a:extLst>
              <a:ext uri="{FF2B5EF4-FFF2-40B4-BE49-F238E27FC236}">
                <a16:creationId xmlns:a16="http://schemas.microsoft.com/office/drawing/2014/main" id="{8D8A0744-B2C9-4111-319E-E9F2904E14CC}"/>
              </a:ext>
            </a:extLst>
          </p:cNvPr>
          <p:cNvPicPr>
            <a:picLocks noChangeAspect="1"/>
          </p:cNvPicPr>
          <p:nvPr/>
        </p:nvPicPr>
        <p:blipFill>
          <a:blip r:embed="rId6"/>
          <a:stretch>
            <a:fillRect/>
          </a:stretch>
        </p:blipFill>
        <p:spPr>
          <a:xfrm>
            <a:off x="6170564" y="1504186"/>
            <a:ext cx="4915774" cy="3744201"/>
          </a:xfrm>
          <a:prstGeom prst="rect">
            <a:avLst/>
          </a:prstGeom>
        </p:spPr>
      </p:pic>
    </p:spTree>
    <p:extLst>
      <p:ext uri="{BB962C8B-B14F-4D97-AF65-F5344CB8AC3E}">
        <p14:creationId xmlns:p14="http://schemas.microsoft.com/office/powerpoint/2010/main" val="36636240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D60FE2-6E7C-58D0-03AA-8E130ECB9676}"/>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D043681D-C357-CBBF-7DB5-254E22D6C441}"/>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Directional coupler length and coupling coefficient</a:t>
            </a:r>
            <a:br>
              <a:rPr lang="en-US" sz="2500" spc="-5" dirty="0">
                <a:latin typeface="+mj-lt"/>
                <a:cs typeface="Lucida Sans"/>
              </a:rPr>
            </a:br>
            <a:r>
              <a:rPr lang="en-US" b="0" dirty="0"/>
              <a:t>Wavelength 1.5 µm – width 1.2 µm – gap 0.6 µm – thickness 300 nm</a:t>
            </a:r>
            <a:endParaRPr lang="en-US" sz="2500" b="0" dirty="0">
              <a:latin typeface="+mj-lt"/>
              <a:cs typeface="Lucida Sans"/>
            </a:endParaRPr>
          </a:p>
        </p:txBody>
      </p:sp>
      <p:pic>
        <p:nvPicPr>
          <p:cNvPr id="83" name="Gráfico 82">
            <a:extLst>
              <a:ext uri="{FF2B5EF4-FFF2-40B4-BE49-F238E27FC236}">
                <a16:creationId xmlns:a16="http://schemas.microsoft.com/office/drawing/2014/main" id="{BCEFBA4B-E9A5-1544-0B7D-72EAE2F3B40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D2402D09-73B8-4088-F546-604E86F2AC4D}"/>
              </a:ext>
            </a:extLst>
          </p:cNvPr>
          <p:cNvSpPr>
            <a:spLocks noGrp="1"/>
          </p:cNvSpPr>
          <p:nvPr>
            <p:ph type="sldNum" sz="quarter" idx="7"/>
          </p:nvPr>
        </p:nvSpPr>
        <p:spPr/>
        <p:txBody>
          <a:bodyPr/>
          <a:lstStyle/>
          <a:p>
            <a:fld id="{B6F15528-21DE-4FAA-801E-634DDDAF4B2B}" type="slidenum">
              <a:rPr lang="es-ES" smtClean="0"/>
              <a:t>8</a:t>
            </a:fld>
            <a:endParaRPr lang="es-ES"/>
          </a:p>
        </p:txBody>
      </p:sp>
      <p:sp>
        <p:nvSpPr>
          <p:cNvPr id="3" name="Marcador de pie de página 2">
            <a:extLst>
              <a:ext uri="{FF2B5EF4-FFF2-40B4-BE49-F238E27FC236}">
                <a16:creationId xmlns:a16="http://schemas.microsoft.com/office/drawing/2014/main" id="{F990604E-0B9D-5F58-E781-E34C469169DD}"/>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A74E8735-0FB2-5E94-5FCF-51BF0AC001AC}"/>
                  </a:ext>
                </a:extLst>
              </p:cNvPr>
              <p:cNvSpPr txBox="1"/>
              <p:nvPr/>
            </p:nvSpPr>
            <p:spPr>
              <a:xfrm>
                <a:off x="480239" y="1741764"/>
                <a:ext cx="11199971" cy="3245247"/>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Comment results (distance needed for a complete energy transfer between waveguides, distance needed for splitting power in half.. )</a:t>
                </a:r>
              </a:p>
              <a:p>
                <a:pPr algn="just"/>
                <a:endParaRPr lang="en-US" sz="1200" b="1" i="1"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En </a:t>
                </a:r>
                <a:r>
                  <a:rPr lang="en-US" sz="1000" dirty="0" err="1">
                    <a:latin typeface="Arial" panose="020B0604020202020204" pitchFamily="34" charset="0"/>
                    <a:cs typeface="Arial" panose="020B0604020202020204" pitchFamily="34" charset="0"/>
                  </a:rPr>
                  <a:t>este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ejercicio</a:t>
                </a:r>
                <a:r>
                  <a:rPr lang="en-US" sz="1000" dirty="0">
                    <a:latin typeface="Arial" panose="020B0604020202020204" pitchFamily="34" charset="0"/>
                    <a:cs typeface="Arial" panose="020B0604020202020204" pitchFamily="34" charset="0"/>
                  </a:rPr>
                  <a:t>, se ha </a:t>
                </a:r>
                <a:r>
                  <a:rPr lang="en-US" sz="1000" dirty="0" err="1">
                    <a:latin typeface="Arial" panose="020B0604020202020204" pitchFamily="34" charset="0"/>
                    <a:cs typeface="Arial" panose="020B0604020202020204" pitchFamily="34" charset="0"/>
                  </a:rPr>
                  <a:t>calculado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coeficiente</a:t>
                </a:r>
                <a:r>
                  <a:rPr lang="en-US" sz="1000" dirty="0">
                    <a:latin typeface="Arial" panose="020B0604020202020204" pitchFamily="34" charset="0"/>
                    <a:cs typeface="Arial" panose="020B0604020202020204" pitchFamily="34" charset="0"/>
                  </a:rPr>
                  <a:t> de </a:t>
                </a:r>
                <a:r>
                  <a:rPr lang="en-US" sz="1000" dirty="0" err="1">
                    <a:latin typeface="Arial" panose="020B0604020202020204" pitchFamily="34" charset="0"/>
                    <a:cs typeface="Arial" panose="020B0604020202020204" pitchFamily="34" charset="0"/>
                  </a:rPr>
                  <a:t>acoplo</a:t>
                </a:r>
                <a:r>
                  <a:rPr lang="en-US" sz="1000" dirty="0">
                    <a:latin typeface="Arial" panose="020B0604020202020204" pitchFamily="34" charset="0"/>
                    <a:cs typeface="Arial" panose="020B0604020202020204" pitchFamily="34" charset="0"/>
                  </a:rPr>
                  <a:t> tanto para </a:t>
                </a:r>
                <a:r>
                  <a:rPr lang="en-US" sz="1000" dirty="0" err="1">
                    <a:latin typeface="Arial" panose="020B0604020202020204" pitchFamily="34" charset="0"/>
                    <a:cs typeface="Arial" panose="020B0604020202020204" pitchFamily="34" charset="0"/>
                  </a:rPr>
                  <a:t>los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modos</a:t>
                </a:r>
                <a:r>
                  <a:rPr lang="en-US" sz="1000" dirty="0">
                    <a:latin typeface="Arial" panose="020B0604020202020204" pitchFamily="34" charset="0"/>
                    <a:cs typeface="Arial" panose="020B0604020202020204" pitchFamily="34" charset="0"/>
                  </a:rPr>
                  <a:t> TE </a:t>
                </a:r>
                <a:r>
                  <a:rPr lang="en-US" sz="1000" dirty="0" err="1">
                    <a:latin typeface="Arial" panose="020B0604020202020204" pitchFamily="34" charset="0"/>
                    <a:cs typeface="Arial" panose="020B0604020202020204" pitchFamily="34" charset="0"/>
                  </a:rPr>
                  <a:t>como</a:t>
                </a:r>
                <a:r>
                  <a:rPr lang="en-US" sz="1000" dirty="0">
                    <a:latin typeface="Arial" panose="020B0604020202020204" pitchFamily="34" charset="0"/>
                    <a:cs typeface="Arial" panose="020B0604020202020204" pitchFamily="34" charset="0"/>
                  </a:rPr>
                  <a:t> para </a:t>
                </a:r>
                <a:r>
                  <a:rPr lang="en-US" sz="1000" dirty="0" err="1">
                    <a:latin typeface="Arial" panose="020B0604020202020204" pitchFamily="34" charset="0"/>
                    <a:cs typeface="Arial" panose="020B0604020202020204" pitchFamily="34" charset="0"/>
                  </a:rPr>
                  <a:t>los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modos</a:t>
                </a:r>
                <a:r>
                  <a:rPr lang="en-US" sz="1000" dirty="0">
                    <a:latin typeface="Arial" panose="020B0604020202020204" pitchFamily="34" charset="0"/>
                    <a:cs typeface="Arial" panose="020B0604020202020204" pitchFamily="34" charset="0"/>
                  </a:rPr>
                  <a:t> TM, </a:t>
                </a:r>
                <a:r>
                  <a:rPr lang="en-US" sz="1000" dirty="0" err="1">
                    <a:latin typeface="Arial" panose="020B0604020202020204" pitchFamily="34" charset="0"/>
                    <a:cs typeface="Arial" panose="020B0604020202020204" pitchFamily="34" charset="0"/>
                  </a:rPr>
                  <a:t>en</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función</a:t>
                </a:r>
                <a:r>
                  <a:rPr lang="en-US" sz="1000" dirty="0">
                    <a:latin typeface="Arial" panose="020B0604020202020204" pitchFamily="34" charset="0"/>
                    <a:cs typeface="Arial" panose="020B0604020202020204" pitchFamily="34" charset="0"/>
                  </a:rPr>
                  <a:t> de la </a:t>
                </a:r>
                <a:r>
                  <a:rPr lang="en-US" sz="1000" dirty="0" err="1">
                    <a:latin typeface="Arial" panose="020B0604020202020204" pitchFamily="34" charset="0"/>
                    <a:cs typeface="Arial" panose="020B0604020202020204" pitchFamily="34" charset="0"/>
                  </a:rPr>
                  <a:t>longitud</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física</a:t>
                </a:r>
                <a:r>
                  <a:rPr lang="en-US" sz="1000" dirty="0">
                    <a:latin typeface="Arial" panose="020B0604020202020204" pitchFamily="34" charset="0"/>
                    <a:cs typeface="Arial" panose="020B0604020202020204" pitchFamily="34" charset="0"/>
                  </a:rPr>
                  <a:t> del </a:t>
                </a:r>
                <a:r>
                  <a:rPr lang="en-US" sz="1000" dirty="0" err="1">
                    <a:latin typeface="Arial" panose="020B0604020202020204" pitchFamily="34" charset="0"/>
                    <a:cs typeface="Arial" panose="020B0604020202020204" pitchFamily="34" charset="0"/>
                  </a:rPr>
                  <a:t>acoplador</a:t>
                </a:r>
                <a:r>
                  <a:rPr lang="es-ES" sz="1000" dirty="0">
                    <a:latin typeface="Arial" panose="020B0604020202020204" pitchFamily="34" charset="0"/>
                    <a:cs typeface="Arial" panose="020B0604020202020204" pitchFamily="34" charset="0"/>
                  </a:rPr>
                  <a:t>, siguiendo la fórmula mostrada arriba de las figuras. </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Cuando el coeficiente de acoplo vale uno, significa que la longitud del acoplador es igual a 𝐿𝜋, por tanto, toda la potencia se transfiere a la otra guía al estar totalmente acopladas, mientras que cuando dicho coeficiente vale cero, significa que la potencia permanece en la guía inicial o vuelve a ella después de completar un ciclo de acoplo.</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Por otro lado, vemos que la forma de las dos gráficas es distinta: para un mismo rango de valores, para los dos modos TE se obtiene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𝐿</m:t>
                        </m:r>
                      </m:e>
                      <m:sub>
                        <m:r>
                          <a:rPr lang="ar-AE" sz="1000" i="1">
                            <a:latin typeface="Cambria Math" panose="02040503050406030204" pitchFamily="18" charset="0"/>
                          </a:rPr>
                          <m:t>𝜋</m:t>
                        </m:r>
                        <m:r>
                          <a:rPr lang="ar-AE" sz="1000">
                            <a:latin typeface="Cambria Math" panose="02040503050406030204" pitchFamily="18" charset="0"/>
                          </a:rPr>
                          <m:t>,</m:t>
                        </m:r>
                        <m:r>
                          <a:rPr lang="ar-AE" sz="1000" i="1">
                            <a:latin typeface="Cambria Math" panose="02040503050406030204" pitchFamily="18" charset="0"/>
                          </a:rPr>
                          <m:t>𝑇𝐸</m:t>
                        </m:r>
                      </m:sub>
                    </m:sSub>
                    <m:r>
                      <a:rPr lang="ar-AE" sz="1000">
                        <a:latin typeface="Cambria Math" panose="02040503050406030204" pitchFamily="18" charset="0"/>
                      </a:rPr>
                      <m:t>=</m:t>
                    </m:r>
                    <m:r>
                      <a:rPr lang="ar-AE" sz="1000" i="1">
                        <a:latin typeface="Cambria Math" panose="02040503050406030204" pitchFamily="18" charset="0"/>
                      </a:rPr>
                      <m:t>93</m:t>
                    </m:r>
                    <m:r>
                      <a:rPr lang="ar-AE" sz="1000">
                        <a:latin typeface="Cambria Math" panose="02040503050406030204" pitchFamily="18" charset="0"/>
                      </a:rPr>
                      <m:t>.</m:t>
                    </m:r>
                    <m:r>
                      <a:rPr lang="ar-AE" sz="1000" i="1">
                        <a:latin typeface="Cambria Math" panose="02040503050406030204" pitchFamily="18" charset="0"/>
                      </a:rPr>
                      <m:t>84</m:t>
                    </m:r>
                    <m:r>
                      <m:rPr>
                        <m:nor/>
                      </m:rPr>
                      <a:rPr lang="ar-AE" sz="1000" i="1">
                        <a:latin typeface="Arial" panose="020B0604020202020204" pitchFamily="34" charset="0"/>
                        <a:cs typeface="Arial" panose="020B0604020202020204" pitchFamily="34" charset="0"/>
                      </a:rPr>
                      <m:t> </m:t>
                    </m:r>
                    <m:r>
                      <a:rPr lang="ar-AE" sz="1000" i="1">
                        <a:latin typeface="Cambria Math" panose="02040503050406030204" pitchFamily="18" charset="0"/>
                      </a:rPr>
                      <m:t>𝜇</m:t>
                    </m:r>
                    <m:r>
                      <a:rPr lang="ar-AE" sz="1000" i="1">
                        <a:latin typeface="Cambria Math" panose="02040503050406030204" pitchFamily="18" charset="0"/>
                      </a:rPr>
                      <m:t>𝑚</m:t>
                    </m:r>
                  </m:oMath>
                </a14:m>
                <a:r>
                  <a:rPr lang="en-US" sz="1000" dirty="0">
                    <a:latin typeface="Arial" panose="020B0604020202020204" pitchFamily="34" charset="0"/>
                    <a:cs typeface="Arial" panose="020B0604020202020204" pitchFamily="34" charset="0"/>
                  </a:rPr>
                  <a:t>, es </a:t>
                </a:r>
                <a:r>
                  <a:rPr lang="en-US" sz="1000" dirty="0" err="1">
                    <a:latin typeface="Arial" panose="020B0604020202020204" pitchFamily="34" charset="0"/>
                    <a:cs typeface="Arial" panose="020B0604020202020204" pitchFamily="34" charset="0"/>
                  </a:rPr>
                  <a:t>decir</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en</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esa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longitud</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coeficiente</a:t>
                </a:r>
                <a:r>
                  <a:rPr lang="en-US" sz="1000" dirty="0">
                    <a:latin typeface="Arial" panose="020B0604020202020204" pitchFamily="34" charset="0"/>
                    <a:cs typeface="Arial" panose="020B0604020202020204" pitchFamily="34" charset="0"/>
                  </a:rPr>
                  <a:t> de </a:t>
                </a:r>
                <a:r>
                  <a:rPr lang="en-US" sz="1000" dirty="0" err="1">
                    <a:latin typeface="Arial" panose="020B0604020202020204" pitchFamily="34" charset="0"/>
                    <a:cs typeface="Arial" panose="020B0604020202020204" pitchFamily="34" charset="0"/>
                  </a:rPr>
                  <a:t>acoplo</a:t>
                </a:r>
                <a:r>
                  <a:rPr lang="en-US" sz="1000" dirty="0">
                    <a:latin typeface="Arial" panose="020B0604020202020204" pitchFamily="34" charset="0"/>
                    <a:cs typeface="Arial" panose="020B0604020202020204" pitchFamily="34" charset="0"/>
                  </a:rPr>
                  <a:t> es 1 y se produce la </a:t>
                </a:r>
                <a:r>
                  <a:rPr lang="en-US" sz="1000" dirty="0" err="1">
                    <a:latin typeface="Arial" panose="020B0604020202020204" pitchFamily="34" charset="0"/>
                    <a:cs typeface="Arial" panose="020B0604020202020204" pitchFamily="34" charset="0"/>
                  </a:rPr>
                  <a:t>transferencia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máxima</a:t>
                </a:r>
                <a:r>
                  <a:rPr lang="en-US" sz="1000" dirty="0">
                    <a:latin typeface="Arial" panose="020B0604020202020204" pitchFamily="34" charset="0"/>
                    <a:cs typeface="Arial" panose="020B0604020202020204" pitchFamily="34" charset="0"/>
                  </a:rPr>
                  <a:t> de </a:t>
                </a:r>
                <a:r>
                  <a:rPr lang="en-US" sz="1000" dirty="0" err="1">
                    <a:latin typeface="Arial" panose="020B0604020202020204" pitchFamily="34" charset="0"/>
                    <a:cs typeface="Arial" panose="020B0604020202020204" pitchFamily="34" charset="0"/>
                  </a:rPr>
                  <a:t>potencia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mientras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que</a:t>
                </a:r>
                <a:r>
                  <a:rPr lang="en-US" sz="1000" dirty="0">
                    <a:latin typeface="Arial" panose="020B0604020202020204" pitchFamily="34" charset="0"/>
                    <a:cs typeface="Arial" panose="020B0604020202020204" pitchFamily="34" charset="0"/>
                  </a:rPr>
                  <a:t> al doble de </a:t>
                </a:r>
                <a:r>
                  <a:rPr lang="es-ES" sz="1000" dirty="0">
                    <a:latin typeface="Arial" panose="020B0604020202020204" pitchFamily="34" charset="0"/>
                    <a:cs typeface="Arial" panose="020B0604020202020204" pitchFamily="34" charset="0"/>
                  </a:rPr>
                  <a:t>𝐿𝜋, a la beat </a:t>
                </a:r>
                <a:r>
                  <a:rPr lang="es-ES" sz="1000" dirty="0" err="1">
                    <a:latin typeface="Arial" panose="020B0604020202020204" pitchFamily="34" charset="0"/>
                    <a:cs typeface="Arial" panose="020B0604020202020204" pitchFamily="34" charset="0"/>
                  </a:rPr>
                  <a:t>length</a:t>
                </a:r>
                <a:r>
                  <a:rPr lang="es-ES" sz="1000" dirty="0">
                    <a:latin typeface="Arial" panose="020B0604020202020204" pitchFamily="34" charset="0"/>
                    <a:cs typeface="Arial" panose="020B0604020202020204" pitchFamily="34" charset="0"/>
                  </a:rPr>
                  <a:t> Lb, los modos vuelven a estar en una condición equivalente a la inicial, por lo que la potencia vuelve a la guía de entrada y el coeficiente de acoplo vuelve a 0. </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los dos modos TM sucede lo mismo, con la diferencia de que ahora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𝐿</m:t>
                        </m:r>
                      </m:e>
                      <m:sub>
                        <m:r>
                          <a:rPr lang="ar-AE" sz="1000" i="1">
                            <a:latin typeface="Cambria Math" panose="02040503050406030204" pitchFamily="18" charset="0"/>
                          </a:rPr>
                          <m:t>𝜋</m:t>
                        </m:r>
                        <m:r>
                          <a:rPr lang="ar-AE" sz="1000">
                            <a:latin typeface="Cambria Math" panose="02040503050406030204" pitchFamily="18" charset="0"/>
                          </a:rPr>
                          <m:t>,</m:t>
                        </m:r>
                        <m:r>
                          <a:rPr lang="ar-AE" sz="1000" i="1">
                            <a:latin typeface="Cambria Math" panose="02040503050406030204" pitchFamily="18" charset="0"/>
                          </a:rPr>
                          <m:t>𝑇𝑀</m:t>
                        </m:r>
                      </m:sub>
                    </m:sSub>
                    <m:r>
                      <a:rPr lang="ar-AE" sz="1000">
                        <a:latin typeface="Cambria Math" panose="02040503050406030204" pitchFamily="18" charset="0"/>
                      </a:rPr>
                      <m:t>=</m:t>
                    </m:r>
                    <m:r>
                      <a:rPr lang="ar-AE" sz="1000" i="1">
                        <a:latin typeface="Cambria Math" panose="02040503050406030204" pitchFamily="18" charset="0"/>
                      </a:rPr>
                      <m:t>52</m:t>
                    </m:r>
                    <m:r>
                      <a:rPr lang="ar-AE" sz="1000">
                        <a:latin typeface="Cambria Math" panose="02040503050406030204" pitchFamily="18" charset="0"/>
                      </a:rPr>
                      <m:t>.</m:t>
                    </m:r>
                    <m:r>
                      <a:rPr lang="ar-AE" sz="1000" i="1">
                        <a:latin typeface="Cambria Math" panose="02040503050406030204" pitchFamily="18" charset="0"/>
                      </a:rPr>
                      <m:t>26</m:t>
                    </m:r>
                    <m:r>
                      <m:rPr>
                        <m:nor/>
                      </m:rPr>
                      <a:rPr lang="ar-AE" sz="1000" i="1">
                        <a:latin typeface="Arial" panose="020B0604020202020204" pitchFamily="34" charset="0"/>
                        <a:cs typeface="Arial" panose="020B0604020202020204" pitchFamily="34" charset="0"/>
                      </a:rPr>
                      <m:t> </m:t>
                    </m:r>
                    <m:r>
                      <a:rPr lang="ar-AE" sz="1000" i="1">
                        <a:latin typeface="Cambria Math" panose="02040503050406030204" pitchFamily="18" charset="0"/>
                      </a:rPr>
                      <m:t>𝜇</m:t>
                    </m:r>
                    <m:r>
                      <a:rPr lang="ar-AE" sz="1000" i="1">
                        <a:latin typeface="Cambria Math" panose="02040503050406030204" pitchFamily="18" charset="0"/>
                      </a:rPr>
                      <m:t>𝑚</m:t>
                    </m:r>
                  </m:oMath>
                </a14:m>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por</a:t>
                </a:r>
                <a:r>
                  <a:rPr lang="en-US" sz="1000" dirty="0">
                    <a:latin typeface="Arial" panose="020B0604020202020204" pitchFamily="34" charset="0"/>
                    <a:cs typeface="Arial" panose="020B0604020202020204" pitchFamily="34" charset="0"/>
                  </a:rPr>
                  <a:t> tanto </a:t>
                </a:r>
                <a:r>
                  <a:rPr lang="en-US" sz="1000" dirty="0" err="1">
                    <a:latin typeface="Arial" panose="020B0604020202020204" pitchFamily="34" charset="0"/>
                    <a:cs typeface="Arial" panose="020B0604020202020204" pitchFamily="34" charset="0"/>
                  </a:rPr>
                  <a:t>vemos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como</a:t>
                </a:r>
                <a:r>
                  <a:rPr lang="en-US" sz="1000" dirty="0">
                    <a:latin typeface="Arial" panose="020B0604020202020204" pitchFamily="34" charset="0"/>
                    <a:cs typeface="Arial" panose="020B0604020202020204" pitchFamily="34" charset="0"/>
                  </a:rPr>
                  <a:t> la </a:t>
                </a:r>
                <a:r>
                  <a:rPr lang="en-US" sz="1000" dirty="0" err="1">
                    <a:latin typeface="Arial" panose="020B0604020202020204" pitchFamily="34" charset="0"/>
                    <a:cs typeface="Arial" panose="020B0604020202020204" pitchFamily="34" charset="0"/>
                  </a:rPr>
                  <a:t>transferencia</a:t>
                </a:r>
                <a:r>
                  <a:rPr lang="en-US" sz="1000" dirty="0">
                    <a:latin typeface="Arial" panose="020B0604020202020204" pitchFamily="34" charset="0"/>
                    <a:cs typeface="Arial" panose="020B0604020202020204" pitchFamily="34" charset="0"/>
                  </a:rPr>
                  <a:t> de </a:t>
                </a:r>
                <a:r>
                  <a:rPr lang="en-US" sz="1000" dirty="0" err="1">
                    <a:latin typeface="Arial" panose="020B0604020202020204" pitchFamily="34" charset="0"/>
                    <a:cs typeface="Arial" panose="020B0604020202020204" pitchFamily="34" charset="0"/>
                  </a:rPr>
                  <a:t>potencia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ocurre</a:t>
                </a:r>
                <a:r>
                  <a:rPr lang="en-US" sz="1000" dirty="0">
                    <a:latin typeface="Arial" panose="020B0604020202020204" pitchFamily="34" charset="0"/>
                    <a:cs typeface="Arial" panose="020B0604020202020204" pitchFamily="34" charset="0"/>
                  </a:rPr>
                  <a:t> a </a:t>
                </a:r>
                <a:r>
                  <a:rPr lang="en-US" sz="1000" dirty="0" err="1">
                    <a:latin typeface="Arial" panose="020B0604020202020204" pitchFamily="34" charset="0"/>
                    <a:cs typeface="Arial" panose="020B0604020202020204" pitchFamily="34" charset="0"/>
                  </a:rPr>
                  <a:t>una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distancia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menor</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debido</a:t>
                </a:r>
                <a:r>
                  <a:rPr lang="en-US" sz="1000" dirty="0">
                    <a:latin typeface="Arial" panose="020B0604020202020204" pitchFamily="34" charset="0"/>
                    <a:cs typeface="Arial" panose="020B0604020202020204" pitchFamily="34" charset="0"/>
                  </a:rPr>
                  <a:t> a </a:t>
                </a:r>
                <a:r>
                  <a:rPr lang="en-US" sz="1000" dirty="0" err="1">
                    <a:latin typeface="Arial" panose="020B0604020202020204" pitchFamily="34" charset="0"/>
                    <a:cs typeface="Arial" panose="020B0604020202020204" pitchFamily="34" charset="0"/>
                  </a:rPr>
                  <a:t>que</a:t>
                </a:r>
                <a:r>
                  <a:rPr lang="en-US" sz="1000" dirty="0">
                    <a:latin typeface="Arial" panose="020B0604020202020204" pitchFamily="34" charset="0"/>
                    <a:cs typeface="Arial" panose="020B0604020202020204" pitchFamily="34" charset="0"/>
                  </a:rPr>
                  <a:t> la </a:t>
                </a:r>
                <a:r>
                  <a:rPr lang="en-US" sz="1000" dirty="0" err="1">
                    <a:latin typeface="Arial" panose="020B0604020202020204" pitchFamily="34" charset="0"/>
                    <a:cs typeface="Arial" panose="020B0604020202020204" pitchFamily="34" charset="0"/>
                  </a:rPr>
                  <a:t>diferencia</a:t>
                </a:r>
                <a:r>
                  <a:rPr lang="en-US" sz="1000" dirty="0">
                    <a:latin typeface="Arial" panose="020B0604020202020204" pitchFamily="34" charset="0"/>
                    <a:cs typeface="Arial" panose="020B0604020202020204" pitchFamily="34" charset="0"/>
                  </a:rPr>
                  <a:t> entre </a:t>
                </a:r>
                <a:r>
                  <a:rPr lang="en-US" sz="1000" dirty="0" err="1">
                    <a:latin typeface="Arial" panose="020B0604020202020204" pitchFamily="34" charset="0"/>
                    <a:cs typeface="Arial" panose="020B0604020202020204" pitchFamily="34" charset="0"/>
                  </a:rPr>
                  <a:t>los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índices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efectivos</a:t>
                </a:r>
                <a:r>
                  <a:rPr lang="en-US" sz="1000" dirty="0">
                    <a:latin typeface="Arial" panose="020B0604020202020204" pitchFamily="34" charset="0"/>
                    <a:cs typeface="Arial" panose="020B0604020202020204" pitchFamily="34" charset="0"/>
                  </a:rPr>
                  <a:t> es mayor </a:t>
                </a:r>
                <a:r>
                  <a:rPr lang="en-US" sz="1000" dirty="0" err="1">
                    <a:latin typeface="Arial" panose="020B0604020202020204" pitchFamily="34" charset="0"/>
                    <a:cs typeface="Arial" panose="020B0604020202020204" pitchFamily="34" charset="0"/>
                  </a:rPr>
                  <a:t>en</a:t>
                </a:r>
                <a:r>
                  <a:rPr lang="en-US" sz="1000" dirty="0">
                    <a:latin typeface="Arial" panose="020B0604020202020204" pitchFamily="34" charset="0"/>
                    <a:cs typeface="Arial" panose="020B0604020202020204" pitchFamily="34" charset="0"/>
                  </a:rPr>
                  <a:t> TM </a:t>
                </a:r>
                <a:r>
                  <a:rPr lang="en-US" sz="1000" dirty="0" err="1">
                    <a:latin typeface="Arial" panose="020B0604020202020204" pitchFamily="34" charset="0"/>
                    <a:cs typeface="Arial" panose="020B0604020202020204" pitchFamily="34" charset="0"/>
                  </a:rPr>
                  <a:t>que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en</a:t>
                </a:r>
                <a:r>
                  <a:rPr lang="en-US" sz="1000" dirty="0">
                    <a:latin typeface="Arial" panose="020B0604020202020204" pitchFamily="34" charset="0"/>
                    <a:cs typeface="Arial" panose="020B0604020202020204" pitchFamily="34" charset="0"/>
                  </a:rPr>
                  <a:t> TE. Es </a:t>
                </a:r>
                <a:r>
                  <a:rPr lang="en-US" sz="1000" dirty="0" err="1">
                    <a:latin typeface="Arial" panose="020B0604020202020204" pitchFamily="34" charset="0"/>
                    <a:cs typeface="Arial" panose="020B0604020202020204" pitchFamily="34" charset="0"/>
                  </a:rPr>
                  <a:t>decir</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acumulan</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desfase</a:t>
                </a:r>
                <a:r>
                  <a:rPr lang="en-US" sz="1000" dirty="0">
                    <a:latin typeface="Arial" panose="020B0604020202020204" pitchFamily="34" charset="0"/>
                    <a:cs typeface="Arial" panose="020B0604020202020204" pitchFamily="34" charset="0"/>
                  </a:rPr>
                  <a:t> de 180º </a:t>
                </a:r>
                <a:r>
                  <a:rPr lang="en-US" sz="1000" dirty="0" err="1">
                    <a:latin typeface="Arial" panose="020B0604020202020204" pitchFamily="34" charset="0"/>
                    <a:cs typeface="Arial" panose="020B0604020202020204" pitchFamily="34" charset="0"/>
                  </a:rPr>
                  <a:t>en</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menos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longitud</a:t>
                </a:r>
                <a:r>
                  <a:rPr lang="en-US" sz="1000" dirty="0">
                    <a:latin typeface="Arial" panose="020B0604020202020204" pitchFamily="34" charset="0"/>
                    <a:cs typeface="Arial" panose="020B0604020202020204" pitchFamily="34" charset="0"/>
                  </a:rPr>
                  <a:t>.</a:t>
                </a:r>
              </a:p>
              <a:p>
                <a:pPr algn="just"/>
                <a:r>
                  <a:rPr lang="en-US" sz="1000" dirty="0">
                    <a:latin typeface="Arial" panose="020B0604020202020204" pitchFamily="34" charset="0"/>
                    <a:cs typeface="Arial" panose="020B0604020202020204" pitchFamily="34" charset="0"/>
                  </a:rPr>
                  <a:t> </a:t>
                </a:r>
              </a:p>
              <a:p>
                <a:pPr algn="just"/>
                <a:r>
                  <a:rPr lang="en-US" sz="1000" dirty="0">
                    <a:latin typeface="Arial" panose="020B0604020202020204" pitchFamily="34" charset="0"/>
                    <a:cs typeface="Arial" panose="020B0604020202020204" pitchFamily="34" charset="0"/>
                  </a:rPr>
                  <a:t>Es </a:t>
                </a:r>
                <a:r>
                  <a:rPr lang="en-US" sz="1000" dirty="0" err="1">
                    <a:latin typeface="Arial" panose="020B0604020202020204" pitchFamily="34" charset="0"/>
                    <a:cs typeface="Arial" panose="020B0604020202020204" pitchFamily="34" charset="0"/>
                  </a:rPr>
                  <a:t>por</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ello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que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en</a:t>
                </a:r>
                <a:r>
                  <a:rPr lang="en-US" sz="1000" dirty="0">
                    <a:latin typeface="Arial" panose="020B0604020202020204" pitchFamily="34" charset="0"/>
                    <a:cs typeface="Arial" panose="020B0604020202020204" pitchFamily="34" charset="0"/>
                  </a:rPr>
                  <a:t> la </a:t>
                </a:r>
                <a:r>
                  <a:rPr lang="en-US" sz="1000" dirty="0" err="1">
                    <a:latin typeface="Arial" panose="020B0604020202020204" pitchFamily="34" charset="0"/>
                    <a:cs typeface="Arial" panose="020B0604020202020204" pitchFamily="34" charset="0"/>
                  </a:rPr>
                  <a:t>gráfica</a:t>
                </a:r>
                <a:r>
                  <a:rPr lang="en-US" sz="1000" dirty="0">
                    <a:latin typeface="Arial" panose="020B0604020202020204" pitchFamily="34" charset="0"/>
                    <a:cs typeface="Arial" panose="020B0604020202020204" pitchFamily="34" charset="0"/>
                  </a:rPr>
                  <a:t> de la </a:t>
                </a:r>
                <a:r>
                  <a:rPr lang="en-US" sz="1000" dirty="0" err="1">
                    <a:latin typeface="Arial" panose="020B0604020202020204" pitchFamily="34" charset="0"/>
                    <a:cs typeface="Arial" panose="020B0604020202020204" pitchFamily="34" charset="0"/>
                  </a:rPr>
                  <a:t>derecha</a:t>
                </a:r>
                <a:r>
                  <a:rPr lang="en-US" sz="1000" dirty="0">
                    <a:latin typeface="Arial" panose="020B0604020202020204" pitchFamily="34" charset="0"/>
                    <a:cs typeface="Arial" panose="020B0604020202020204" pitchFamily="34" charset="0"/>
                  </a:rPr>
                  <a:t> (la de </a:t>
                </a:r>
                <a:r>
                  <a:rPr lang="en-US" sz="1000" dirty="0" err="1">
                    <a:latin typeface="Arial" panose="020B0604020202020204" pitchFamily="34" charset="0"/>
                    <a:cs typeface="Arial" panose="020B0604020202020204" pitchFamily="34" charset="0"/>
                  </a:rPr>
                  <a:t>los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modos</a:t>
                </a:r>
                <a:r>
                  <a:rPr lang="en-US" sz="1000" dirty="0">
                    <a:latin typeface="Arial" panose="020B0604020202020204" pitchFamily="34" charset="0"/>
                    <a:cs typeface="Arial" panose="020B0604020202020204" pitchFamily="34" charset="0"/>
                  </a:rPr>
                  <a:t> TM), </a:t>
                </a:r>
                <a:r>
                  <a:rPr lang="en-US" sz="1000" dirty="0" err="1">
                    <a:latin typeface="Arial" panose="020B0604020202020204" pitchFamily="34" charset="0"/>
                    <a:cs typeface="Arial" panose="020B0604020202020204" pitchFamily="34" charset="0"/>
                  </a:rPr>
                  <a:t>sí</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que</a:t>
                </a:r>
                <a:r>
                  <a:rPr lang="en-US" sz="1000" dirty="0">
                    <a:latin typeface="Arial" panose="020B0604020202020204" pitchFamily="34" charset="0"/>
                    <a:cs typeface="Arial" panose="020B0604020202020204" pitchFamily="34" charset="0"/>
                  </a:rPr>
                  <a:t> se </a:t>
                </a:r>
                <a:r>
                  <a:rPr lang="en-US" sz="1000" dirty="0" err="1">
                    <a:latin typeface="Arial" panose="020B0604020202020204" pitchFamily="34" charset="0"/>
                    <a:cs typeface="Arial" panose="020B0604020202020204" pitchFamily="34" charset="0"/>
                  </a:rPr>
                  <a:t>llega</a:t>
                </a:r>
                <a:r>
                  <a:rPr lang="en-US" sz="1000" dirty="0">
                    <a:latin typeface="Arial" panose="020B0604020202020204" pitchFamily="34" charset="0"/>
                    <a:cs typeface="Arial" panose="020B0604020202020204" pitchFamily="34" charset="0"/>
                  </a:rPr>
                  <a:t> a </a:t>
                </a:r>
                <a:r>
                  <a:rPr lang="en-US" sz="1000" dirty="0" err="1">
                    <a:latin typeface="Arial" panose="020B0604020202020204" pitchFamily="34" charset="0"/>
                    <a:cs typeface="Arial" panose="020B0604020202020204" pitchFamily="34" charset="0"/>
                  </a:rPr>
                  <a:t>apreciar</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cómo</a:t>
                </a:r>
                <a:r>
                  <a:rPr lang="en-US" sz="1000" dirty="0">
                    <a:latin typeface="Arial" panose="020B0604020202020204" pitchFamily="34" charset="0"/>
                    <a:cs typeface="Arial" panose="020B0604020202020204" pitchFamily="34" charset="0"/>
                  </a:rPr>
                  <a:t> al doble de </a:t>
                </a:r>
                <a:r>
                  <a:rPr lang="es-ES" sz="1000" dirty="0">
                    <a:latin typeface="Arial" panose="020B0604020202020204" pitchFamily="34" charset="0"/>
                    <a:cs typeface="Arial" panose="020B0604020202020204" pitchFamily="34" charset="0"/>
                  </a:rPr>
                  <a:t>𝐿𝜋 llega a la beat </a:t>
                </a:r>
                <a:r>
                  <a:rPr lang="es-ES" sz="1000" dirty="0" err="1">
                    <a:latin typeface="Arial" panose="020B0604020202020204" pitchFamily="34" charset="0"/>
                    <a:cs typeface="Arial" panose="020B0604020202020204" pitchFamily="34" charset="0"/>
                  </a:rPr>
                  <a:t>length</a:t>
                </a:r>
                <a:r>
                  <a:rPr lang="es-ES" sz="1000" dirty="0">
                    <a:latin typeface="Arial" panose="020B0604020202020204" pitchFamily="34" charset="0"/>
                    <a:cs typeface="Arial" panose="020B0604020202020204" pitchFamily="34" charset="0"/>
                  </a:rPr>
                  <a:t> Lb, el coeficiente de acoplo vuelve a 0, y posteriormente la potencia se vuelve a acoplar en la otra guía.</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Además, para conseguir un </a:t>
                </a:r>
                <a:r>
                  <a:rPr lang="es-ES" sz="1000" dirty="0" err="1">
                    <a:latin typeface="Arial" panose="020B0604020202020204" pitchFamily="34" charset="0"/>
                    <a:cs typeface="Arial" panose="020B0604020202020204" pitchFamily="34" charset="0"/>
                  </a:rPr>
                  <a:t>splitter</a:t>
                </a:r>
                <a:r>
                  <a:rPr lang="es-ES" sz="1000" dirty="0">
                    <a:latin typeface="Arial" panose="020B0604020202020204" pitchFamily="34" charset="0"/>
                    <a:cs typeface="Arial" panose="020B0604020202020204" pitchFamily="34" charset="0"/>
                  </a:rPr>
                  <a:t>, es decir el reparto de potencia al 50%, se debe de usar </a:t>
                </a:r>
                <a14:m>
                  <m:oMath xmlns:m="http://schemas.openxmlformats.org/officeDocument/2006/math">
                    <m:r>
                      <a:rPr lang="es-ES" sz="1000" b="0" i="1">
                        <a:latin typeface="Cambria Math" panose="02040503050406030204" pitchFamily="18" charset="0"/>
                      </a:rPr>
                      <m:t>𝐾</m:t>
                    </m:r>
                    <m:r>
                      <a:rPr lang="es-ES" sz="1000" b="0">
                        <a:latin typeface="Cambria Math" panose="02040503050406030204" pitchFamily="18" charset="0"/>
                      </a:rPr>
                      <m:t>=</m:t>
                    </m:r>
                    <m:r>
                      <a:rPr lang="es-ES" sz="1000" b="0" i="1">
                        <a:latin typeface="Cambria Math" panose="02040503050406030204" pitchFamily="18" charset="0"/>
                      </a:rPr>
                      <m:t>0</m:t>
                    </m:r>
                    <m:r>
                      <a:rPr lang="es-ES" sz="1000" b="0">
                        <a:latin typeface="Cambria Math" panose="02040503050406030204" pitchFamily="18" charset="0"/>
                      </a:rPr>
                      <m:t>.</m:t>
                    </m:r>
                    <m:r>
                      <a:rPr lang="es-ES" sz="1000" b="0" i="1">
                        <a:latin typeface="Cambria Math" panose="02040503050406030204" pitchFamily="18" charset="0"/>
                      </a:rPr>
                      <m:t>5</m:t>
                    </m:r>
                  </m:oMath>
                </a14:m>
                <a:r>
                  <a:rPr lang="es-ES" sz="1000" dirty="0">
                    <a:latin typeface="Arial" panose="020B0604020202020204" pitchFamily="34" charset="0"/>
                    <a:cs typeface="Arial" panose="020B0604020202020204" pitchFamily="34" charset="0"/>
                  </a:rPr>
                  <a:t>, que corresponde aproximadamente a L=</a:t>
                </a:r>
                <a14:m>
                  <m:oMath xmlns:m="http://schemas.openxmlformats.org/officeDocument/2006/math">
                    <m:sSub>
                      <m:sSubPr>
                        <m:ctrlPr>
                          <a:rPr lang="ar-AE" sz="1000" i="1">
                            <a:latin typeface="Cambria Math" panose="02040503050406030204" pitchFamily="18" charset="0"/>
                          </a:rPr>
                        </m:ctrlPr>
                      </m:sSubPr>
                      <m:e>
                        <m:r>
                          <a:rPr lang="ar-AE" sz="1000" b="0" i="1">
                            <a:latin typeface="Cambria Math" panose="02040503050406030204" pitchFamily="18" charset="0"/>
                          </a:rPr>
                          <m:t>𝐿</m:t>
                        </m:r>
                      </m:e>
                      <m:sub>
                        <m:r>
                          <a:rPr lang="ar-AE" sz="1000" b="0" i="1">
                            <a:latin typeface="Cambria Math" panose="02040503050406030204" pitchFamily="18" charset="0"/>
                          </a:rPr>
                          <m:t>𝜋</m:t>
                        </m:r>
                      </m:sub>
                    </m:sSub>
                    <m:r>
                      <a:rPr lang="ar-AE" sz="1000" b="0">
                        <a:latin typeface="Cambria Math" panose="02040503050406030204" pitchFamily="18" charset="0"/>
                      </a:rPr>
                      <m:t>/</m:t>
                    </m:r>
                    <m:r>
                      <a:rPr lang="ar-AE" sz="1000" b="0" i="1">
                        <a:latin typeface="Cambria Math" panose="02040503050406030204" pitchFamily="18" charset="0"/>
                      </a:rPr>
                      <m:t>2</m:t>
                    </m:r>
                  </m:oMath>
                </a14:m>
                <a:r>
                  <a:rPr lang="ar-AE"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Por tanto, para TE la longitud necesaria para dividir la potencia en partes iguales es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𝐿</m:t>
                        </m:r>
                      </m:e>
                      <m:sub>
                        <m:r>
                          <a:rPr lang="ar-AE" sz="1000" i="1">
                            <a:latin typeface="Cambria Math" panose="02040503050406030204" pitchFamily="18" charset="0"/>
                          </a:rPr>
                          <m:t>𝑇𝐸</m:t>
                        </m:r>
                      </m:sub>
                    </m:sSub>
                    <m:r>
                      <a:rPr lang="es-ES" sz="1000" b="0" i="1" smtClean="0">
                        <a:latin typeface="Cambria Math" panose="02040503050406030204" pitchFamily="18" charset="0"/>
                      </a:rPr>
                      <m:t>=</m:t>
                    </m:r>
                    <m:r>
                      <a:rPr lang="es-ES" sz="1000" b="0" i="1">
                        <a:latin typeface="Cambria Math" panose="02040503050406030204" pitchFamily="18" charset="0"/>
                      </a:rPr>
                      <m:t>46</m:t>
                    </m:r>
                    <m:r>
                      <a:rPr lang="es-ES" sz="1000" b="0">
                        <a:latin typeface="Cambria Math" panose="02040503050406030204" pitchFamily="18" charset="0"/>
                      </a:rPr>
                      <m:t>.</m:t>
                    </m:r>
                    <m:r>
                      <a:rPr lang="es-ES" sz="1000" b="0" i="1">
                        <a:latin typeface="Cambria Math" panose="02040503050406030204" pitchFamily="18" charset="0"/>
                      </a:rPr>
                      <m:t>92</m:t>
                    </m:r>
                    <m:r>
                      <m:rPr>
                        <m:nor/>
                      </m:rPr>
                      <a:rPr lang="es-ES" sz="1000" i="1">
                        <a:latin typeface="Arial" panose="020B0604020202020204" pitchFamily="34" charset="0"/>
                        <a:cs typeface="Arial" panose="020B0604020202020204" pitchFamily="34" charset="0"/>
                      </a:rPr>
                      <m:t> </m:t>
                    </m:r>
                    <m:r>
                      <a:rPr lang="es-ES" sz="1000" b="0" i="1">
                        <a:latin typeface="Cambria Math" panose="02040503050406030204" pitchFamily="18" charset="0"/>
                      </a:rPr>
                      <m:t>𝜇</m:t>
                    </m:r>
                    <m:r>
                      <a:rPr lang="es-ES" sz="1000" b="0" i="1">
                        <a:latin typeface="Cambria Math" panose="02040503050406030204" pitchFamily="18" charset="0"/>
                      </a:rPr>
                      <m:t>𝑚</m:t>
                    </m:r>
                  </m:oMath>
                </a14:m>
                <a:r>
                  <a:rPr lang="es-ES" sz="1000" dirty="0">
                    <a:latin typeface="Arial" panose="020B0604020202020204" pitchFamily="34" charset="0"/>
                    <a:cs typeface="Arial" panose="020B0604020202020204" pitchFamily="34" charset="0"/>
                  </a:rPr>
                  <a:t>, mientras que para TM es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𝐿</m:t>
                        </m:r>
                      </m:e>
                      <m:sub>
                        <m:r>
                          <a:rPr lang="ar-AE" sz="1000" i="1">
                            <a:latin typeface="Cambria Math" panose="02040503050406030204" pitchFamily="18" charset="0"/>
                          </a:rPr>
                          <m:t>𝑇𝑀</m:t>
                        </m:r>
                      </m:sub>
                    </m:sSub>
                    <m:r>
                      <a:rPr lang="es-ES" sz="1000" b="0" i="1" smtClean="0">
                        <a:latin typeface="Cambria Math" panose="02040503050406030204" pitchFamily="18" charset="0"/>
                      </a:rPr>
                      <m:t>=</m:t>
                    </m:r>
                    <m:r>
                      <a:rPr lang="es-ES" sz="1000" b="0" i="1">
                        <a:latin typeface="Cambria Math" panose="02040503050406030204" pitchFamily="18" charset="0"/>
                      </a:rPr>
                      <m:t>26</m:t>
                    </m:r>
                    <m:r>
                      <a:rPr lang="es-ES" sz="1000" b="0">
                        <a:latin typeface="Cambria Math" panose="02040503050406030204" pitchFamily="18" charset="0"/>
                      </a:rPr>
                      <m:t>.</m:t>
                    </m:r>
                    <m:r>
                      <a:rPr lang="es-ES" sz="1000" b="0" i="1">
                        <a:latin typeface="Cambria Math" panose="02040503050406030204" pitchFamily="18" charset="0"/>
                      </a:rPr>
                      <m:t>13</m:t>
                    </m:r>
                    <m:r>
                      <m:rPr>
                        <m:nor/>
                      </m:rPr>
                      <a:rPr lang="es-ES" sz="1000" i="1">
                        <a:latin typeface="Arial" panose="020B0604020202020204" pitchFamily="34" charset="0"/>
                        <a:cs typeface="Arial" panose="020B0604020202020204" pitchFamily="34" charset="0"/>
                      </a:rPr>
                      <m:t> </m:t>
                    </m:r>
                    <m:r>
                      <a:rPr lang="es-ES" sz="1000" b="0" i="1">
                        <a:latin typeface="Cambria Math" panose="02040503050406030204" pitchFamily="18" charset="0"/>
                      </a:rPr>
                      <m:t>𝜇</m:t>
                    </m:r>
                    <m:r>
                      <a:rPr lang="es-ES" sz="1000" b="0" i="1">
                        <a:latin typeface="Cambria Math" panose="02040503050406030204" pitchFamily="18" charset="0"/>
                      </a:rPr>
                      <m:t>𝑚</m:t>
                    </m:r>
                  </m:oMath>
                </a14:m>
                <a:r>
                  <a:rPr lang="es-ES" sz="1000" dirty="0">
                    <a:latin typeface="Arial" panose="020B0604020202020204" pitchFamily="34" charset="0"/>
                    <a:cs typeface="Arial" panose="020B0604020202020204" pitchFamily="34" charset="0"/>
                  </a:rPr>
                  <a:t>.</a:t>
                </a:r>
                <a:endParaRPr lang="en-US" sz="10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A74E8735-0FB2-5E94-5FCF-51BF0AC001AC}"/>
                  </a:ext>
                </a:extLst>
              </p:cNvPr>
              <p:cNvSpPr txBox="1">
                <a:spLocks noRot="1" noChangeAspect="1" noMove="1" noResize="1" noEditPoints="1" noAdjustHandles="1" noChangeArrowheads="1" noChangeShapeType="1" noTextEdit="1"/>
              </p:cNvSpPr>
              <p:nvPr/>
            </p:nvSpPr>
            <p:spPr>
              <a:xfrm>
                <a:off x="480239" y="1741764"/>
                <a:ext cx="11199971" cy="3245247"/>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pic>
        <p:nvPicPr>
          <p:cNvPr id="6" name="Imagen 5" descr="Forma&#10;&#10;Descripción generada automáticamente con confianza media">
            <a:extLst>
              <a:ext uri="{FF2B5EF4-FFF2-40B4-BE49-F238E27FC236}">
                <a16:creationId xmlns:a16="http://schemas.microsoft.com/office/drawing/2014/main" id="{0DB5FD8C-2122-9F88-6212-9B140FF8389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685020" y="761543"/>
            <a:ext cx="2057400" cy="598179"/>
          </a:xfrm>
          <a:prstGeom prst="rect">
            <a:avLst/>
          </a:prstGeom>
        </p:spPr>
      </p:pic>
    </p:spTree>
    <p:extLst>
      <p:ext uri="{BB962C8B-B14F-4D97-AF65-F5344CB8AC3E}">
        <p14:creationId xmlns:p14="http://schemas.microsoft.com/office/powerpoint/2010/main" val="24519034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2x2 Directional Coupler</a:t>
            </a:r>
            <a:br>
              <a:rPr lang="en-US" sz="2500" spc="-5" dirty="0">
                <a:latin typeface="+mj-lt"/>
                <a:cs typeface="Lucida Sans"/>
              </a:rPr>
            </a:br>
            <a:r>
              <a:rPr lang="en-US" b="0" dirty="0"/>
              <a:t>Wavelength 1.55 µm – Sweep gaps between 0.2 and 1.2 µm in steps of 0.2 µm</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9</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7" name="Rectángulo 6">
            <a:extLst>
              <a:ext uri="{FF2B5EF4-FFF2-40B4-BE49-F238E27FC236}">
                <a16:creationId xmlns:a16="http://schemas.microsoft.com/office/drawing/2014/main" id="{FBC7D187-267A-ADD4-764C-D3820B8ED302}"/>
              </a:ext>
            </a:extLst>
          </p:cNvPr>
          <p:cNvSpPr/>
          <p:nvPr/>
        </p:nvSpPr>
        <p:spPr>
          <a:xfrm>
            <a:off x="609441" y="1418372"/>
            <a:ext cx="11199971" cy="444902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a:extLst>
              <a:ext uri="{FF2B5EF4-FFF2-40B4-BE49-F238E27FC236}">
                <a16:creationId xmlns:a16="http://schemas.microsoft.com/office/drawing/2014/main" id="{AEE9C704-B391-B131-1F5D-4DD8AD5DF363}"/>
              </a:ext>
            </a:extLst>
          </p:cNvPr>
          <p:cNvPicPr>
            <a:picLocks noChangeAspect="1"/>
          </p:cNvPicPr>
          <p:nvPr/>
        </p:nvPicPr>
        <p:blipFill>
          <a:blip r:embed="rId4"/>
          <a:stretch>
            <a:fillRect/>
          </a:stretch>
        </p:blipFill>
        <p:spPr>
          <a:xfrm>
            <a:off x="685800" y="2072953"/>
            <a:ext cx="3943900" cy="1000265"/>
          </a:xfrm>
          <a:prstGeom prst="rect">
            <a:avLst/>
          </a:prstGeom>
        </p:spPr>
      </p:pic>
      <p:pic>
        <p:nvPicPr>
          <p:cNvPr id="9" name="Imagen 8">
            <a:extLst>
              <a:ext uri="{FF2B5EF4-FFF2-40B4-BE49-F238E27FC236}">
                <a16:creationId xmlns:a16="http://schemas.microsoft.com/office/drawing/2014/main" id="{1C81A8C1-8E80-6811-58CB-205185D3AD83}"/>
              </a:ext>
            </a:extLst>
          </p:cNvPr>
          <p:cNvPicPr>
            <a:picLocks noChangeAspect="1"/>
          </p:cNvPicPr>
          <p:nvPr/>
        </p:nvPicPr>
        <p:blipFill>
          <a:blip r:embed="rId5"/>
          <a:stretch>
            <a:fillRect/>
          </a:stretch>
        </p:blipFill>
        <p:spPr>
          <a:xfrm>
            <a:off x="4785715" y="2104705"/>
            <a:ext cx="3229426" cy="1295581"/>
          </a:xfrm>
          <a:prstGeom prst="rect">
            <a:avLst/>
          </a:prstGeom>
        </p:spPr>
      </p:pic>
      <p:pic>
        <p:nvPicPr>
          <p:cNvPr id="11" name="Imagen 10">
            <a:extLst>
              <a:ext uri="{FF2B5EF4-FFF2-40B4-BE49-F238E27FC236}">
                <a16:creationId xmlns:a16="http://schemas.microsoft.com/office/drawing/2014/main" id="{7CD859A7-F320-FB4C-D944-EC3BEA7F8CCE}"/>
              </a:ext>
            </a:extLst>
          </p:cNvPr>
          <p:cNvPicPr>
            <a:picLocks noChangeAspect="1"/>
          </p:cNvPicPr>
          <p:nvPr/>
        </p:nvPicPr>
        <p:blipFill>
          <a:blip r:embed="rId6"/>
          <a:stretch>
            <a:fillRect/>
          </a:stretch>
        </p:blipFill>
        <p:spPr>
          <a:xfrm>
            <a:off x="8310134" y="2231265"/>
            <a:ext cx="3305636" cy="543001"/>
          </a:xfrm>
          <a:prstGeom prst="rect">
            <a:avLst/>
          </a:prstGeom>
        </p:spPr>
      </p:pic>
      <p:pic>
        <p:nvPicPr>
          <p:cNvPr id="13" name="Imagen 12">
            <a:extLst>
              <a:ext uri="{FF2B5EF4-FFF2-40B4-BE49-F238E27FC236}">
                <a16:creationId xmlns:a16="http://schemas.microsoft.com/office/drawing/2014/main" id="{7553E6A3-D014-F1D5-E621-BBEB4D72F82B}"/>
              </a:ext>
            </a:extLst>
          </p:cNvPr>
          <p:cNvPicPr>
            <a:picLocks noChangeAspect="1"/>
          </p:cNvPicPr>
          <p:nvPr/>
        </p:nvPicPr>
        <p:blipFill>
          <a:blip r:embed="rId7"/>
          <a:stretch>
            <a:fillRect/>
          </a:stretch>
        </p:blipFill>
        <p:spPr>
          <a:xfrm>
            <a:off x="1012550" y="3429610"/>
            <a:ext cx="3566356" cy="1804121"/>
          </a:xfrm>
          <a:prstGeom prst="rect">
            <a:avLst/>
          </a:prstGeom>
        </p:spPr>
      </p:pic>
      <p:pic>
        <p:nvPicPr>
          <p:cNvPr id="15" name="Imagen 14">
            <a:extLst>
              <a:ext uri="{FF2B5EF4-FFF2-40B4-BE49-F238E27FC236}">
                <a16:creationId xmlns:a16="http://schemas.microsoft.com/office/drawing/2014/main" id="{9413EF78-A4E1-A640-28AE-59A15A4553F3}"/>
              </a:ext>
            </a:extLst>
          </p:cNvPr>
          <p:cNvPicPr>
            <a:picLocks noChangeAspect="1"/>
          </p:cNvPicPr>
          <p:nvPr/>
        </p:nvPicPr>
        <p:blipFill>
          <a:blip r:embed="rId8"/>
          <a:stretch>
            <a:fillRect/>
          </a:stretch>
        </p:blipFill>
        <p:spPr>
          <a:xfrm>
            <a:off x="8504501" y="3423390"/>
            <a:ext cx="3150975" cy="1804121"/>
          </a:xfrm>
          <a:prstGeom prst="rect">
            <a:avLst/>
          </a:prstGeom>
        </p:spPr>
      </p:pic>
      <p:pic>
        <p:nvPicPr>
          <p:cNvPr id="18" name="Imagen 17">
            <a:extLst>
              <a:ext uri="{FF2B5EF4-FFF2-40B4-BE49-F238E27FC236}">
                <a16:creationId xmlns:a16="http://schemas.microsoft.com/office/drawing/2014/main" id="{42860E7A-B049-8202-BFB8-0F57448EC2BF}"/>
              </a:ext>
            </a:extLst>
          </p:cNvPr>
          <p:cNvPicPr>
            <a:picLocks noChangeAspect="1"/>
          </p:cNvPicPr>
          <p:nvPr/>
        </p:nvPicPr>
        <p:blipFill>
          <a:blip r:embed="rId9"/>
          <a:stretch>
            <a:fillRect/>
          </a:stretch>
        </p:blipFill>
        <p:spPr>
          <a:xfrm>
            <a:off x="4785715" y="3423390"/>
            <a:ext cx="3524419" cy="1804121"/>
          </a:xfrm>
          <a:prstGeom prst="rect">
            <a:avLst/>
          </a:prstGeom>
        </p:spPr>
      </p:pic>
    </p:spTree>
    <p:extLst>
      <p:ext uri="{BB962C8B-B14F-4D97-AF65-F5344CB8AC3E}">
        <p14:creationId xmlns:p14="http://schemas.microsoft.com/office/powerpoint/2010/main" val="15583268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0B1280-098C-7B8C-B51D-DB3557C20F11}"/>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A78234B5-5001-CCFB-11F6-19C8C5D76AE3}"/>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2x2 Directional Coupler</a:t>
            </a:r>
            <a:br>
              <a:rPr lang="en-US" sz="2500" spc="-5" dirty="0">
                <a:latin typeface="+mj-lt"/>
                <a:cs typeface="Lucida Sans"/>
              </a:rPr>
            </a:br>
            <a:r>
              <a:rPr lang="en-US" b="0" dirty="0"/>
              <a:t>Wavelength 1.55 µm – Sweep gaps between 0.2 and 1.2 µm in steps of 0.2 µm</a:t>
            </a:r>
            <a:endParaRPr lang="en-US" sz="2500" b="0" dirty="0">
              <a:latin typeface="+mj-lt"/>
              <a:cs typeface="Lucida Sans"/>
            </a:endParaRPr>
          </a:p>
        </p:txBody>
      </p:sp>
      <p:pic>
        <p:nvPicPr>
          <p:cNvPr id="83" name="Gráfico 82">
            <a:extLst>
              <a:ext uri="{FF2B5EF4-FFF2-40B4-BE49-F238E27FC236}">
                <a16:creationId xmlns:a16="http://schemas.microsoft.com/office/drawing/2014/main" id="{82E1A214-CF83-731C-D96E-484909E64D3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D1A3A09A-4351-09EC-2B23-1F794F9870C5}"/>
              </a:ext>
            </a:extLst>
          </p:cNvPr>
          <p:cNvSpPr>
            <a:spLocks noGrp="1"/>
          </p:cNvSpPr>
          <p:nvPr>
            <p:ph type="sldNum" sz="quarter" idx="7"/>
          </p:nvPr>
        </p:nvSpPr>
        <p:spPr/>
        <p:txBody>
          <a:bodyPr/>
          <a:lstStyle/>
          <a:p>
            <a:fld id="{B6F15528-21DE-4FAA-801E-634DDDAF4B2B}" type="slidenum">
              <a:rPr lang="es-ES" smtClean="0"/>
              <a:t>10</a:t>
            </a:fld>
            <a:endParaRPr lang="es-ES"/>
          </a:p>
        </p:txBody>
      </p:sp>
      <p:sp>
        <p:nvSpPr>
          <p:cNvPr id="3" name="Marcador de pie de página 2">
            <a:extLst>
              <a:ext uri="{FF2B5EF4-FFF2-40B4-BE49-F238E27FC236}">
                <a16:creationId xmlns:a16="http://schemas.microsoft.com/office/drawing/2014/main" id="{7D7AE817-D6C9-8213-C772-38BEF7166AB5}"/>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43856910-DA26-80D4-8490-DFECDBE8142A}"/>
                  </a:ext>
                </a:extLst>
              </p:cNvPr>
              <p:cNvSpPr txBox="1"/>
              <p:nvPr/>
            </p:nvSpPr>
            <p:spPr>
              <a:xfrm>
                <a:off x="480239" y="1447800"/>
                <a:ext cx="11199971" cy="3323987"/>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Comment results (Coupling relationship, </a:t>
                </a:r>
                <a:r>
                  <a:rPr lang="en-US" sz="1200" b="1" i="1" dirty="0" err="1">
                    <a:latin typeface="Arial" panose="020B0604020202020204" pitchFamily="34" charset="0"/>
                    <a:cs typeface="Arial" panose="020B0604020202020204" pitchFamily="34" charset="0"/>
                  </a:rPr>
                  <a:t>Lpi</a:t>
                </a:r>
                <a:r>
                  <a:rPr lang="en-US" sz="1200" b="1" i="1" dirty="0">
                    <a:latin typeface="Arial" panose="020B0604020202020204" pitchFamily="34" charset="0"/>
                    <a:cs typeface="Arial" panose="020B0604020202020204" pitchFamily="34" charset="0"/>
                  </a:rPr>
                  <a:t>, losses, … )</a:t>
                </a:r>
              </a:p>
              <a:p>
                <a:pPr algn="just"/>
                <a:endParaRPr lang="en-U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este apartado se ha simulado un acoplador direccional 2x2 diseñado para funcionar como </a:t>
                </a:r>
                <a:r>
                  <a:rPr lang="es-ES" sz="1000" dirty="0" err="1">
                    <a:latin typeface="Arial" panose="020B0604020202020204" pitchFamily="34" charset="0"/>
                    <a:cs typeface="Arial" panose="020B0604020202020204" pitchFamily="34" charset="0"/>
                  </a:rPr>
                  <a:t>splitter</a:t>
                </a:r>
                <a:r>
                  <a:rPr lang="es-ES" sz="1000" dirty="0">
                    <a:latin typeface="Arial" panose="020B0604020202020204" pitchFamily="34" charset="0"/>
                    <a:cs typeface="Arial" panose="020B0604020202020204" pitchFamily="34" charset="0"/>
                  </a:rPr>
                  <a:t> 50:50. Para ello se ha realizado un barrido del gap entre las dos guías, desde 0.2 µm hasta 1.2 µm, y para cada caso se ha ajustado la longitud de la región de acoplo para obtener dos salidas con la misma potencia.</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las simulaciones se observa que, cuando el gap es menor, las guías están más próximas y el acoplo es más fuerte. Por tanto, la longitud necesaria para obtener el reparto 50:50 es menor. En cambio, cuando el gap aumenta, el solapamiento entre los campos de ambas guías disminuye, por lo que el coeficiente de acoplo es menor y se necesita una longitud de acoplo mucho mayor. Esto se ve en los resultados, donde aparecen longitudes muy diferentes, como 47.01 µm, 12.91 µm y 290.21 µm respectivamente, dependiendo del gap utilizado.</a:t>
                </a:r>
                <a:endParaRPr lang="en-US" sz="1000" dirty="0">
                  <a:latin typeface="Arial" panose="020B0604020202020204" pitchFamily="34" charset="0"/>
                  <a:cs typeface="Arial" panose="020B0604020202020204" pitchFamily="34" charset="0"/>
                </a:endParaRPr>
              </a:p>
              <a:p>
                <a:pPr algn="just"/>
                <a:endParaRPr lang="en-U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todos los casos, el reparto entre las dos salidas es prácticamente equilibrado, con ratios cercanos a 0.5/0.5 (ratio </a:t>
                </a:r>
                <a:r>
                  <a:rPr lang="es-ES" sz="1000" dirty="0" err="1">
                    <a:latin typeface="Arial" panose="020B0604020202020204" pitchFamily="34" charset="0"/>
                    <a:cs typeface="Arial" panose="020B0604020202020204" pitchFamily="34" charset="0"/>
                  </a:rPr>
                  <a:t>over</a:t>
                </a:r>
                <a:r>
                  <a:rPr lang="es-ES" sz="1000" dirty="0">
                    <a:latin typeface="Arial" panose="020B0604020202020204" pitchFamily="34" charset="0"/>
                    <a:cs typeface="Arial" panose="020B0604020202020204" pitchFamily="34" charset="0"/>
                  </a:rPr>
                  <a:t> </a:t>
                </a:r>
                <a:r>
                  <a:rPr lang="es-ES" sz="1000" dirty="0" err="1">
                    <a:latin typeface="Arial" panose="020B0604020202020204" pitchFamily="34" charset="0"/>
                    <a:cs typeface="Arial" panose="020B0604020202020204" pitchFamily="34" charset="0"/>
                  </a:rPr>
                  <a:t>OUTs</a:t>
                </a:r>
                <a:r>
                  <a:rPr lang="es-ES" sz="1000" dirty="0">
                    <a:latin typeface="Arial" panose="020B0604020202020204" pitchFamily="34" charset="0"/>
                    <a:cs typeface="Arial" panose="020B0604020202020204" pitchFamily="34" charset="0"/>
                  </a:rPr>
                  <a:t>). Esto indica que el diseño está funcionando correctamente como acoplador 3 dB, pero las pérdidas no son iguales en todos los casos (se obtienen pérdidas de 0.19 dB, 1.20 dB y 0.55 dB respectivamente). Por tanto, además de conseguir un reparto 50:50, también hay que comparar las pérdidas para escoger el diseño más adecuado.</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resumen, al aumentar el gap disminuye el acoplo entre las guías y aumenta la longitud necesaria para conseguir el mismo reparto de potencia. El mejor diseño será el que consiga una relación de salida cercana a 50:50 con la menor pérdida posible y una longitud para el dispositivo razonable.</a:t>
                </a:r>
                <a:endParaRPr lang="en-US" sz="1000" dirty="0">
                  <a:latin typeface="Arial" panose="020B0604020202020204" pitchFamily="34" charset="0"/>
                  <a:cs typeface="Arial" panose="020B0604020202020204" pitchFamily="34" charset="0"/>
                </a:endParaRPr>
              </a:p>
              <a:p>
                <a:pPr algn="just"/>
                <a:endParaRPr lang="en-US" sz="1000"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Para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barrido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realizado</a:t>
                </a:r>
                <a:r>
                  <a:rPr lang="en-US"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el mejor caso es el del acoplador con una longitud de 87 µm, ya que mantiene una relación de salida cercana a 0.5/0.5, presenta pérdidas bajas y no requiere una longitud excesivamente grande. Los gaps más pequeños permiten acopladores más cortos porque el acoplo es más fuerte y </a:t>
                </a:r>
                <a14:m>
                  <m:oMath xmlns:m="http://schemas.openxmlformats.org/officeDocument/2006/math">
                    <m:sSub>
                      <m:sSubPr>
                        <m:ctrlPr>
                          <a:rPr lang="ar-AE" sz="1000" i="1">
                            <a:latin typeface="Cambria Math" panose="02040503050406030204" pitchFamily="18" charset="0"/>
                          </a:rPr>
                        </m:ctrlPr>
                      </m:sSubPr>
                      <m:e>
                        <m:r>
                          <a:rPr lang="ar-AE" sz="1000" b="0" i="1" smtClean="0">
                            <a:latin typeface="Cambria Math" panose="02040503050406030204" pitchFamily="18" charset="0"/>
                          </a:rPr>
                          <m:t>𝐿</m:t>
                        </m:r>
                      </m:e>
                      <m:sub>
                        <m:r>
                          <a:rPr lang="ar-AE" sz="1000" b="0" i="1" smtClean="0">
                            <a:latin typeface="Cambria Math" panose="02040503050406030204" pitchFamily="18" charset="0"/>
                          </a:rPr>
                          <m:t>𝜋</m:t>
                        </m:r>
                      </m:sub>
                    </m:sSub>
                  </m:oMath>
                </a14:m>
                <a:r>
                  <a:rPr lang="es-ES" sz="1000" dirty="0">
                    <a:latin typeface="Arial" panose="020B0604020202020204" pitchFamily="34" charset="0"/>
                    <a:cs typeface="Arial" panose="020B0604020202020204" pitchFamily="34" charset="0"/>
                  </a:rPr>
                  <a:t> es menor, pero en las simulaciones presentan más pérdidas. En cambio, los gaps más grandes reducen las pérdidas, pero necesitan longitudes mucho mayores porque el acoplo entre las guías es más débil. Por tanto, el diseño de 87 µm representa un compromiso adecuado entre longitud, pérdidas y reparto de potencia.</a:t>
                </a:r>
                <a:endParaRPr lang="en-US" sz="10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43856910-DA26-80D4-8490-DFECDBE8142A}"/>
                  </a:ext>
                </a:extLst>
              </p:cNvPr>
              <p:cNvSpPr txBox="1">
                <a:spLocks noRot="1" noChangeAspect="1" noMove="1" noResize="1" noEditPoints="1" noAdjustHandles="1" noChangeArrowheads="1" noChangeShapeType="1" noTextEdit="1"/>
              </p:cNvSpPr>
              <p:nvPr/>
            </p:nvSpPr>
            <p:spPr>
              <a:xfrm>
                <a:off x="480239" y="1447800"/>
                <a:ext cx="11199971" cy="3323987"/>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spTree>
    <p:extLst>
      <p:ext uri="{BB962C8B-B14F-4D97-AF65-F5344CB8AC3E}">
        <p14:creationId xmlns:p14="http://schemas.microsoft.com/office/powerpoint/2010/main" val="6260978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2014D3-D6A9-670F-844B-9B7F4B085950}"/>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98719923-04BA-05E4-A67E-F6AB6E46C3FB}"/>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 – Parallel uncoupled waveguides – TE0 mode</a:t>
            </a:r>
            <a:br>
              <a:rPr lang="en-US" sz="2500" spc="-5" dirty="0">
                <a:latin typeface="+mj-lt"/>
                <a:cs typeface="Lucida Sans"/>
              </a:rPr>
            </a:br>
            <a:r>
              <a:rPr lang="en-US" b="0" dirty="0"/>
              <a:t>Wavelength 1.55 µm, width 1.0 µm, gap to be found for uncoupled </a:t>
            </a:r>
            <a:r>
              <a:rPr lang="en-US" b="0" dirty="0" err="1"/>
              <a:t>wvgs</a:t>
            </a:r>
            <a:endParaRPr lang="en-US" sz="2500" b="0" dirty="0">
              <a:latin typeface="+mj-lt"/>
              <a:cs typeface="Lucida Sans"/>
            </a:endParaRPr>
          </a:p>
        </p:txBody>
      </p:sp>
      <p:pic>
        <p:nvPicPr>
          <p:cNvPr id="83" name="Gráfico 82">
            <a:extLst>
              <a:ext uri="{FF2B5EF4-FFF2-40B4-BE49-F238E27FC236}">
                <a16:creationId xmlns:a16="http://schemas.microsoft.com/office/drawing/2014/main" id="{30B57D7C-2E28-993D-4CD6-20DC9ABEBD2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A7BE3CB9-42ED-2B6F-078A-0A6932FB3466}"/>
              </a:ext>
            </a:extLst>
          </p:cNvPr>
          <p:cNvSpPr>
            <a:spLocks noGrp="1"/>
          </p:cNvSpPr>
          <p:nvPr>
            <p:ph type="sldNum" sz="quarter" idx="7"/>
          </p:nvPr>
        </p:nvSpPr>
        <p:spPr/>
        <p:txBody>
          <a:bodyPr/>
          <a:lstStyle/>
          <a:p>
            <a:fld id="{B6F15528-21DE-4FAA-801E-634DDDAF4B2B}" type="slidenum">
              <a:rPr lang="es-ES" smtClean="0"/>
              <a:t>11</a:t>
            </a:fld>
            <a:endParaRPr lang="es-ES"/>
          </a:p>
        </p:txBody>
      </p:sp>
      <p:sp>
        <p:nvSpPr>
          <p:cNvPr id="3" name="Marcador de pie de página 2">
            <a:extLst>
              <a:ext uri="{FF2B5EF4-FFF2-40B4-BE49-F238E27FC236}">
                <a16:creationId xmlns:a16="http://schemas.microsoft.com/office/drawing/2014/main" id="{83CCB49B-A241-AEAA-BEC6-1B4FA3D84E1D}"/>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Rectángulo 3">
            <a:extLst>
              <a:ext uri="{FF2B5EF4-FFF2-40B4-BE49-F238E27FC236}">
                <a16:creationId xmlns:a16="http://schemas.microsoft.com/office/drawing/2014/main" id="{C2F5DD9F-26F4-7A98-0433-9542E9E8403D}"/>
              </a:ext>
            </a:extLst>
          </p:cNvPr>
          <p:cNvSpPr/>
          <p:nvPr/>
        </p:nvSpPr>
        <p:spPr>
          <a:xfrm>
            <a:off x="456581" y="182246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FBDE452C-5712-1B41-8AA8-BAB66E2D77DF}"/>
              </a:ext>
            </a:extLst>
          </p:cNvPr>
          <p:cNvSpPr/>
          <p:nvPr/>
        </p:nvSpPr>
        <p:spPr>
          <a:xfrm>
            <a:off x="6168564" y="182246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EADAAAC6-11F2-6A95-5F56-E9D8239C0183}"/>
                  </a:ext>
                </a:extLst>
              </p:cNvPr>
              <p:cNvSpPr txBox="1"/>
              <p:nvPr/>
            </p:nvSpPr>
            <p:spPr>
              <a:xfrm>
                <a:off x="1243947" y="2963480"/>
                <a:ext cx="4546634" cy="1477328"/>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r>
                      <a:rPr lang="es-ES" b="0" i="1" smtClean="0">
                        <a:latin typeface="Cambria Math" panose="02040503050406030204" pitchFamily="18" charset="0"/>
                      </a:rPr>
                      <m:t>𝐾</m:t>
                    </m:r>
                  </m:oMath>
                </a14:m>
                <a:r>
                  <a:rPr lang="en-US" dirty="0"/>
                  <a:t> vs gap for 10 mm </a:t>
                </a:r>
                <a:r>
                  <a:rPr lang="en-US" dirty="0" err="1"/>
                  <a:t>wvgs</a:t>
                </a:r>
                <a:r>
                  <a:rPr lang="en-US" dirty="0"/>
                  <a:t> to be uncoupled</a:t>
                </a:r>
              </a:p>
              <a:p>
                <a:pPr algn="ctr"/>
                <a:endParaRPr lang="en-US" dirty="0"/>
              </a:p>
            </p:txBody>
          </p:sp>
        </mc:Choice>
        <mc:Fallback xmlns="">
          <p:sp>
            <p:nvSpPr>
              <p:cNvPr id="9" name="CuadroTexto 8">
                <a:extLst>
                  <a:ext uri="{FF2B5EF4-FFF2-40B4-BE49-F238E27FC236}">
                    <a16:creationId xmlns:a16="http://schemas.microsoft.com/office/drawing/2014/main" id="{EADAAAC6-11F2-6A95-5F56-E9D8239C0183}"/>
                  </a:ext>
                </a:extLst>
              </p:cNvPr>
              <p:cNvSpPr txBox="1">
                <a:spLocks noRot="1" noChangeAspect="1" noMove="1" noResize="1" noEditPoints="1" noAdjustHandles="1" noChangeArrowheads="1" noChangeShapeType="1" noTextEdit="1"/>
              </p:cNvSpPr>
              <p:nvPr/>
            </p:nvSpPr>
            <p:spPr>
              <a:xfrm>
                <a:off x="1243947" y="2963480"/>
                <a:ext cx="4546634" cy="1477328"/>
              </a:xfrm>
              <a:prstGeom prst="rect">
                <a:avLst/>
              </a:prstGeom>
              <a:blipFill>
                <a:blip r:embed="rId4"/>
                <a:stretch>
                  <a:fillRect t="-2066"/>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F9EF8FB0-EFB8-2457-5C44-4C20A63DCBBB}"/>
                  </a:ext>
                </a:extLst>
              </p:cNvPr>
              <p:cNvSpPr txBox="1"/>
              <p:nvPr/>
            </p:nvSpPr>
            <p:spPr>
              <a:xfrm>
                <a:off x="6730506" y="3083756"/>
                <a:ext cx="4546634" cy="1477328"/>
              </a:xfrm>
              <a:prstGeom prst="rect">
                <a:avLst/>
              </a:prstGeom>
              <a:noFill/>
            </p:spPr>
            <p:txBody>
              <a:bodyPr wrap="square" rtlCol="0">
                <a:spAutoFit/>
              </a:bodyPr>
              <a:lstStyle/>
              <a:p>
                <a:pPr algn="ctr"/>
                <a:r>
                  <a:rPr lang="en-US" b="1" dirty="0"/>
                  <a:t>shallow</a:t>
                </a:r>
                <a:r>
                  <a:rPr lang="en-US" dirty="0"/>
                  <a:t> waveguide</a:t>
                </a:r>
              </a:p>
              <a:p>
                <a:pPr algn="ctr"/>
                <a:r>
                  <a:rPr lang="en-US" dirty="0" err="1"/>
                  <a:t>slab_thickness</a:t>
                </a:r>
                <a:r>
                  <a:rPr lang="en-US" dirty="0"/>
                  <a:t> = 150 nm</a:t>
                </a:r>
              </a:p>
              <a:p>
                <a:pPr algn="ctr"/>
                <a:endParaRPr lang="en-US" dirty="0"/>
              </a:p>
              <a:p>
                <a:pPr algn="ctr"/>
                <a:r>
                  <a:rPr lang="en-US" dirty="0"/>
                  <a:t>Paste </a:t>
                </a:r>
                <a14:m>
                  <m:oMath xmlns:m="http://schemas.openxmlformats.org/officeDocument/2006/math">
                    <m:r>
                      <a:rPr lang="es-ES" i="1">
                        <a:latin typeface="Cambria Math" panose="02040503050406030204" pitchFamily="18" charset="0"/>
                      </a:rPr>
                      <m:t>𝐾</m:t>
                    </m:r>
                  </m:oMath>
                </a14:m>
                <a:r>
                  <a:rPr lang="en-US" dirty="0"/>
                  <a:t> vs gap for 10 mm </a:t>
                </a:r>
                <a:r>
                  <a:rPr lang="en-US" dirty="0" err="1"/>
                  <a:t>wvgs</a:t>
                </a:r>
                <a:r>
                  <a:rPr lang="en-US" dirty="0"/>
                  <a:t> to be uncoupled</a:t>
                </a:r>
              </a:p>
            </p:txBody>
          </p:sp>
        </mc:Choice>
        <mc:Fallback xmlns="">
          <p:sp>
            <p:nvSpPr>
              <p:cNvPr id="10" name="CuadroTexto 9">
                <a:extLst>
                  <a:ext uri="{FF2B5EF4-FFF2-40B4-BE49-F238E27FC236}">
                    <a16:creationId xmlns:a16="http://schemas.microsoft.com/office/drawing/2014/main" id="{F9EF8FB0-EFB8-2457-5C44-4C20A63DCBBB}"/>
                  </a:ext>
                </a:extLst>
              </p:cNvPr>
              <p:cNvSpPr txBox="1">
                <a:spLocks noRot="1" noChangeAspect="1" noMove="1" noResize="1" noEditPoints="1" noAdjustHandles="1" noChangeArrowheads="1" noChangeShapeType="1" noTextEdit="1"/>
              </p:cNvSpPr>
              <p:nvPr/>
            </p:nvSpPr>
            <p:spPr>
              <a:xfrm>
                <a:off x="6730506" y="3083756"/>
                <a:ext cx="4546634" cy="1477328"/>
              </a:xfrm>
              <a:prstGeom prst="rect">
                <a:avLst/>
              </a:prstGeom>
              <a:blipFill>
                <a:blip r:embed="rId5"/>
                <a:stretch>
                  <a:fillRect t="-2479" b="-5785"/>
                </a:stretch>
              </a:blipFill>
            </p:spPr>
            <p:txBody>
              <a:bodyPr/>
              <a:lstStyle/>
              <a:p>
                <a:r>
                  <a:rPr lang="es-ES">
                    <a:noFill/>
                  </a:rPr>
                  <a:t> </a:t>
                </a:r>
              </a:p>
            </p:txBody>
          </p:sp>
        </mc:Fallback>
      </mc:AlternateContent>
      <p:pic>
        <p:nvPicPr>
          <p:cNvPr id="7" name="Imagen 6">
            <a:extLst>
              <a:ext uri="{FF2B5EF4-FFF2-40B4-BE49-F238E27FC236}">
                <a16:creationId xmlns:a16="http://schemas.microsoft.com/office/drawing/2014/main" id="{9FC82E3C-4C5C-707F-F65C-0DD50EE74889}"/>
              </a:ext>
            </a:extLst>
          </p:cNvPr>
          <p:cNvPicPr>
            <a:picLocks noChangeAspect="1"/>
          </p:cNvPicPr>
          <p:nvPr/>
        </p:nvPicPr>
        <p:blipFill>
          <a:blip r:embed="rId6"/>
          <a:stretch>
            <a:fillRect/>
          </a:stretch>
        </p:blipFill>
        <p:spPr>
          <a:xfrm>
            <a:off x="489652" y="1851090"/>
            <a:ext cx="5269827" cy="3235858"/>
          </a:xfrm>
          <a:prstGeom prst="rect">
            <a:avLst/>
          </a:prstGeom>
        </p:spPr>
      </p:pic>
      <p:pic>
        <p:nvPicPr>
          <p:cNvPr id="11" name="Imagen 10">
            <a:extLst>
              <a:ext uri="{FF2B5EF4-FFF2-40B4-BE49-F238E27FC236}">
                <a16:creationId xmlns:a16="http://schemas.microsoft.com/office/drawing/2014/main" id="{11BAB563-44C9-72A5-C01F-E20A35B08EF1}"/>
              </a:ext>
            </a:extLst>
          </p:cNvPr>
          <p:cNvPicPr>
            <a:picLocks noChangeAspect="1"/>
          </p:cNvPicPr>
          <p:nvPr/>
        </p:nvPicPr>
        <p:blipFill>
          <a:blip r:embed="rId7"/>
          <a:stretch>
            <a:fillRect/>
          </a:stretch>
        </p:blipFill>
        <p:spPr>
          <a:xfrm>
            <a:off x="6244867" y="1869393"/>
            <a:ext cx="5209714" cy="3197629"/>
          </a:xfrm>
          <a:prstGeom prst="rect">
            <a:avLst/>
          </a:prstGeom>
        </p:spPr>
      </p:pic>
    </p:spTree>
    <p:extLst>
      <p:ext uri="{BB962C8B-B14F-4D97-AF65-F5344CB8AC3E}">
        <p14:creationId xmlns:p14="http://schemas.microsoft.com/office/powerpoint/2010/main" val="5335664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D97FF6-20C6-306B-392F-B30B36DB5F7B}"/>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BB5050EA-EA18-1061-9B65-D0E99195CE61}"/>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 – Parallel uncoupled waveguides – TE0 mode</a:t>
            </a:r>
            <a:br>
              <a:rPr lang="en-US" sz="2500" spc="-5" dirty="0">
                <a:latin typeface="+mj-lt"/>
                <a:cs typeface="Lucida Sans"/>
              </a:rPr>
            </a:br>
            <a:r>
              <a:rPr lang="en-US" b="0" dirty="0"/>
              <a:t>Wavelength 1.55 µm, width 1.0 µm, gap to be found for uncoupled </a:t>
            </a:r>
            <a:r>
              <a:rPr lang="en-US" b="0" dirty="0" err="1"/>
              <a:t>wvgs</a:t>
            </a:r>
            <a:endParaRPr lang="en-US" sz="2500" b="0" dirty="0">
              <a:latin typeface="+mj-lt"/>
              <a:cs typeface="Lucida Sans"/>
            </a:endParaRPr>
          </a:p>
        </p:txBody>
      </p:sp>
      <p:pic>
        <p:nvPicPr>
          <p:cNvPr id="83" name="Gráfico 82">
            <a:extLst>
              <a:ext uri="{FF2B5EF4-FFF2-40B4-BE49-F238E27FC236}">
                <a16:creationId xmlns:a16="http://schemas.microsoft.com/office/drawing/2014/main" id="{21F9B4C1-11FA-A69E-044B-6B05A03AACB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20F23B6-7ACA-9E95-81F4-FA1B2D3F0375}"/>
              </a:ext>
            </a:extLst>
          </p:cNvPr>
          <p:cNvSpPr>
            <a:spLocks noGrp="1"/>
          </p:cNvSpPr>
          <p:nvPr>
            <p:ph type="sldNum" sz="quarter" idx="7"/>
          </p:nvPr>
        </p:nvSpPr>
        <p:spPr/>
        <p:txBody>
          <a:bodyPr/>
          <a:lstStyle/>
          <a:p>
            <a:fld id="{B6F15528-21DE-4FAA-801E-634DDDAF4B2B}" type="slidenum">
              <a:rPr lang="es-ES" smtClean="0"/>
              <a:t>12</a:t>
            </a:fld>
            <a:endParaRPr lang="es-ES"/>
          </a:p>
        </p:txBody>
      </p:sp>
      <p:sp>
        <p:nvSpPr>
          <p:cNvPr id="3" name="Marcador de pie de página 2">
            <a:extLst>
              <a:ext uri="{FF2B5EF4-FFF2-40B4-BE49-F238E27FC236}">
                <a16:creationId xmlns:a16="http://schemas.microsoft.com/office/drawing/2014/main" id="{6A1A25F9-9773-2BBB-FDC4-1095A5EF7040}"/>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220BAC5F-CBE4-F51D-1942-89C991D6883E}"/>
                  </a:ext>
                </a:extLst>
              </p:cNvPr>
              <p:cNvSpPr txBox="1"/>
              <p:nvPr/>
            </p:nvSpPr>
            <p:spPr>
              <a:xfrm>
                <a:off x="381000" y="1752600"/>
                <a:ext cx="11430000" cy="3170099"/>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Hints:</a:t>
                </a:r>
              </a:p>
              <a:p>
                <a:pPr algn="just"/>
                <a:r>
                  <a:rPr lang="en-US" sz="1200" b="1" i="1" dirty="0">
                    <a:latin typeface="Arial" panose="020B0604020202020204" pitchFamily="34" charset="0"/>
                    <a:cs typeface="Arial" panose="020B0604020202020204" pitchFamily="34" charset="0"/>
                  </a:rPr>
                  <a:t>All waveguides running in parallel are coupled somehow. Controlling the degree of coupling is key for those waveguides you don’t want coupling over certain level (i.e. uncoupled waveguides). Uncoupled waveguide definition, we will use K&lt;0.01. Parallel waveguide length = 10 mm (typical length of a chip). Find minimum gap shallow / deep w=1.0µm </a:t>
                </a:r>
                <a:r>
                  <a:rPr lang="en-US" sz="1200" b="1" i="1" dirty="0" err="1">
                    <a:latin typeface="Arial" panose="020B0604020202020204" pitchFamily="34" charset="0"/>
                    <a:cs typeface="Arial" panose="020B0604020202020204" pitchFamily="34" charset="0"/>
                  </a:rPr>
                  <a:t>wvl</a:t>
                </a:r>
                <a:r>
                  <a:rPr lang="en-US" sz="1200" b="1" i="1" dirty="0">
                    <a:latin typeface="Arial" panose="020B0604020202020204" pitchFamily="34" charset="0"/>
                    <a:cs typeface="Arial" panose="020B0604020202020204" pitchFamily="34" charset="0"/>
                  </a:rPr>
                  <a:t> 1.55 µm.</a:t>
                </a:r>
              </a:p>
              <a:p>
                <a:pPr algn="just"/>
                <a:endParaRPr lang="en-US" sz="1000" b="1"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Para </a:t>
                </a:r>
                <a:r>
                  <a:rPr lang="en-US" sz="1000" dirty="0" err="1">
                    <a:latin typeface="Arial" panose="020B0604020202020204" pitchFamily="34" charset="0"/>
                    <a:cs typeface="Arial" panose="020B0604020202020204" pitchFamily="34" charset="0"/>
                  </a:rPr>
                  <a:t>este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ejercicio</a:t>
                </a:r>
                <a:r>
                  <a:rPr lang="en-US" sz="1000" dirty="0">
                    <a:latin typeface="Arial" panose="020B0604020202020204" pitchFamily="34" charset="0"/>
                    <a:cs typeface="Arial" panose="020B0604020202020204" pitchFamily="34" charset="0"/>
                  </a:rPr>
                  <a:t>, se ha </a:t>
                </a:r>
                <a:r>
                  <a:rPr lang="en-US" sz="1000" dirty="0" err="1">
                    <a:latin typeface="Arial" panose="020B0604020202020204" pitchFamily="34" charset="0"/>
                    <a:cs typeface="Arial" panose="020B0604020202020204" pitchFamily="34" charset="0"/>
                  </a:rPr>
                  <a:t>calculado</a:t>
                </a:r>
                <a:r>
                  <a:rPr lang="en-US" sz="1000" dirty="0">
                    <a:latin typeface="Arial" panose="020B0604020202020204" pitchFamily="34" charset="0"/>
                    <a:cs typeface="Arial" panose="020B0604020202020204" pitchFamily="34" charset="0"/>
                  </a:rPr>
                  <a:t> la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𝐿</m:t>
                        </m:r>
                      </m:e>
                      <m:sub>
                        <m:r>
                          <a:rPr lang="ar-AE" sz="1000" i="1">
                            <a:latin typeface="Cambria Math" panose="02040503050406030204" pitchFamily="18" charset="0"/>
                          </a:rPr>
                          <m:t>𝜋</m:t>
                        </m:r>
                      </m:sub>
                    </m:sSub>
                  </m:oMath>
                </a14:m>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teórica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necesaria</a:t>
                </a:r>
                <a:r>
                  <a:rPr lang="en-US" sz="1000" dirty="0">
                    <a:latin typeface="Arial" panose="020B0604020202020204" pitchFamily="34" charset="0"/>
                    <a:cs typeface="Arial" panose="020B0604020202020204" pitchFamily="34" charset="0"/>
                  </a:rPr>
                  <a:t> para </a:t>
                </a:r>
                <a:r>
                  <a:rPr lang="en-US" sz="1000" dirty="0" err="1">
                    <a:latin typeface="Arial" panose="020B0604020202020204" pitchFamily="34" charset="0"/>
                    <a:cs typeface="Arial" panose="020B0604020202020204" pitchFamily="34" charset="0"/>
                  </a:rPr>
                  <a:t>conseguir</a:t>
                </a:r>
                <a:r>
                  <a:rPr lang="en-US" sz="1000" dirty="0">
                    <a:latin typeface="Arial" panose="020B0604020202020204" pitchFamily="34" charset="0"/>
                    <a:cs typeface="Arial" panose="020B0604020202020204" pitchFamily="34" charset="0"/>
                  </a:rPr>
                  <a:t> un </a:t>
                </a:r>
                <a:r>
                  <a:rPr lang="en-US" sz="1000" dirty="0" err="1">
                    <a:latin typeface="Arial" panose="020B0604020202020204" pitchFamily="34" charset="0"/>
                    <a:cs typeface="Arial" panose="020B0604020202020204" pitchFamily="34" charset="0"/>
                  </a:rPr>
                  <a:t>coeficiente</a:t>
                </a:r>
                <a:r>
                  <a:rPr lang="en-US" sz="1000" dirty="0">
                    <a:latin typeface="Arial" panose="020B0604020202020204" pitchFamily="34" charset="0"/>
                    <a:cs typeface="Arial" panose="020B0604020202020204" pitchFamily="34" charset="0"/>
                  </a:rPr>
                  <a:t> de </a:t>
                </a:r>
                <a:r>
                  <a:rPr lang="en-US" sz="1000" dirty="0" err="1">
                    <a:latin typeface="Arial" panose="020B0604020202020204" pitchFamily="34" charset="0"/>
                    <a:cs typeface="Arial" panose="020B0604020202020204" pitchFamily="34" charset="0"/>
                  </a:rPr>
                  <a:t>acoplo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menor</a:t>
                </a:r>
                <a:r>
                  <a:rPr lang="en-US" sz="1000" dirty="0">
                    <a:latin typeface="Arial" panose="020B0604020202020204" pitchFamily="34" charset="0"/>
                    <a:cs typeface="Arial" panose="020B0604020202020204" pitchFamily="34" charset="0"/>
                  </a:rPr>
                  <a:t> a 0.01, y para </a:t>
                </a:r>
                <a:r>
                  <a:rPr lang="en-US" sz="1000" dirty="0" err="1">
                    <a:latin typeface="Arial" panose="020B0604020202020204" pitchFamily="34" charset="0"/>
                    <a:cs typeface="Arial" panose="020B0604020202020204" pitchFamily="34" charset="0"/>
                  </a:rPr>
                  <a:t>una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longitud</a:t>
                </a:r>
                <a:r>
                  <a:rPr lang="en-US" sz="1000" dirty="0">
                    <a:latin typeface="Arial" panose="020B0604020202020204" pitchFamily="34" charset="0"/>
                    <a:cs typeface="Arial" panose="020B0604020202020204" pitchFamily="34" charset="0"/>
                  </a:rPr>
                  <a:t> del </a:t>
                </a:r>
                <a:r>
                  <a:rPr lang="en-US" sz="1000" dirty="0" err="1">
                    <a:latin typeface="Arial" panose="020B0604020202020204" pitchFamily="34" charset="0"/>
                    <a:cs typeface="Arial" panose="020B0604020202020204" pitchFamily="34" charset="0"/>
                  </a:rPr>
                  <a:t>dispositivo</a:t>
                </a:r>
                <a:r>
                  <a:rPr lang="en-US" sz="1000" dirty="0">
                    <a:latin typeface="Arial" panose="020B0604020202020204" pitchFamily="34" charset="0"/>
                    <a:cs typeface="Arial" panose="020B0604020202020204" pitchFamily="34" charset="0"/>
                  </a:rPr>
                  <a:t> de 10 mm, </a:t>
                </a:r>
                <a:r>
                  <a:rPr lang="en-US" sz="1000" dirty="0" err="1">
                    <a:latin typeface="Arial" panose="020B0604020202020204" pitchFamily="34" charset="0"/>
                    <a:cs typeface="Arial" panose="020B0604020202020204" pitchFamily="34" charset="0"/>
                  </a:rPr>
                  <a:t>consiguiendo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una</a:t>
                </a:r>
                <a:r>
                  <a:rPr lang="en-US" sz="1000" dirty="0">
                    <a:latin typeface="Arial" panose="020B0604020202020204" pitchFamily="34" charset="0"/>
                    <a:cs typeface="Arial" panose="020B0604020202020204" pitchFamily="34" charset="0"/>
                  </a:rPr>
                  <a:t>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𝐿</m:t>
                        </m:r>
                      </m:e>
                      <m:sub>
                        <m:r>
                          <a:rPr lang="ar-AE" sz="1000" i="1">
                            <a:latin typeface="Cambria Math" panose="02040503050406030204" pitchFamily="18" charset="0"/>
                          </a:rPr>
                          <m:t>𝜋</m:t>
                        </m:r>
                      </m:sub>
                    </m:sSub>
                  </m:oMath>
                </a14:m>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resultante</a:t>
                </a:r>
                <a:r>
                  <a:rPr lang="en-US" sz="1000" dirty="0">
                    <a:latin typeface="Arial" panose="020B0604020202020204" pitchFamily="34" charset="0"/>
                    <a:cs typeface="Arial" panose="020B0604020202020204" pitchFamily="34" charset="0"/>
                  </a:rPr>
                  <a:t> de </a:t>
                </a:r>
                <a:r>
                  <a:rPr lang="es-ES" sz="1000" dirty="0">
                    <a:latin typeface="Arial" panose="020B0604020202020204" pitchFamily="34" charset="0"/>
                    <a:cs typeface="Arial" panose="020B0604020202020204" pitchFamily="34" charset="0"/>
                  </a:rPr>
                  <a:t>156.81 mm</a:t>
                </a:r>
                <a:r>
                  <a:rPr lang="en-US"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Este criterio significa que menos del 1% de la potencia se transfiere a la otra guía, por lo que las guías pueden considerarse desacopladas. </a:t>
                </a:r>
              </a:p>
              <a:p>
                <a:pPr algn="just"/>
                <a:endParaRPr lang="en-US" sz="1000" dirty="0">
                  <a:latin typeface="Arial" panose="020B0604020202020204" pitchFamily="34" charset="0"/>
                  <a:cs typeface="Arial" panose="020B0604020202020204" pitchFamily="34" charset="0"/>
                </a:endParaRPr>
              </a:p>
              <a:p>
                <a:pPr algn="just"/>
                <a:r>
                  <a:rPr lang="en-US" sz="1000" dirty="0" err="1">
                    <a:latin typeface="Arial" panose="020B0604020202020204" pitchFamily="34" charset="0"/>
                    <a:cs typeface="Arial" panose="020B0604020202020204" pitchFamily="34" charset="0"/>
                  </a:rPr>
                  <a:t>Posteriormente</a:t>
                </a:r>
                <a:r>
                  <a:rPr lang="en-US" sz="1000" dirty="0">
                    <a:latin typeface="Arial" panose="020B0604020202020204" pitchFamily="34" charset="0"/>
                    <a:cs typeface="Arial" panose="020B0604020202020204" pitchFamily="34" charset="0"/>
                  </a:rPr>
                  <a:t>, para la </a:t>
                </a:r>
                <a:r>
                  <a:rPr lang="en-US" sz="1000" dirty="0" err="1">
                    <a:latin typeface="Arial" panose="020B0604020202020204" pitchFamily="34" charset="0"/>
                    <a:cs typeface="Arial" panose="020B0604020202020204" pitchFamily="34" charset="0"/>
                  </a:rPr>
                  <a:t>guía</a:t>
                </a:r>
                <a:r>
                  <a:rPr lang="en-US" sz="1000" dirty="0">
                    <a:latin typeface="Arial" panose="020B0604020202020204" pitchFamily="34" charset="0"/>
                    <a:cs typeface="Arial" panose="020B0604020202020204" pitchFamily="34" charset="0"/>
                  </a:rPr>
                  <a:t> deep se ha </a:t>
                </a:r>
                <a:r>
                  <a:rPr lang="en-US" sz="1000" dirty="0" err="1">
                    <a:latin typeface="Arial" panose="020B0604020202020204" pitchFamily="34" charset="0"/>
                    <a:cs typeface="Arial" panose="020B0604020202020204" pitchFamily="34" charset="0"/>
                  </a:rPr>
                  <a:t>llevado</a:t>
                </a:r>
                <a:r>
                  <a:rPr lang="en-US" sz="1000" dirty="0">
                    <a:latin typeface="Arial" panose="020B0604020202020204" pitchFamily="34" charset="0"/>
                    <a:cs typeface="Arial" panose="020B0604020202020204" pitchFamily="34" charset="0"/>
                  </a:rPr>
                  <a:t> a </a:t>
                </a:r>
                <a:r>
                  <a:rPr lang="en-US" sz="1000" dirty="0" err="1">
                    <a:latin typeface="Arial" panose="020B0604020202020204" pitchFamily="34" charset="0"/>
                    <a:cs typeface="Arial" panose="020B0604020202020204" pitchFamily="34" charset="0"/>
                  </a:rPr>
                  <a:t>cabo</a:t>
                </a:r>
                <a:r>
                  <a:rPr lang="en-US" sz="1000" dirty="0">
                    <a:latin typeface="Arial" panose="020B0604020202020204" pitchFamily="34" charset="0"/>
                    <a:cs typeface="Arial" panose="020B0604020202020204" pitchFamily="34" charset="0"/>
                  </a:rPr>
                  <a:t> un </a:t>
                </a:r>
                <a:r>
                  <a:rPr lang="en-US" sz="1000" dirty="0" err="1">
                    <a:latin typeface="Arial" panose="020B0604020202020204" pitchFamily="34" charset="0"/>
                    <a:cs typeface="Arial" panose="020B0604020202020204" pitchFamily="34" charset="0"/>
                  </a:rPr>
                  <a:t>barrido</a:t>
                </a:r>
                <a:r>
                  <a:rPr lang="en-US" sz="1000" dirty="0">
                    <a:latin typeface="Arial" panose="020B0604020202020204" pitchFamily="34" charset="0"/>
                    <a:cs typeface="Arial" panose="020B0604020202020204" pitchFamily="34" charset="0"/>
                  </a:rPr>
                  <a:t> del gap con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objetivo</a:t>
                </a:r>
                <a:r>
                  <a:rPr lang="en-US" sz="1000" dirty="0">
                    <a:latin typeface="Arial" panose="020B0604020202020204" pitchFamily="34" charset="0"/>
                    <a:cs typeface="Arial" panose="020B0604020202020204" pitchFamily="34" charset="0"/>
                  </a:rPr>
                  <a:t> de </a:t>
                </a:r>
                <a:r>
                  <a:rPr lang="es-ES" sz="1000" dirty="0">
                    <a:latin typeface="Arial" panose="020B0604020202020204" pitchFamily="34" charset="0"/>
                    <a:cs typeface="Arial" panose="020B0604020202020204" pitchFamily="34" charset="0"/>
                  </a:rPr>
                  <a:t>encontrar la separación mínima entre guías que permite alcanzar dicha </a:t>
                </a:r>
                <a14:m>
                  <m:oMath xmlns:m="http://schemas.openxmlformats.org/officeDocument/2006/math">
                    <m:sSub>
                      <m:sSubPr>
                        <m:ctrlPr>
                          <a:rPr lang="ar-AE" sz="1000" i="1">
                            <a:latin typeface="Cambria Math" panose="02040503050406030204" pitchFamily="18" charset="0"/>
                          </a:rPr>
                        </m:ctrlPr>
                      </m:sSubPr>
                      <m:e>
                        <m:r>
                          <a:rPr lang="ar-AE" sz="1000" b="0" i="1" smtClean="0">
                            <a:latin typeface="Cambria Math" panose="02040503050406030204" pitchFamily="18" charset="0"/>
                          </a:rPr>
                          <m:t>𝐿</m:t>
                        </m:r>
                      </m:e>
                      <m:sub>
                        <m:r>
                          <a:rPr lang="ar-AE" sz="1000" b="0" i="1" smtClean="0">
                            <a:latin typeface="Cambria Math" panose="02040503050406030204" pitchFamily="18" charset="0"/>
                          </a:rPr>
                          <m:t>𝜋</m:t>
                        </m:r>
                      </m:sub>
                    </m:sSub>
                  </m:oMath>
                </a14:m>
                <a:r>
                  <a:rPr lang="es-ES" sz="1000" dirty="0">
                    <a:latin typeface="Arial" panose="020B0604020202020204" pitchFamily="34" charset="0"/>
                    <a:cs typeface="Arial" panose="020B0604020202020204" pitchFamily="34" charset="0"/>
                  </a:rPr>
                  <a:t> teórica</a:t>
                </a:r>
                <a:r>
                  <a:rPr lang="en-US"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En este caso, se obtiene un gap mínimo de 3.39 µm, con una </a:t>
                </a:r>
                <a14:m>
                  <m:oMath xmlns:m="http://schemas.openxmlformats.org/officeDocument/2006/math">
                    <m:sSub>
                      <m:sSubPr>
                        <m:ctrlPr>
                          <a:rPr lang="ar-AE" sz="1000" i="1">
                            <a:latin typeface="Cambria Math" panose="02040503050406030204" pitchFamily="18" charset="0"/>
                          </a:rPr>
                        </m:ctrlPr>
                      </m:sSubPr>
                      <m:e>
                        <m:r>
                          <a:rPr lang="ar-AE" sz="1000" b="0" i="1" smtClean="0">
                            <a:latin typeface="Cambria Math" panose="02040503050406030204" pitchFamily="18" charset="0"/>
                          </a:rPr>
                          <m:t>𝐿</m:t>
                        </m:r>
                      </m:e>
                      <m:sub>
                        <m:r>
                          <a:rPr lang="ar-AE" sz="1000" b="0" i="1" smtClean="0">
                            <a:latin typeface="Cambria Math" panose="02040503050406030204" pitchFamily="18" charset="0"/>
                          </a:rPr>
                          <m:t>𝜋</m:t>
                        </m:r>
                      </m:sub>
                    </m:sSub>
                  </m:oMath>
                </a14:m>
                <a:r>
                  <a:rPr lang="es-ES" sz="1000" dirty="0">
                    <a:latin typeface="Arial" panose="020B0604020202020204" pitchFamily="34" charset="0"/>
                    <a:cs typeface="Arial" panose="020B0604020202020204" pitchFamily="34" charset="0"/>
                  </a:rPr>
                  <a:t> simulada de 156.91 </a:t>
                </a:r>
                <a:r>
                  <a:rPr lang="es-ES" sz="1000" dirty="0" err="1">
                    <a:latin typeface="Arial" panose="020B0604020202020204" pitchFamily="34" charset="0"/>
                    <a:cs typeface="Arial" panose="020B0604020202020204" pitchFamily="34" charset="0"/>
                  </a:rPr>
                  <a:t>mm.</a:t>
                </a:r>
                <a:r>
                  <a:rPr lang="es-ES" sz="1000" dirty="0">
                    <a:latin typeface="Arial" panose="020B0604020202020204" pitchFamily="34" charset="0"/>
                    <a:cs typeface="Arial" panose="020B0604020202020204" pitchFamily="34" charset="0"/>
                  </a:rPr>
                  <a:t> Por tanto, a partir de este gap, el acoplo entre guías es suficientemente bajo para considerar que están desacopladas en una longitud de 10 </a:t>
                </a:r>
                <a:r>
                  <a:rPr lang="es-ES" sz="1000" dirty="0" err="1">
                    <a:latin typeface="Arial" panose="020B0604020202020204" pitchFamily="34" charset="0"/>
                    <a:cs typeface="Arial" panose="020B0604020202020204" pitchFamily="34" charset="0"/>
                  </a:rPr>
                  <a:t>mm.</a:t>
                </a:r>
                <a:endParaRPr lang="es-ES" sz="1000" dirty="0">
                  <a:latin typeface="Arial" panose="020B0604020202020204" pitchFamily="34" charset="0"/>
                  <a:cs typeface="Arial" panose="020B0604020202020204" pitchFamily="34" charset="0"/>
                </a:endParaRPr>
              </a:p>
              <a:p>
                <a:pPr algn="just"/>
                <a:endParaRPr lang="en-US" sz="1000"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Se ha </a:t>
                </a:r>
                <a:r>
                  <a:rPr lang="en-US" sz="1000" dirty="0" err="1">
                    <a:latin typeface="Arial" panose="020B0604020202020204" pitchFamily="34" charset="0"/>
                    <a:cs typeface="Arial" panose="020B0604020202020204" pitchFamily="34" charset="0"/>
                  </a:rPr>
                  <a:t>realizado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mismo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procedimiento</a:t>
                </a:r>
                <a:r>
                  <a:rPr lang="en-US" sz="1000" dirty="0">
                    <a:latin typeface="Arial" panose="020B0604020202020204" pitchFamily="34" charset="0"/>
                    <a:cs typeface="Arial" panose="020B0604020202020204" pitchFamily="34" charset="0"/>
                  </a:rPr>
                  <a:t> para la </a:t>
                </a:r>
                <a:r>
                  <a:rPr lang="en-US" sz="1000" dirty="0" err="1">
                    <a:latin typeface="Arial" panose="020B0604020202020204" pitchFamily="34" charset="0"/>
                    <a:cs typeface="Arial" panose="020B0604020202020204" pitchFamily="34" charset="0"/>
                  </a:rPr>
                  <a:t>guía</a:t>
                </a:r>
                <a:r>
                  <a:rPr lang="en-US" sz="1000" dirty="0">
                    <a:latin typeface="Arial" panose="020B0604020202020204" pitchFamily="34" charset="0"/>
                    <a:cs typeface="Arial" panose="020B0604020202020204" pitchFamily="34" charset="0"/>
                  </a:rPr>
                  <a:t> shallow y </a:t>
                </a:r>
                <a:r>
                  <a:rPr lang="en-US" sz="1000" dirty="0" err="1">
                    <a:latin typeface="Arial" panose="020B0604020202020204" pitchFamily="34" charset="0"/>
                    <a:cs typeface="Arial" panose="020B0604020202020204" pitchFamily="34" charset="0"/>
                  </a:rPr>
                  <a:t>definiendo</a:t>
                </a:r>
                <a:r>
                  <a:rPr lang="en-US" sz="1000" dirty="0">
                    <a:latin typeface="Arial" panose="020B0604020202020204" pitchFamily="34" charset="0"/>
                    <a:cs typeface="Arial" panose="020B0604020202020204" pitchFamily="34" charset="0"/>
                  </a:rPr>
                  <a:t> un slab de 150 nm. </a:t>
                </a:r>
                <a:r>
                  <a:rPr lang="es-ES" sz="1000" dirty="0">
                    <a:latin typeface="Arial" panose="020B0604020202020204" pitchFamily="34" charset="0"/>
                    <a:cs typeface="Arial" panose="020B0604020202020204" pitchFamily="34" charset="0"/>
                  </a:rPr>
                  <a:t>En este caso, el gap mínimo obtenido es mayor, de 4.49 µm, con una </a:t>
                </a:r>
                <a14:m>
                  <m:oMath xmlns:m="http://schemas.openxmlformats.org/officeDocument/2006/math">
                    <m:sSub>
                      <m:sSubPr>
                        <m:ctrlPr>
                          <a:rPr lang="ar-AE" sz="1000" i="1">
                            <a:latin typeface="Cambria Math" panose="02040503050406030204" pitchFamily="18" charset="0"/>
                          </a:rPr>
                        </m:ctrlPr>
                      </m:sSubPr>
                      <m:e>
                        <m:r>
                          <a:rPr lang="ar-AE" sz="1000" b="0" i="1" smtClean="0">
                            <a:latin typeface="Cambria Math" panose="02040503050406030204" pitchFamily="18" charset="0"/>
                          </a:rPr>
                          <m:t>𝐿</m:t>
                        </m:r>
                      </m:e>
                      <m:sub>
                        <m:r>
                          <a:rPr lang="ar-AE" sz="1000" b="0" i="1" smtClean="0">
                            <a:latin typeface="Cambria Math" panose="02040503050406030204" pitchFamily="18" charset="0"/>
                          </a:rPr>
                          <m:t>𝜋</m:t>
                        </m:r>
                      </m:sub>
                    </m:sSub>
                  </m:oMath>
                </a14:m>
                <a:r>
                  <a:rPr lang="es-ES" sz="1000" dirty="0">
                    <a:latin typeface="Arial" panose="020B0604020202020204" pitchFamily="34" charset="0"/>
                    <a:cs typeface="Arial" panose="020B0604020202020204" pitchFamily="34" charset="0"/>
                  </a:rPr>
                  <a:t> simulada de 179.37 </a:t>
                </a:r>
                <a:r>
                  <a:rPr lang="es-ES" sz="1000" dirty="0" err="1">
                    <a:latin typeface="Arial" panose="020B0604020202020204" pitchFamily="34" charset="0"/>
                    <a:cs typeface="Arial" panose="020B0604020202020204" pitchFamily="34" charset="0"/>
                  </a:rPr>
                  <a:t>mm.</a:t>
                </a:r>
                <a:r>
                  <a:rPr lang="es-ES" sz="1000" dirty="0">
                    <a:latin typeface="Arial" panose="020B0604020202020204" pitchFamily="34" charset="0"/>
                    <a:cs typeface="Arial" panose="020B0604020202020204" pitchFamily="34" charset="0"/>
                  </a:rPr>
                  <a:t> Esto ocurre porque en una guía </a:t>
                </a:r>
                <a:r>
                  <a:rPr lang="es-ES" sz="1000" dirty="0" err="1">
                    <a:latin typeface="Arial" panose="020B0604020202020204" pitchFamily="34" charset="0"/>
                    <a:cs typeface="Arial" panose="020B0604020202020204" pitchFamily="34" charset="0"/>
                  </a:rPr>
                  <a:t>shallow</a:t>
                </a:r>
                <a:r>
                  <a:rPr lang="es-ES" sz="1000" dirty="0">
                    <a:latin typeface="Arial" panose="020B0604020202020204" pitchFamily="34" charset="0"/>
                    <a:cs typeface="Arial" panose="020B0604020202020204" pitchFamily="34" charset="0"/>
                  </a:rPr>
                  <a:t> el campo óptico está menos confinado y se extiende más por el </a:t>
                </a:r>
                <a:r>
                  <a:rPr lang="es-ES" sz="1000" dirty="0" err="1">
                    <a:latin typeface="Arial" panose="020B0604020202020204" pitchFamily="34" charset="0"/>
                    <a:cs typeface="Arial" panose="020B0604020202020204" pitchFamily="34" charset="0"/>
                  </a:rPr>
                  <a:t>slab</a:t>
                </a:r>
                <a:r>
                  <a:rPr lang="es-ES" sz="1000" dirty="0">
                    <a:latin typeface="Arial" panose="020B0604020202020204" pitchFamily="34" charset="0"/>
                    <a:cs typeface="Arial" panose="020B0604020202020204" pitchFamily="34" charset="0"/>
                  </a:rPr>
                  <a:t>, aumentando el solapamiento con la guía vecina. Por tanto, se necesita una separación mayor para reducir el acoplo hasta </a:t>
                </a:r>
                <a14:m>
                  <m:oMath xmlns:m="http://schemas.openxmlformats.org/officeDocument/2006/math">
                    <m:r>
                      <a:rPr lang="es-ES" sz="1000" b="0" i="1" smtClean="0">
                        <a:latin typeface="Cambria Math" panose="02040503050406030204" pitchFamily="18" charset="0"/>
                      </a:rPr>
                      <m:t>𝐾</m:t>
                    </m:r>
                    <m:r>
                      <a:rPr lang="es-ES" sz="1000" b="0" smtClean="0">
                        <a:latin typeface="Cambria Math" panose="02040503050406030204" pitchFamily="18" charset="0"/>
                      </a:rPr>
                      <m:t>&lt;</m:t>
                    </m:r>
                    <m:r>
                      <a:rPr lang="es-ES" sz="1000" b="0" i="1" smtClean="0">
                        <a:latin typeface="Cambria Math" panose="02040503050406030204" pitchFamily="18" charset="0"/>
                      </a:rPr>
                      <m:t>0</m:t>
                    </m:r>
                    <m:r>
                      <a:rPr lang="es-ES" sz="1000" b="0" smtClean="0">
                        <a:latin typeface="Cambria Math" panose="02040503050406030204" pitchFamily="18" charset="0"/>
                      </a:rPr>
                      <m:t>.</m:t>
                    </m:r>
                    <m:r>
                      <a:rPr lang="es-ES" sz="1000" b="0" i="1" smtClean="0">
                        <a:latin typeface="Cambria Math" panose="02040503050406030204" pitchFamily="18" charset="0"/>
                      </a:rPr>
                      <m:t>01</m:t>
                    </m:r>
                  </m:oMath>
                </a14:m>
                <a:r>
                  <a:rPr lang="es-ES" sz="1000" dirty="0">
                    <a:latin typeface="Arial" panose="020B0604020202020204" pitchFamily="34" charset="0"/>
                    <a:cs typeface="Arial" panose="020B0604020202020204" pitchFamily="34" charset="0"/>
                  </a:rPr>
                  <a:t>.</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resumen, la guía </a:t>
                </a:r>
                <a:r>
                  <a:rPr lang="es-ES" sz="1000" dirty="0" err="1">
                    <a:latin typeface="Arial" panose="020B0604020202020204" pitchFamily="34" charset="0"/>
                    <a:cs typeface="Arial" panose="020B0604020202020204" pitchFamily="34" charset="0"/>
                  </a:rPr>
                  <a:t>deep</a:t>
                </a:r>
                <a:r>
                  <a:rPr lang="es-ES" sz="1000" dirty="0">
                    <a:latin typeface="Arial" panose="020B0604020202020204" pitchFamily="34" charset="0"/>
                    <a:cs typeface="Arial" panose="020B0604020202020204" pitchFamily="34" charset="0"/>
                  </a:rPr>
                  <a:t> permite usar un gap menor porque el modo está más confinado en el núcleo, mientras que la guía </a:t>
                </a:r>
                <a:r>
                  <a:rPr lang="es-ES" sz="1000" dirty="0" err="1">
                    <a:latin typeface="Arial" panose="020B0604020202020204" pitchFamily="34" charset="0"/>
                    <a:cs typeface="Arial" panose="020B0604020202020204" pitchFamily="34" charset="0"/>
                  </a:rPr>
                  <a:t>shallow</a:t>
                </a:r>
                <a:r>
                  <a:rPr lang="es-ES" sz="1000" dirty="0">
                    <a:latin typeface="Arial" panose="020B0604020202020204" pitchFamily="34" charset="0"/>
                    <a:cs typeface="Arial" panose="020B0604020202020204" pitchFamily="34" charset="0"/>
                  </a:rPr>
                  <a:t> requiere un gap mayor debido a que el campo se extiende más lateralmente.</a:t>
                </a:r>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220BAC5F-CBE4-F51D-1942-89C991D6883E}"/>
                  </a:ext>
                </a:extLst>
              </p:cNvPr>
              <p:cNvSpPr txBox="1">
                <a:spLocks noRot="1" noChangeAspect="1" noMove="1" noResize="1" noEditPoints="1" noAdjustHandles="1" noChangeArrowheads="1" noChangeShapeType="1" noTextEdit="1"/>
              </p:cNvSpPr>
              <p:nvPr/>
            </p:nvSpPr>
            <p:spPr>
              <a:xfrm>
                <a:off x="381000" y="1752600"/>
                <a:ext cx="11430000" cy="3170099"/>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spTree>
    <p:extLst>
      <p:ext uri="{BB962C8B-B14F-4D97-AF65-F5344CB8AC3E}">
        <p14:creationId xmlns:p14="http://schemas.microsoft.com/office/powerpoint/2010/main" val="34433391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3D4982-2E99-3EE0-CEBE-CEF54821C335}"/>
            </a:ext>
          </a:extLst>
        </p:cNvPr>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A60D29C4-F13C-8947-EF1D-2CBDDD14AC5C}"/>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28A4EFD1-1AF6-F17D-1B27-5115800F99B0}"/>
              </a:ext>
            </a:extLst>
          </p:cNvPr>
          <p:cNvSpPr>
            <a:spLocks noGrp="1"/>
          </p:cNvSpPr>
          <p:nvPr>
            <p:ph type="sldNum" sz="quarter" idx="7"/>
          </p:nvPr>
        </p:nvSpPr>
        <p:spPr/>
        <p:txBody>
          <a:bodyPr/>
          <a:lstStyle/>
          <a:p>
            <a:fld id="{B6F15528-21DE-4FAA-801E-634DDDAF4B2B}" type="slidenum">
              <a:rPr lang="es-ES" smtClean="0"/>
              <a:t>13</a:t>
            </a:fld>
            <a:endParaRPr lang="es-ES"/>
          </a:p>
        </p:txBody>
      </p:sp>
      <p:sp>
        <p:nvSpPr>
          <p:cNvPr id="6" name="Título 4">
            <a:extLst>
              <a:ext uri="{FF2B5EF4-FFF2-40B4-BE49-F238E27FC236}">
                <a16:creationId xmlns:a16="http://schemas.microsoft.com/office/drawing/2014/main" id="{8111062F-F9A0-241E-6CCB-6E8BE4D8C60A}"/>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Multimode Interferometer (MMI) Coupler</a:t>
            </a:r>
          </a:p>
        </p:txBody>
      </p:sp>
    </p:spTree>
    <p:extLst>
      <p:ext uri="{BB962C8B-B14F-4D97-AF65-F5344CB8AC3E}">
        <p14:creationId xmlns:p14="http://schemas.microsoft.com/office/powerpoint/2010/main" val="38733189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34E70-43B1-3881-1771-20FB435847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2C31CE-19F0-B995-0997-9A2D6A879BF7}"/>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 – Multimode Interference (MMI) Coupler cross-section</a:t>
            </a:r>
            <a:endParaRPr lang="en-US" sz="2500" b="0" dirty="0">
              <a:latin typeface="+mj-lt"/>
              <a:cs typeface="Lucida Sans"/>
            </a:endParaRPr>
          </a:p>
        </p:txBody>
      </p:sp>
      <p:pic>
        <p:nvPicPr>
          <p:cNvPr id="83" name="Gráfico 82">
            <a:extLst>
              <a:ext uri="{FF2B5EF4-FFF2-40B4-BE49-F238E27FC236}">
                <a16:creationId xmlns:a16="http://schemas.microsoft.com/office/drawing/2014/main" id="{D688A609-F3DC-EE34-C536-683E70F32EA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6C672C6-89D4-7E67-2B94-811D081786A7}"/>
              </a:ext>
            </a:extLst>
          </p:cNvPr>
          <p:cNvSpPr>
            <a:spLocks noGrp="1"/>
          </p:cNvSpPr>
          <p:nvPr>
            <p:ph type="sldNum" sz="quarter" idx="7"/>
          </p:nvPr>
        </p:nvSpPr>
        <p:spPr/>
        <p:txBody>
          <a:bodyPr/>
          <a:lstStyle/>
          <a:p>
            <a:fld id="{B6F15528-21DE-4FAA-801E-634DDDAF4B2B}" type="slidenum">
              <a:rPr lang="es-ES" smtClean="0"/>
              <a:t>14</a:t>
            </a:fld>
            <a:endParaRPr lang="es-ES"/>
          </a:p>
        </p:txBody>
      </p:sp>
      <p:sp>
        <p:nvSpPr>
          <p:cNvPr id="3" name="Marcador de pie de página 2">
            <a:extLst>
              <a:ext uri="{FF2B5EF4-FFF2-40B4-BE49-F238E27FC236}">
                <a16:creationId xmlns:a16="http://schemas.microsoft.com/office/drawing/2014/main" id="{AA1F4313-D710-7A3E-7A8F-EB77DEE3C1A7}"/>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D838A93A-BFC8-0124-93CE-FDC193435A0C}"/>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sz="2000" b="1" dirty="0"/>
                  <a:t>INSTRUCTOR:</a:t>
                </a:r>
              </a:p>
              <a:p>
                <a:pPr marL="342900" indent="-342900" algn="just">
                  <a:buFont typeface="Arial" panose="020B0604020202020204" pitchFamily="34" charset="0"/>
                  <a:buChar char="•"/>
                </a:pPr>
                <a:r>
                  <a:rPr lang="en-US" sz="2000" dirty="0"/>
                  <a:t>Present Python and </a:t>
                </a:r>
                <a:r>
                  <a:rPr lang="en-US" sz="2000" dirty="0" err="1"/>
                  <a:t>GDSFactory</a:t>
                </a:r>
                <a:r>
                  <a:rPr lang="en-US" sz="2000" dirty="0"/>
                  <a:t> implementation of DC cross-section</a:t>
                </a:r>
              </a:p>
              <a:p>
                <a:pPr marL="342900" indent="-342900" algn="just">
                  <a:buFont typeface="Arial" panose="020B0604020202020204" pitchFamily="34" charset="0"/>
                  <a:buChar char="•"/>
                </a:pPr>
                <a:r>
                  <a:rPr lang="en-US" sz="2000" dirty="0"/>
                  <a:t>Describe how to obtain the length </a:t>
                </a:r>
                <a14:m>
                  <m:oMath xmlns:m="http://schemas.openxmlformats.org/officeDocument/2006/math">
                    <m:sSub>
                      <m:sSubPr>
                        <m:ctrlPr>
                          <a:rPr lang="es-ES" sz="2000" b="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𝜋</m:t>
                        </m:r>
                      </m:sub>
                    </m:sSub>
                  </m:oMath>
                </a14:m>
                <a:endParaRPr lang="en-US" sz="2000" dirty="0"/>
              </a:p>
              <a:p>
                <a:pPr marL="342900" indent="-342900" algn="just">
                  <a:buFont typeface="Arial" panose="020B0604020202020204" pitchFamily="34" charset="0"/>
                  <a:buChar char="•"/>
                </a:pPr>
                <a:r>
                  <a:rPr lang="en-US" sz="2000" dirty="0"/>
                  <a:t>Describe the outputs.</a:t>
                </a:r>
              </a:p>
              <a:p>
                <a:pPr marL="0" indent="0" algn="just">
                  <a:buNone/>
                </a:pPr>
                <a:r>
                  <a:rPr lang="en-US" sz="2000" b="1" dirty="0"/>
                  <a:t>ALL EXAMPLE #2: </a:t>
                </a:r>
                <a:r>
                  <a:rPr lang="en-US" sz="2000" dirty="0"/>
                  <a:t>waveguide width 12 µm, gap between waveguides 0.6 µm, deep </a:t>
                </a:r>
                <a:r>
                  <a:rPr lang="en-US" sz="2000" dirty="0" err="1"/>
                  <a:t>wvg</a:t>
                </a:r>
                <a:r>
                  <a:rPr lang="en-US" sz="2000" dirty="0"/>
                  <a:t>, wavelength start and end same 1.55 µm </a:t>
                </a:r>
                <a:r>
                  <a:rPr lang="en-US" sz="2000" dirty="0">
                    <a:sym typeface="Wingdings" pitchFamily="2" charset="2"/>
                  </a:rPr>
                  <a:t> all ”Run”</a:t>
                </a:r>
                <a:endParaRPr lang="en-US" sz="2000" dirty="0"/>
              </a:p>
              <a:p>
                <a:pPr marL="0" indent="0" algn="just">
                  <a:buNone/>
                </a:pPr>
                <a:r>
                  <a:rPr lang="en-US" sz="2000" b="1" dirty="0"/>
                  <a:t>ALL: </a:t>
                </a:r>
                <a:r>
                  <a:rPr lang="en-US" sz="2000" dirty="0"/>
                  <a:t>Follow</a:t>
                </a:r>
                <a:r>
                  <a:rPr lang="en-US" sz="2000" b="1" dirty="0"/>
                  <a:t> </a:t>
                </a:r>
                <a:r>
                  <a:rPr lang="en-US" sz="2000" dirty="0"/>
                  <a:t>instructor, that will show how to 1) plot mode, 2) explore the results (neff …)</a:t>
                </a:r>
              </a:p>
              <a:p>
                <a:pPr algn="just"/>
                <a:endParaRPr lang="en-US" sz="2000" b="1" i="1" u="sng" dirty="0"/>
              </a:p>
              <a:p>
                <a:pPr algn="just"/>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D838A93A-BFC8-0124-93CE-FDC193435A0C}"/>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5"/>
                <a:stretch>
                  <a:fillRect l="-607" t="-738" r="-552"/>
                </a:stretch>
              </a:blipFill>
            </p:spPr>
            <p:txBody>
              <a:bodyPr/>
              <a:lstStyle/>
              <a:p>
                <a:r>
                  <a:rPr lang="es-ES">
                    <a:noFill/>
                  </a:rPr>
                  <a:t> </a:t>
                </a:r>
              </a:p>
            </p:txBody>
          </p:sp>
        </mc:Fallback>
      </mc:AlternateContent>
    </p:spTree>
    <p:extLst>
      <p:ext uri="{BB962C8B-B14F-4D97-AF65-F5344CB8AC3E}">
        <p14:creationId xmlns:p14="http://schemas.microsoft.com/office/powerpoint/2010/main" val="18024515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48D39F-8E35-E515-5985-5DC0F0DF5B30}"/>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C24E52CA-7A26-9B97-5DD9-ECAAFB80216C}"/>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 – Multimode Interference (MMI) Coupler cross-section</a:t>
            </a:r>
            <a:endParaRPr lang="en-US" sz="2500" b="0" dirty="0">
              <a:latin typeface="+mj-lt"/>
              <a:cs typeface="Lucida Sans"/>
            </a:endParaRPr>
          </a:p>
        </p:txBody>
      </p:sp>
      <p:pic>
        <p:nvPicPr>
          <p:cNvPr id="83" name="Gráfico 82">
            <a:extLst>
              <a:ext uri="{FF2B5EF4-FFF2-40B4-BE49-F238E27FC236}">
                <a16:creationId xmlns:a16="http://schemas.microsoft.com/office/drawing/2014/main" id="{D79C13F5-93F1-63B4-3EFE-3570D4635C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8140C3E3-1D24-F349-5861-CA6E338D03CE}"/>
              </a:ext>
            </a:extLst>
          </p:cNvPr>
          <p:cNvSpPr>
            <a:spLocks noGrp="1"/>
          </p:cNvSpPr>
          <p:nvPr>
            <p:ph type="sldNum" sz="quarter" idx="7"/>
          </p:nvPr>
        </p:nvSpPr>
        <p:spPr/>
        <p:txBody>
          <a:bodyPr/>
          <a:lstStyle/>
          <a:p>
            <a:fld id="{B6F15528-21DE-4FAA-801E-634DDDAF4B2B}" type="slidenum">
              <a:rPr lang="es-ES" smtClean="0"/>
              <a:t>15</a:t>
            </a:fld>
            <a:endParaRPr lang="es-ES"/>
          </a:p>
        </p:txBody>
      </p:sp>
      <p:sp>
        <p:nvSpPr>
          <p:cNvPr id="3" name="Marcador de pie de página 2">
            <a:extLst>
              <a:ext uri="{FF2B5EF4-FFF2-40B4-BE49-F238E27FC236}">
                <a16:creationId xmlns:a16="http://schemas.microsoft.com/office/drawing/2014/main" id="{01D0770C-BBA8-F3AA-5BA3-EFD9FA31CC4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Marcador de texto 2">
            <a:extLst>
              <a:ext uri="{FF2B5EF4-FFF2-40B4-BE49-F238E27FC236}">
                <a16:creationId xmlns:a16="http://schemas.microsoft.com/office/drawing/2014/main" id="{D475AF3A-324C-316C-4247-F6B699D89F62}"/>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endParaRPr lang="en-US" sz="2000" b="1" i="1" u="sng" dirty="0"/>
          </a:p>
          <a:p>
            <a:pPr algn="just"/>
            <a:endParaRPr lang="en-US" sz="2000" kern="0" dirty="0">
              <a:solidFill>
                <a:sysClr val="windowText" lastClr="000000"/>
              </a:solidFill>
            </a:endParaRPr>
          </a:p>
        </p:txBody>
      </p:sp>
      <p:pic>
        <p:nvPicPr>
          <p:cNvPr id="6" name="Imagen 5">
            <a:extLst>
              <a:ext uri="{FF2B5EF4-FFF2-40B4-BE49-F238E27FC236}">
                <a16:creationId xmlns:a16="http://schemas.microsoft.com/office/drawing/2014/main" id="{812E9FA3-F3CC-CFC8-06B6-9F7031F4DB4D}"/>
              </a:ext>
            </a:extLst>
          </p:cNvPr>
          <p:cNvPicPr>
            <a:picLocks noChangeAspect="1"/>
          </p:cNvPicPr>
          <p:nvPr/>
        </p:nvPicPr>
        <p:blipFill>
          <a:blip r:embed="rId4"/>
          <a:stretch>
            <a:fillRect/>
          </a:stretch>
        </p:blipFill>
        <p:spPr>
          <a:xfrm>
            <a:off x="990601" y="1833465"/>
            <a:ext cx="4191000" cy="2982058"/>
          </a:xfrm>
          <a:prstGeom prst="rect">
            <a:avLst/>
          </a:prstGeom>
        </p:spPr>
      </p:pic>
      <p:pic>
        <p:nvPicPr>
          <p:cNvPr id="8" name="Imagen 7">
            <a:extLst>
              <a:ext uri="{FF2B5EF4-FFF2-40B4-BE49-F238E27FC236}">
                <a16:creationId xmlns:a16="http://schemas.microsoft.com/office/drawing/2014/main" id="{A07D9B81-857E-DAD5-AE0C-10C559D262A7}"/>
              </a:ext>
            </a:extLst>
          </p:cNvPr>
          <p:cNvPicPr>
            <a:picLocks noChangeAspect="1"/>
          </p:cNvPicPr>
          <p:nvPr/>
        </p:nvPicPr>
        <p:blipFill>
          <a:blip r:embed="rId5"/>
          <a:stretch>
            <a:fillRect/>
          </a:stretch>
        </p:blipFill>
        <p:spPr>
          <a:xfrm>
            <a:off x="5791200" y="1844351"/>
            <a:ext cx="4252156" cy="2971172"/>
          </a:xfrm>
          <a:prstGeom prst="rect">
            <a:avLst/>
          </a:prstGeom>
        </p:spPr>
      </p:pic>
    </p:spTree>
    <p:extLst>
      <p:ext uri="{BB962C8B-B14F-4D97-AF65-F5344CB8AC3E}">
        <p14:creationId xmlns:p14="http://schemas.microsoft.com/office/powerpoint/2010/main" val="39577912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60DDEA-6C22-D6BE-A111-47CCB5EFDC2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E5E5BEC8-4FC6-6F66-C7A7-07628D2DB641}"/>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 – Multimode Interference (MMI) Coupler cross-section</a:t>
            </a:r>
            <a:endParaRPr lang="en-US" sz="2500" b="0" dirty="0">
              <a:latin typeface="+mj-lt"/>
              <a:cs typeface="Lucida Sans"/>
            </a:endParaRPr>
          </a:p>
        </p:txBody>
      </p:sp>
      <p:pic>
        <p:nvPicPr>
          <p:cNvPr id="83" name="Gráfico 82">
            <a:extLst>
              <a:ext uri="{FF2B5EF4-FFF2-40B4-BE49-F238E27FC236}">
                <a16:creationId xmlns:a16="http://schemas.microsoft.com/office/drawing/2014/main" id="{5E32DD65-6E81-4E67-9CA0-51358BA9926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7DF9E22-DF47-584B-513C-39932253DE6B}"/>
              </a:ext>
            </a:extLst>
          </p:cNvPr>
          <p:cNvSpPr>
            <a:spLocks noGrp="1"/>
          </p:cNvSpPr>
          <p:nvPr>
            <p:ph type="sldNum" sz="quarter" idx="7"/>
          </p:nvPr>
        </p:nvSpPr>
        <p:spPr/>
        <p:txBody>
          <a:bodyPr/>
          <a:lstStyle/>
          <a:p>
            <a:fld id="{B6F15528-21DE-4FAA-801E-634DDDAF4B2B}" type="slidenum">
              <a:rPr lang="es-ES" smtClean="0"/>
              <a:t>16</a:t>
            </a:fld>
            <a:endParaRPr lang="es-ES"/>
          </a:p>
        </p:txBody>
      </p:sp>
      <p:sp>
        <p:nvSpPr>
          <p:cNvPr id="3" name="Marcador de pie de página 2">
            <a:extLst>
              <a:ext uri="{FF2B5EF4-FFF2-40B4-BE49-F238E27FC236}">
                <a16:creationId xmlns:a16="http://schemas.microsoft.com/office/drawing/2014/main" id="{195B1817-6642-879F-1A4B-3A6150698002}"/>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Marcador de texto 2">
            <a:extLst>
              <a:ext uri="{FF2B5EF4-FFF2-40B4-BE49-F238E27FC236}">
                <a16:creationId xmlns:a16="http://schemas.microsoft.com/office/drawing/2014/main" id="{EA9E5C68-0EB3-D16B-0845-3B78FBAC58E5}"/>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endParaRPr lang="en-US" sz="2000" b="1" i="1" u="sng" dirty="0"/>
          </a:p>
          <a:p>
            <a:pPr algn="just"/>
            <a:endParaRPr lang="en-US" sz="2000" kern="0" dirty="0">
              <a:solidFill>
                <a:sysClr val="windowText" lastClr="000000"/>
              </a:solidFill>
            </a:endParaRPr>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C79C9142-6057-26BD-DF47-70CCF3F3D226}"/>
                  </a:ext>
                </a:extLst>
              </p:cNvPr>
              <p:cNvSpPr txBox="1"/>
              <p:nvPr/>
            </p:nvSpPr>
            <p:spPr>
              <a:xfrm>
                <a:off x="534989" y="1293791"/>
                <a:ext cx="11199971" cy="2631361"/>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Document all your results (neff, plot fields of different modes, comparison between different polarizations…)</a:t>
                </a:r>
              </a:p>
              <a:p>
                <a:pPr algn="just"/>
                <a:endParaRPr lang="en-US" sz="12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este apartado se ha estudiado la sección transversal del cuerpo de un acoplador MMI. A diferencia del acoplador direccional, donde había dos guías próximas, en este caso se define una única guía multimodo mucho más ancha. Concretamente, se ha usado un ancho de </a:t>
                </a:r>
                <a14:m>
                  <m:oMath xmlns:m="http://schemas.openxmlformats.org/officeDocument/2006/math">
                    <m:r>
                      <a:rPr lang="es-ES" sz="1000">
                        <a:latin typeface="Cambria Math" panose="02040503050406030204" pitchFamily="18" charset="0"/>
                      </a:rPr>
                      <m:t>12</m:t>
                    </m:r>
                    <m:r>
                      <m:rPr>
                        <m:nor/>
                      </m:rPr>
                      <a:rPr lang="es-ES" sz="1000" i="1">
                        <a:latin typeface="Arial" panose="020B0604020202020204" pitchFamily="34" charset="0"/>
                        <a:cs typeface="Arial" panose="020B0604020202020204" pitchFamily="34" charset="0"/>
                      </a:rPr>
                      <m:t> </m:t>
                    </m:r>
                    <m:r>
                      <a:rPr lang="es-ES" sz="1000" i="1">
                        <a:latin typeface="Cambria Math" panose="02040503050406030204" pitchFamily="18" charset="0"/>
                      </a:rPr>
                      <m:t>𝜇</m:t>
                    </m:r>
                    <m:r>
                      <a:rPr lang="es-ES" sz="1000" i="1">
                        <a:latin typeface="Cambria Math" panose="02040503050406030204" pitchFamily="18" charset="0"/>
                      </a:rPr>
                      <m:t>𝑚</m:t>
                    </m:r>
                  </m:oMath>
                </a14:m>
                <a:r>
                  <a:rPr lang="es-ES" sz="1000" dirty="0">
                    <a:latin typeface="Arial" panose="020B0604020202020204" pitchFamily="34" charset="0"/>
                    <a:cs typeface="Arial" panose="020B0604020202020204" pitchFamily="34" charset="0"/>
                  </a:rPr>
                  <a:t>, una altura de 300 nm y una longitud de onda de </a:t>
                </a:r>
                <a14:m>
                  <m:oMath xmlns:m="http://schemas.openxmlformats.org/officeDocument/2006/math">
                    <m:r>
                      <a:rPr lang="es-ES" sz="1000">
                        <a:latin typeface="Cambria Math" panose="02040503050406030204" pitchFamily="18" charset="0"/>
                      </a:rPr>
                      <m:t>1</m:t>
                    </m:r>
                    <m:r>
                      <a:rPr lang="es-ES" sz="1000">
                        <a:latin typeface="Cambria Math" panose="02040503050406030204" pitchFamily="18" charset="0"/>
                      </a:rPr>
                      <m:t>.</m:t>
                    </m:r>
                    <m:r>
                      <a:rPr lang="es-ES" sz="1000">
                        <a:latin typeface="Cambria Math" panose="02040503050406030204" pitchFamily="18" charset="0"/>
                      </a:rPr>
                      <m:t>55</m:t>
                    </m:r>
                    <m:r>
                      <m:rPr>
                        <m:nor/>
                      </m:rPr>
                      <a:rPr lang="es-ES" sz="1000" i="1">
                        <a:latin typeface="Arial" panose="020B0604020202020204" pitchFamily="34" charset="0"/>
                        <a:cs typeface="Arial" panose="020B0604020202020204" pitchFamily="34" charset="0"/>
                      </a:rPr>
                      <m:t> </m:t>
                    </m:r>
                    <m:r>
                      <a:rPr lang="es-ES" sz="1000" i="1">
                        <a:latin typeface="Cambria Math" panose="02040503050406030204" pitchFamily="18" charset="0"/>
                      </a:rPr>
                      <m:t>𝜇</m:t>
                    </m:r>
                    <m:r>
                      <a:rPr lang="es-ES" sz="1000" i="1">
                        <a:latin typeface="Cambria Math" panose="02040503050406030204" pitchFamily="18" charset="0"/>
                      </a:rPr>
                      <m:t>𝑚</m:t>
                    </m:r>
                  </m:oMath>
                </a14:m>
                <a:r>
                  <a:rPr lang="es-ES" sz="1000" dirty="0">
                    <a:latin typeface="Arial" panose="020B0604020202020204" pitchFamily="34" charset="0"/>
                    <a:cs typeface="Arial" panose="020B0604020202020204" pitchFamily="34" charset="0"/>
                  </a:rPr>
                  <a:t>. Además, se ha definido como guía </a:t>
                </a:r>
                <a:r>
                  <a:rPr lang="es-ES" sz="1000" dirty="0" err="1">
                    <a:latin typeface="Arial" panose="020B0604020202020204" pitchFamily="34" charset="0"/>
                    <a:cs typeface="Arial" panose="020B0604020202020204" pitchFamily="34" charset="0"/>
                  </a:rPr>
                  <a:t>deep</a:t>
                </a:r>
                <a:r>
                  <a:rPr lang="es-ES" sz="1000" dirty="0">
                    <a:latin typeface="Arial" panose="020B0604020202020204" pitchFamily="34" charset="0"/>
                    <a:cs typeface="Arial" panose="020B0604020202020204" pitchFamily="34" charset="0"/>
                  </a:rPr>
                  <a:t>, ya que el </a:t>
                </a:r>
                <a:r>
                  <a:rPr lang="es-ES" sz="1000" dirty="0" err="1">
                    <a:latin typeface="Arial" panose="020B0604020202020204" pitchFamily="34" charset="0"/>
                    <a:cs typeface="Arial" panose="020B0604020202020204" pitchFamily="34" charset="0"/>
                  </a:rPr>
                  <a:t>slab</a:t>
                </a:r>
                <a:r>
                  <a:rPr lang="es-ES" sz="1000" dirty="0">
                    <a:latin typeface="Arial" panose="020B0604020202020204" pitchFamily="34" charset="0"/>
                    <a:cs typeface="Arial" panose="020B0604020202020204" pitchFamily="34" charset="0"/>
                  </a:rPr>
                  <a:t> </a:t>
                </a:r>
                <a:r>
                  <a:rPr lang="es-ES" sz="1000" dirty="0" err="1">
                    <a:latin typeface="Arial" panose="020B0604020202020204" pitchFamily="34" charset="0"/>
                    <a:cs typeface="Arial" panose="020B0604020202020204" pitchFamily="34" charset="0"/>
                  </a:rPr>
                  <a:t>thickness</a:t>
                </a:r>
                <a:r>
                  <a:rPr lang="es-ES" sz="1000" dirty="0">
                    <a:latin typeface="Arial" panose="020B0604020202020204" pitchFamily="34" charset="0"/>
                    <a:cs typeface="Arial" panose="020B0604020202020204" pitchFamily="34" charset="0"/>
                  </a:rPr>
                  <a:t> es 0 nm.</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Al ser una guía ancha, esta estructura soporta la propagación de varios modos, en concreto se han calculado 20 modos. Los resultados muestran los índices efectivos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𝑛</m:t>
                        </m:r>
                      </m:e>
                      <m:sub>
                        <m:r>
                          <m:rPr>
                            <m:nor/>
                          </m:rPr>
                          <a:rPr lang="es-ES" sz="1000" i="1">
                            <a:latin typeface="Arial" panose="020B0604020202020204" pitchFamily="34" charset="0"/>
                            <a:cs typeface="Arial" panose="020B0604020202020204" pitchFamily="34" charset="0"/>
                          </a:rPr>
                          <m:t>eff</m:t>
                        </m:r>
                      </m:sub>
                    </m:sSub>
                  </m:oMath>
                </a14:m>
                <a:r>
                  <a:rPr lang="es-ES" sz="1000" dirty="0">
                    <a:latin typeface="Arial" panose="020B0604020202020204" pitchFamily="34" charset="0"/>
                    <a:cs typeface="Arial" panose="020B0604020202020204" pitchFamily="34" charset="0"/>
                  </a:rPr>
                  <a:t> de esos modos y también la fracción TE, que permite identificar si cada modo es principalmente TE o TM. En este caso, los primeros modos presentan una fracción TE cercana a 1, por lo que corresponden principalmente a modos TE, mientras que los modos con fracción baja corresponden a modos TM</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las imágenes se muestran algunos campos modales de la componente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𝐸</m:t>
                        </m:r>
                      </m:e>
                      <m:sub>
                        <m:r>
                          <a:rPr lang="ar-AE" sz="1000" i="1">
                            <a:latin typeface="Cambria Math" panose="02040503050406030204" pitchFamily="18" charset="0"/>
                          </a:rPr>
                          <m:t>𝑥</m:t>
                        </m:r>
                      </m:sub>
                    </m:sSub>
                  </m:oMath>
                </a14:m>
                <a:r>
                  <a:rPr lang="ar-AE"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El modo 0 corresponde al modo fundamental, con un único máximo centrado y sin cambios de signo. El modo 1 presenta dos lóbulos con signo opuesto, por lo que corresponde a un modo de orden superior. También se ha representado el modo 7, donde aparecen varios lóbulos alternando signo positivo y negativo a lo largo del ancho del MMI, confirmando que el cuerpo del MMI es multimodo.</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Finalmente, a partir de los dos primeros modos TE se calcula la longitud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𝐿</m:t>
                        </m:r>
                      </m:e>
                      <m:sub>
                        <m:r>
                          <a:rPr lang="ar-AE" sz="1000" i="1">
                            <a:latin typeface="Cambria Math" panose="02040503050406030204" pitchFamily="18" charset="0"/>
                          </a:rPr>
                          <m:t>𝜋</m:t>
                        </m:r>
                      </m:sub>
                    </m:sSub>
                    <m:r>
                      <a:rPr lang="es-ES" sz="1000" b="0" i="0" smtClean="0">
                        <a:latin typeface="Cambria Math" panose="02040503050406030204" pitchFamily="18" charset="0"/>
                      </a:rPr>
                      <m:t>,</m:t>
                    </m:r>
                  </m:oMath>
                </a14:m>
                <a:r>
                  <a:rPr lang="ar-AE"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usando la diferencia entre sus índices efectivos, obteniendo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𝐿</m:t>
                        </m:r>
                      </m:e>
                      <m:sub>
                        <m:r>
                          <a:rPr lang="ar-AE" sz="1000" i="1">
                            <a:latin typeface="Cambria Math" panose="02040503050406030204" pitchFamily="18" charset="0"/>
                          </a:rPr>
                          <m:t>𝜋</m:t>
                        </m:r>
                      </m:sub>
                    </m:sSub>
                    <m:r>
                      <a:rPr lang="ar-AE" sz="1000">
                        <a:latin typeface="Cambria Math" panose="02040503050406030204" pitchFamily="18" charset="0"/>
                      </a:rPr>
                      <m:t>=</m:t>
                    </m:r>
                    <m:r>
                      <a:rPr lang="ar-AE" sz="1000">
                        <a:latin typeface="Cambria Math" panose="02040503050406030204" pitchFamily="18" charset="0"/>
                      </a:rPr>
                      <m:t>219</m:t>
                    </m:r>
                    <m:r>
                      <a:rPr lang="ar-AE" sz="1000">
                        <a:latin typeface="Cambria Math" panose="02040503050406030204" pitchFamily="18" charset="0"/>
                      </a:rPr>
                      <m:t>.</m:t>
                    </m:r>
                    <m:r>
                      <a:rPr lang="ar-AE" sz="1000">
                        <a:latin typeface="Cambria Math" panose="02040503050406030204" pitchFamily="18" charset="0"/>
                      </a:rPr>
                      <m:t>41</m:t>
                    </m:r>
                    <m:r>
                      <m:rPr>
                        <m:nor/>
                      </m:rPr>
                      <a:rPr lang="ar-AE" sz="1000" i="1">
                        <a:latin typeface="Arial" panose="020B0604020202020204" pitchFamily="34" charset="0"/>
                      </a:rPr>
                      <m:t> </m:t>
                    </m:r>
                    <m:r>
                      <a:rPr lang="ar-AE" sz="1000" i="1">
                        <a:latin typeface="Cambria Math" panose="02040503050406030204" pitchFamily="18" charset="0"/>
                      </a:rPr>
                      <m:t>𝜇</m:t>
                    </m:r>
                    <m:r>
                      <a:rPr lang="ar-AE" sz="1000" i="1">
                        <a:latin typeface="Cambria Math" panose="02040503050406030204" pitchFamily="18" charset="0"/>
                      </a:rPr>
                      <m:t>𝑚</m:t>
                    </m:r>
                  </m:oMath>
                </a14:m>
                <a:r>
                  <a:rPr lang="es-ES" sz="1000" dirty="0">
                    <a:latin typeface="Arial" panose="020B0604020202020204" pitchFamily="34" charset="0"/>
                    <a:cs typeface="Arial" panose="020B0604020202020204" pitchFamily="34" charset="0"/>
                  </a:rPr>
                  <a:t>.</a:t>
                </a:r>
                <a:endParaRPr lang="en-US" sz="1200" dirty="0">
                  <a:latin typeface="Arial" panose="020B0604020202020204" pitchFamily="34" charset="0"/>
                  <a:cs typeface="Arial" panose="020B0604020202020204" pitchFamily="34" charset="0"/>
                </a:endParaRPr>
              </a:p>
              <a:p>
                <a:endParaRPr lang="es-ES" sz="10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C79C9142-6057-26BD-DF47-70CCF3F3D226}"/>
                  </a:ext>
                </a:extLst>
              </p:cNvPr>
              <p:cNvSpPr txBox="1">
                <a:spLocks noRot="1" noChangeAspect="1" noMove="1" noResize="1" noEditPoints="1" noAdjustHandles="1" noChangeArrowheads="1" noChangeShapeType="1" noTextEdit="1"/>
              </p:cNvSpPr>
              <p:nvPr/>
            </p:nvSpPr>
            <p:spPr>
              <a:xfrm>
                <a:off x="534989" y="1293791"/>
                <a:ext cx="11199971" cy="2631361"/>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spTree>
    <p:extLst>
      <p:ext uri="{BB962C8B-B14F-4D97-AF65-F5344CB8AC3E}">
        <p14:creationId xmlns:p14="http://schemas.microsoft.com/office/powerpoint/2010/main" val="116563679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BF7C0E-2677-BADF-D636-6F9B71E665F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2B8D44BF-A3B5-6BED-C39C-FA8260E83536}"/>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 – 6.1 2x2 Multimode Interference Coupler </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5DFCF1AD-6B06-F914-AC0B-80F0ED838EF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A656CCE-66E0-EAE0-5C63-DF1315DF6299}"/>
              </a:ext>
            </a:extLst>
          </p:cNvPr>
          <p:cNvSpPr>
            <a:spLocks noGrp="1"/>
          </p:cNvSpPr>
          <p:nvPr>
            <p:ph type="sldNum" sz="quarter" idx="7"/>
          </p:nvPr>
        </p:nvSpPr>
        <p:spPr/>
        <p:txBody>
          <a:bodyPr/>
          <a:lstStyle/>
          <a:p>
            <a:fld id="{B6F15528-21DE-4FAA-801E-634DDDAF4B2B}" type="slidenum">
              <a:rPr lang="es-ES" smtClean="0"/>
              <a:t>17</a:t>
            </a:fld>
            <a:endParaRPr lang="es-ES"/>
          </a:p>
        </p:txBody>
      </p:sp>
      <p:sp>
        <p:nvSpPr>
          <p:cNvPr id="3" name="Marcador de pie de página 2">
            <a:extLst>
              <a:ext uri="{FF2B5EF4-FFF2-40B4-BE49-F238E27FC236}">
                <a16:creationId xmlns:a16="http://schemas.microsoft.com/office/drawing/2014/main" id="{D3AB6581-C493-80EB-A67F-5289454DAA2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7" name="Rectángulo 6">
            <a:extLst>
              <a:ext uri="{FF2B5EF4-FFF2-40B4-BE49-F238E27FC236}">
                <a16:creationId xmlns:a16="http://schemas.microsoft.com/office/drawing/2014/main" id="{98DE5FDA-4E91-E843-E84A-1467BFAA9986}"/>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a:extLst>
              <a:ext uri="{FF2B5EF4-FFF2-40B4-BE49-F238E27FC236}">
                <a16:creationId xmlns:a16="http://schemas.microsoft.com/office/drawing/2014/main" id="{006FD154-64D2-1DE0-45D4-F432BC8409D4}"/>
              </a:ext>
            </a:extLst>
          </p:cNvPr>
          <p:cNvPicPr>
            <a:picLocks noChangeAspect="1"/>
          </p:cNvPicPr>
          <p:nvPr/>
        </p:nvPicPr>
        <p:blipFill>
          <a:blip r:embed="rId4"/>
          <a:stretch>
            <a:fillRect/>
          </a:stretch>
        </p:blipFill>
        <p:spPr>
          <a:xfrm>
            <a:off x="679580" y="1811324"/>
            <a:ext cx="6014038" cy="2438400"/>
          </a:xfrm>
          <a:prstGeom prst="rect">
            <a:avLst/>
          </a:prstGeom>
        </p:spPr>
      </p:pic>
      <p:pic>
        <p:nvPicPr>
          <p:cNvPr id="9" name="Imagen 8">
            <a:extLst>
              <a:ext uri="{FF2B5EF4-FFF2-40B4-BE49-F238E27FC236}">
                <a16:creationId xmlns:a16="http://schemas.microsoft.com/office/drawing/2014/main" id="{BF0C916D-8ABE-7B53-C4E1-0802006735C1}"/>
              </a:ext>
            </a:extLst>
          </p:cNvPr>
          <p:cNvPicPr>
            <a:picLocks noChangeAspect="1"/>
          </p:cNvPicPr>
          <p:nvPr/>
        </p:nvPicPr>
        <p:blipFill>
          <a:blip r:embed="rId5"/>
          <a:stretch>
            <a:fillRect/>
          </a:stretch>
        </p:blipFill>
        <p:spPr>
          <a:xfrm>
            <a:off x="7010400" y="1733586"/>
            <a:ext cx="3323403" cy="2593875"/>
          </a:xfrm>
          <a:prstGeom prst="rect">
            <a:avLst/>
          </a:prstGeom>
        </p:spPr>
      </p:pic>
    </p:spTree>
    <p:extLst>
      <p:ext uri="{BB962C8B-B14F-4D97-AF65-F5344CB8AC3E}">
        <p14:creationId xmlns:p14="http://schemas.microsoft.com/office/powerpoint/2010/main" val="281567942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76E5C9-C008-133F-8869-2623D2B78B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BF71F63-3A33-F072-9E8E-1D7E08A9271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 – 6.1 2x2 Multimode Interference Coupler </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C541D948-39F2-A12E-798A-1558C047F5D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6EA6FED-20E3-3256-B342-72A22FF07825}"/>
              </a:ext>
            </a:extLst>
          </p:cNvPr>
          <p:cNvSpPr>
            <a:spLocks noGrp="1"/>
          </p:cNvSpPr>
          <p:nvPr>
            <p:ph type="sldNum" sz="quarter" idx="7"/>
          </p:nvPr>
        </p:nvSpPr>
        <p:spPr/>
        <p:txBody>
          <a:bodyPr/>
          <a:lstStyle/>
          <a:p>
            <a:fld id="{B6F15528-21DE-4FAA-801E-634DDDAF4B2B}" type="slidenum">
              <a:rPr lang="es-ES" smtClean="0"/>
              <a:t>18</a:t>
            </a:fld>
            <a:endParaRPr lang="es-ES"/>
          </a:p>
        </p:txBody>
      </p:sp>
      <p:sp>
        <p:nvSpPr>
          <p:cNvPr id="3" name="Marcador de pie de página 2">
            <a:extLst>
              <a:ext uri="{FF2B5EF4-FFF2-40B4-BE49-F238E27FC236}">
                <a16:creationId xmlns:a16="http://schemas.microsoft.com/office/drawing/2014/main" id="{64246EAB-454C-1EA5-F2CC-315F030E8E50}"/>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mc:Choice xmlns:a14="http://schemas.microsoft.com/office/drawing/2010/main" Requires="a14">
          <p:sp>
            <p:nvSpPr>
              <p:cNvPr id="2" name="CuadroTexto 1">
                <a:extLst>
                  <a:ext uri="{FF2B5EF4-FFF2-40B4-BE49-F238E27FC236}">
                    <a16:creationId xmlns:a16="http://schemas.microsoft.com/office/drawing/2014/main" id="{329D122E-5098-7A1E-EC3C-23ED5C05C8F7}"/>
                  </a:ext>
                </a:extLst>
              </p:cNvPr>
              <p:cNvSpPr txBox="1"/>
              <p:nvPr/>
            </p:nvSpPr>
            <p:spPr>
              <a:xfrm>
                <a:off x="583019" y="1524000"/>
                <a:ext cx="11199971" cy="2646878"/>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Comment results (Coupling relationship, </a:t>
                </a:r>
                <a:r>
                  <a:rPr lang="en-US" sz="1200" b="1" i="1" dirty="0" err="1">
                    <a:latin typeface="Arial" panose="020B0604020202020204" pitchFamily="34" charset="0"/>
                    <a:cs typeface="Arial" panose="020B0604020202020204" pitchFamily="34" charset="0"/>
                  </a:rPr>
                  <a:t>Lpi</a:t>
                </a:r>
                <a:r>
                  <a:rPr lang="en-US" sz="1200" b="1" i="1" dirty="0">
                    <a:latin typeface="Arial" panose="020B0604020202020204" pitchFamily="34" charset="0"/>
                    <a:cs typeface="Arial" panose="020B0604020202020204" pitchFamily="34" charset="0"/>
                  </a:rPr>
                  <a:t>,  losses, comparison with Directional Coupler… )</a:t>
                </a:r>
              </a:p>
              <a:p>
                <a:pPr algn="just"/>
                <a:endParaRPr lang="en-US" sz="1200"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En </a:t>
                </a:r>
                <a:r>
                  <a:rPr lang="en-US" sz="1000" dirty="0" err="1">
                    <a:latin typeface="Arial" panose="020B0604020202020204" pitchFamily="34" charset="0"/>
                    <a:cs typeface="Arial" panose="020B0604020202020204" pitchFamily="34" charset="0"/>
                  </a:rPr>
                  <a:t>este</a:t>
                </a:r>
                <a:r>
                  <a:rPr lang="en-US" sz="1000" dirty="0">
                    <a:latin typeface="Arial" panose="020B0604020202020204" pitchFamily="34" charset="0"/>
                    <a:cs typeface="Arial" panose="020B0604020202020204" pitchFamily="34" charset="0"/>
                  </a:rPr>
                  <a:t> primer </a:t>
                </a:r>
                <a:r>
                  <a:rPr lang="en-US" sz="1000" dirty="0" err="1">
                    <a:latin typeface="Arial" panose="020B0604020202020204" pitchFamily="34" charset="0"/>
                    <a:cs typeface="Arial" panose="020B0604020202020204" pitchFamily="34" charset="0"/>
                  </a:rPr>
                  <a:t>apartado</a:t>
                </a:r>
                <a:r>
                  <a:rPr lang="en-US" sz="1000" dirty="0">
                    <a:latin typeface="Arial" panose="020B0604020202020204" pitchFamily="34" charset="0"/>
                    <a:cs typeface="Arial" panose="020B0604020202020204" pitchFamily="34" charset="0"/>
                  </a:rPr>
                  <a:t>, se ha </a:t>
                </a:r>
                <a:r>
                  <a:rPr lang="en-US" sz="1000" dirty="0" err="1">
                    <a:latin typeface="Arial" panose="020B0604020202020204" pitchFamily="34" charset="0"/>
                    <a:cs typeface="Arial" panose="020B0604020202020204" pitchFamily="34" charset="0"/>
                  </a:rPr>
                  <a:t>simulado</a:t>
                </a:r>
                <a:r>
                  <a:rPr lang="en-US" sz="1000" dirty="0">
                    <a:latin typeface="Arial" panose="020B0604020202020204" pitchFamily="34" charset="0"/>
                    <a:cs typeface="Arial" panose="020B0604020202020204" pitchFamily="34" charset="0"/>
                  </a:rPr>
                  <a:t> un </a:t>
                </a:r>
                <a:r>
                  <a:rPr lang="en-US" sz="1000" dirty="0" err="1">
                    <a:latin typeface="Arial" panose="020B0604020202020204" pitchFamily="34" charset="0"/>
                    <a:cs typeface="Arial" panose="020B0604020202020204" pitchFamily="34" charset="0"/>
                  </a:rPr>
                  <a:t>acoplador</a:t>
                </a:r>
                <a:r>
                  <a:rPr lang="en-US" sz="1000" dirty="0">
                    <a:latin typeface="Arial" panose="020B0604020202020204" pitchFamily="34" charset="0"/>
                    <a:cs typeface="Arial" panose="020B0604020202020204" pitchFamily="34" charset="0"/>
                  </a:rPr>
                  <a:t> de </a:t>
                </a:r>
                <a:r>
                  <a:rPr lang="en-US" sz="1000" dirty="0" err="1">
                    <a:latin typeface="Arial" panose="020B0604020202020204" pitchFamily="34" charset="0"/>
                    <a:cs typeface="Arial" panose="020B0604020202020204" pitchFamily="34" charset="0"/>
                  </a:rPr>
                  <a:t>interferencias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multimodo</a:t>
                </a:r>
                <a:r>
                  <a:rPr lang="en-US" sz="1000" dirty="0">
                    <a:latin typeface="Arial" panose="020B0604020202020204" pitchFamily="34" charset="0"/>
                    <a:cs typeface="Arial" panose="020B0604020202020204" pitchFamily="34" charset="0"/>
                  </a:rPr>
                  <a:t> MMI, con </a:t>
                </a:r>
                <a:r>
                  <a:rPr lang="en-US" sz="1000" dirty="0" err="1">
                    <a:latin typeface="Arial" panose="020B0604020202020204" pitchFamily="34" charset="0"/>
                    <a:cs typeface="Arial" panose="020B0604020202020204" pitchFamily="34" charset="0"/>
                  </a:rPr>
                  <a:t>una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estructura</a:t>
                </a:r>
                <a:r>
                  <a:rPr lang="en-US" sz="1000" dirty="0">
                    <a:latin typeface="Arial" panose="020B0604020202020204" pitchFamily="34" charset="0"/>
                    <a:cs typeface="Arial" panose="020B0604020202020204" pitchFamily="34" charset="0"/>
                  </a:rPr>
                  <a:t> 2x2, y con la entrada </a:t>
                </a:r>
                <a:r>
                  <a:rPr lang="en-US" sz="1000" dirty="0" err="1">
                    <a:latin typeface="Arial" panose="020B0604020202020204" pitchFamily="34" charset="0"/>
                    <a:cs typeface="Arial" panose="020B0604020202020204" pitchFamily="34" charset="0"/>
                  </a:rPr>
                  <a:t>situada</a:t>
                </a:r>
                <a:r>
                  <a:rPr lang="en-US" sz="1000" dirty="0">
                    <a:latin typeface="Arial" panose="020B0604020202020204" pitchFamily="34" charset="0"/>
                    <a:cs typeface="Arial" panose="020B0604020202020204" pitchFamily="34" charset="0"/>
                  </a:rPr>
                  <a:t> a </a:t>
                </a:r>
                <a:r>
                  <a:rPr lang="en-US" sz="1000" dirty="0" err="1">
                    <a:latin typeface="Arial" panose="020B0604020202020204" pitchFamily="34" charset="0"/>
                    <a:cs typeface="Arial" panose="020B0604020202020204" pitchFamily="34" charset="0"/>
                  </a:rPr>
                  <a:t>una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distancia</a:t>
                </a:r>
                <a:r>
                  <a:rPr lang="en-US" sz="1000" dirty="0">
                    <a:latin typeface="Arial" panose="020B0604020202020204" pitchFamily="34" charset="0"/>
                    <a:cs typeface="Arial" panose="020B0604020202020204" pitchFamily="34" charset="0"/>
                  </a:rPr>
                  <a:t> de 1/6 del </a:t>
                </a:r>
                <a:r>
                  <a:rPr lang="en-US" sz="1000" dirty="0" err="1">
                    <a:latin typeface="Arial" panose="020B0604020202020204" pitchFamily="34" charset="0"/>
                    <a:cs typeface="Arial" panose="020B0604020202020204" pitchFamily="34" charset="0"/>
                  </a:rPr>
                  <a:t>centro</a:t>
                </a:r>
                <a:r>
                  <a:rPr lang="en-US" sz="1000" dirty="0">
                    <a:latin typeface="Arial" panose="020B0604020202020204" pitchFamily="34" charset="0"/>
                    <a:cs typeface="Arial" panose="020B0604020202020204" pitchFamily="34" charset="0"/>
                  </a:rPr>
                  <a:t>, y </a:t>
                </a:r>
                <a:r>
                  <a:rPr lang="en-US" sz="1000" dirty="0" err="1">
                    <a:latin typeface="Arial" panose="020B0604020202020204" pitchFamily="34" charset="0"/>
                    <a:cs typeface="Arial" panose="020B0604020202020204" pitchFamily="34" charset="0"/>
                  </a:rPr>
                  <a:t>teniendo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en</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cuenta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los</a:t>
                </a:r>
                <a:r>
                  <a:rPr lang="en-US" sz="1000" dirty="0">
                    <a:latin typeface="Arial" panose="020B0604020202020204" pitchFamily="34" charset="0"/>
                    <a:cs typeface="Arial" panose="020B0604020202020204" pitchFamily="34" charset="0"/>
                  </a:rPr>
                  <a:t> 30 primeros </a:t>
                </a:r>
                <a:r>
                  <a:rPr lang="en-US" sz="1000" dirty="0" err="1">
                    <a:latin typeface="Arial" panose="020B0604020202020204" pitchFamily="34" charset="0"/>
                    <a:cs typeface="Arial" panose="020B0604020202020204" pitchFamily="34" charset="0"/>
                  </a:rPr>
                  <a:t>modos</a:t>
                </a:r>
                <a:r>
                  <a:rPr lang="en-US" sz="1000" dirty="0">
                    <a:latin typeface="Arial" panose="020B0604020202020204" pitchFamily="34" charset="0"/>
                    <a:cs typeface="Arial" panose="020B0604020202020204" pitchFamily="34" charset="0"/>
                  </a:rPr>
                  <a:t>.</a:t>
                </a:r>
              </a:p>
              <a:p>
                <a:pPr algn="just"/>
                <a:endParaRPr lang="en-US" sz="1000"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La </a:t>
                </a:r>
                <a:r>
                  <a:rPr lang="en-US" sz="1000" dirty="0" err="1">
                    <a:latin typeface="Arial" panose="020B0604020202020204" pitchFamily="34" charset="0"/>
                    <a:cs typeface="Arial" panose="020B0604020202020204" pitchFamily="34" charset="0"/>
                  </a:rPr>
                  <a:t>distribución</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obtenida</a:t>
                </a:r>
                <a:r>
                  <a:rPr lang="en-US"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muestra claramente el fenómeno de interferencia multimodo, donde los diferentes modos excitados en la región MMI interfieren entre sí dando lugar al efecto de </a:t>
                </a:r>
                <a:r>
                  <a:rPr lang="es-ES" sz="1000" u="sng" dirty="0" err="1">
                    <a:latin typeface="Arial" panose="020B0604020202020204" pitchFamily="34" charset="0"/>
                    <a:cs typeface="Arial" panose="020B0604020202020204" pitchFamily="34" charset="0"/>
                  </a:rPr>
                  <a:t>self-imaging</a:t>
                </a:r>
                <a:r>
                  <a:rPr lang="es-ES" sz="1000" dirty="0">
                    <a:latin typeface="Arial" panose="020B0604020202020204" pitchFamily="34" charset="0"/>
                    <a:cs typeface="Arial" panose="020B0604020202020204" pitchFamily="34" charset="0"/>
                  </a:rPr>
                  <a:t>, es decir, la reproducción del campo de entrada en posiciones concretas a lo largo del dispositivo</a:t>
                </a:r>
              </a:p>
              <a:p>
                <a:pPr algn="just"/>
                <a:endParaRPr lang="en-US" sz="1000"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La </a:t>
                </a:r>
                <a:r>
                  <a:rPr lang="en-US" sz="1000" dirty="0" err="1">
                    <a:latin typeface="Arial" panose="020B0604020202020204" pitchFamily="34" charset="0"/>
                    <a:cs typeface="Arial" panose="020B0604020202020204" pitchFamily="34" charset="0"/>
                  </a:rPr>
                  <a:t>longitud</a:t>
                </a:r>
                <a:r>
                  <a:rPr lang="en-US" sz="1000" dirty="0">
                    <a:latin typeface="Arial" panose="020B0604020202020204" pitchFamily="34" charset="0"/>
                    <a:cs typeface="Arial" panose="020B0604020202020204" pitchFamily="34" charset="0"/>
                  </a:rPr>
                  <a:t> del </a:t>
                </a:r>
                <a:r>
                  <a:rPr lang="en-US" sz="1000" dirty="0" err="1">
                    <a:latin typeface="Arial" panose="020B0604020202020204" pitchFamily="34" charset="0"/>
                    <a:cs typeface="Arial" panose="020B0604020202020204" pitchFamily="34" charset="0"/>
                  </a:rPr>
                  <a:t>dispostivo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obtenida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será</a:t>
                </a:r>
                <a:r>
                  <a:rPr lang="en-US" sz="1000" dirty="0">
                    <a:latin typeface="Arial" panose="020B0604020202020204" pitchFamily="34" charset="0"/>
                    <a:cs typeface="Arial" panose="020B0604020202020204" pitchFamily="34" charset="0"/>
                  </a:rPr>
                  <a:t> de 34.51 um, la </a:t>
                </a:r>
                <a:r>
                  <a:rPr lang="en-US" sz="1000" dirty="0" err="1">
                    <a:latin typeface="Arial" panose="020B0604020202020204" pitchFamily="34" charset="0"/>
                    <a:cs typeface="Arial" panose="020B0604020202020204" pitchFamily="34" charset="0"/>
                  </a:rPr>
                  <a:t>cual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está</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relacionada</a:t>
                </a:r>
                <a:r>
                  <a:rPr lang="en-US" sz="1000" dirty="0">
                    <a:latin typeface="Arial" panose="020B0604020202020204" pitchFamily="34" charset="0"/>
                    <a:cs typeface="Arial" panose="020B0604020202020204" pitchFamily="34" charset="0"/>
                  </a:rPr>
                  <a:t> con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𝐿</m:t>
                        </m:r>
                      </m:e>
                      <m:sub>
                        <m:r>
                          <a:rPr lang="ar-AE" sz="1000" i="1">
                            <a:latin typeface="Cambria Math" panose="02040503050406030204" pitchFamily="18" charset="0"/>
                          </a:rPr>
                          <m:t>𝜋</m:t>
                        </m:r>
                      </m:sub>
                    </m:sSub>
                  </m:oMath>
                </a14:m>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que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determina</a:t>
                </a:r>
                <a:r>
                  <a:rPr lang="en-US" sz="1000" dirty="0">
                    <a:latin typeface="Arial" panose="020B0604020202020204" pitchFamily="34" charset="0"/>
                    <a:cs typeface="Arial" panose="020B0604020202020204" pitchFamily="34" charset="0"/>
                  </a:rPr>
                  <a:t> las </a:t>
                </a:r>
                <a:r>
                  <a:rPr lang="en-US" sz="1000" dirty="0" err="1">
                    <a:latin typeface="Arial" panose="020B0604020202020204" pitchFamily="34" charset="0"/>
                    <a:cs typeface="Arial" panose="020B0604020202020204" pitchFamily="34" charset="0"/>
                  </a:rPr>
                  <a:t>posiciones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donde</a:t>
                </a:r>
                <a:r>
                  <a:rPr lang="en-US" sz="1000" dirty="0">
                    <a:latin typeface="Arial" panose="020B0604020202020204" pitchFamily="34" charset="0"/>
                    <a:cs typeface="Arial" panose="020B0604020202020204" pitchFamily="34" charset="0"/>
                  </a:rPr>
                  <a:t> se </a:t>
                </a:r>
                <a:r>
                  <a:rPr lang="en-US" sz="1000" dirty="0" err="1">
                    <a:latin typeface="Arial" panose="020B0604020202020204" pitchFamily="34" charset="0"/>
                    <a:cs typeface="Arial" panose="020B0604020202020204" pitchFamily="34" charset="0"/>
                  </a:rPr>
                  <a:t>forman</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estas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autoimágenes</a:t>
                </a:r>
                <a:r>
                  <a:rPr lang="en-US" sz="1000" dirty="0">
                    <a:latin typeface="Arial" panose="020B0604020202020204" pitchFamily="34" charset="0"/>
                    <a:cs typeface="Arial" panose="020B0604020202020204" pitchFamily="34" charset="0"/>
                  </a:rPr>
                  <a:t>.</a:t>
                </a:r>
              </a:p>
              <a:p>
                <a:pPr algn="just"/>
                <a:r>
                  <a:rPr lang="en-US" sz="1000" dirty="0">
                    <a:latin typeface="Arial" panose="020B0604020202020204" pitchFamily="34" charset="0"/>
                    <a:cs typeface="Arial" panose="020B0604020202020204" pitchFamily="34" charset="0"/>
                  </a:rPr>
                  <a:t>Por </a:t>
                </a:r>
                <a:r>
                  <a:rPr lang="en-US" sz="1000" dirty="0" err="1">
                    <a:latin typeface="Arial" panose="020B0604020202020204" pitchFamily="34" charset="0"/>
                    <a:cs typeface="Arial" panose="020B0604020202020204" pitchFamily="34" charset="0"/>
                  </a:rPr>
                  <a:t>otro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lado</a:t>
                </a:r>
                <a:r>
                  <a:rPr lang="en-US" sz="1000" dirty="0">
                    <a:latin typeface="Arial" panose="020B0604020202020204" pitchFamily="34" charset="0"/>
                    <a:cs typeface="Arial" panose="020B0604020202020204" pitchFamily="34" charset="0"/>
                  </a:rPr>
                  <a:t>, las </a:t>
                </a:r>
                <a:r>
                  <a:rPr lang="en-US" sz="1000" dirty="0" err="1">
                    <a:latin typeface="Arial" panose="020B0604020202020204" pitchFamily="34" charset="0"/>
                    <a:cs typeface="Arial" panose="020B0604020202020204" pitchFamily="34" charset="0"/>
                  </a:rPr>
                  <a:t>pérdidas</a:t>
                </a:r>
                <a:r>
                  <a:rPr lang="en-US" sz="1000" dirty="0">
                    <a:latin typeface="Arial" panose="020B0604020202020204" pitchFamily="34" charset="0"/>
                    <a:cs typeface="Arial" panose="020B0604020202020204" pitchFamily="34" charset="0"/>
                  </a:rPr>
                  <a:t> son de 0.42 dB y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reparto</a:t>
                </a:r>
                <a:r>
                  <a:rPr lang="en-US" sz="1000" dirty="0">
                    <a:latin typeface="Arial" panose="020B0604020202020204" pitchFamily="34" charset="0"/>
                    <a:cs typeface="Arial" panose="020B0604020202020204" pitchFamily="34" charset="0"/>
                  </a:rPr>
                  <a:t> de </a:t>
                </a:r>
                <a:r>
                  <a:rPr lang="en-US" sz="1000" dirty="0" err="1">
                    <a:latin typeface="Arial" panose="020B0604020202020204" pitchFamily="34" charset="0"/>
                    <a:cs typeface="Arial" panose="020B0604020202020204" pitchFamily="34" charset="0"/>
                  </a:rPr>
                  <a:t>potencia</a:t>
                </a:r>
                <a:r>
                  <a:rPr lang="en-US" sz="1000" dirty="0">
                    <a:latin typeface="Arial" panose="020B0604020202020204" pitchFamily="34" charset="0"/>
                    <a:cs typeface="Arial" panose="020B0604020202020204" pitchFamily="34" charset="0"/>
                  </a:rPr>
                  <a:t> entre las dos </a:t>
                </a:r>
                <a:r>
                  <a:rPr lang="en-US" sz="1000" dirty="0" err="1">
                    <a:latin typeface="Arial" panose="020B0604020202020204" pitchFamily="34" charset="0"/>
                    <a:cs typeface="Arial" panose="020B0604020202020204" pitchFamily="34" charset="0"/>
                  </a:rPr>
                  <a:t>salidas</a:t>
                </a:r>
                <a:r>
                  <a:rPr lang="en-US" sz="1000" dirty="0">
                    <a:latin typeface="Arial" panose="020B0604020202020204" pitchFamily="34" charset="0"/>
                    <a:cs typeface="Arial" panose="020B0604020202020204" pitchFamily="34" charset="0"/>
                  </a:rPr>
                  <a:t> no es </a:t>
                </a:r>
                <a:r>
                  <a:rPr lang="en-US" sz="1000" dirty="0" err="1">
                    <a:latin typeface="Arial" panose="020B0604020202020204" pitchFamily="34" charset="0"/>
                    <a:cs typeface="Arial" panose="020B0604020202020204" pitchFamily="34" charset="0"/>
                  </a:rPr>
                  <a:t>equitativo</a:t>
                </a:r>
                <a:r>
                  <a:rPr lang="en-US" sz="1000" dirty="0">
                    <a:latin typeface="Arial" panose="020B0604020202020204" pitchFamily="34" charset="0"/>
                    <a:cs typeface="Arial" panose="020B0604020202020204" pitchFamily="34" charset="0"/>
                  </a:rPr>
                  <a:t> (es </a:t>
                </a:r>
                <a:r>
                  <a:rPr lang="en-US" sz="1000" dirty="0" err="1">
                    <a:latin typeface="Arial" panose="020B0604020202020204" pitchFamily="34" charset="0"/>
                    <a:cs typeface="Arial" panose="020B0604020202020204" pitchFamily="34" charset="0"/>
                  </a:rPr>
                  <a:t>decir</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por</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una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salida</a:t>
                </a:r>
                <a:r>
                  <a:rPr lang="en-US" sz="1000" dirty="0">
                    <a:latin typeface="Arial" panose="020B0604020202020204" pitchFamily="34" charset="0"/>
                    <a:cs typeface="Arial" panose="020B0604020202020204" pitchFamily="34" charset="0"/>
                  </a:rPr>
                  <a:t> se </a:t>
                </a:r>
                <a:r>
                  <a:rPr lang="en-US" sz="1000" dirty="0" err="1">
                    <a:latin typeface="Arial" panose="020B0604020202020204" pitchFamily="34" charset="0"/>
                    <a:cs typeface="Arial" panose="020B0604020202020204" pitchFamily="34" charset="0"/>
                  </a:rPr>
                  <a:t>obtiene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ligeramente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más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potencia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que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por</a:t>
                </a:r>
                <a:r>
                  <a:rPr lang="en-US" sz="1000" dirty="0">
                    <a:latin typeface="Arial" panose="020B0604020202020204" pitchFamily="34" charset="0"/>
                    <a:cs typeface="Arial" panose="020B0604020202020204" pitchFamily="34" charset="0"/>
                  </a:rPr>
                  <a:t> la </a:t>
                </a:r>
                <a:r>
                  <a:rPr lang="en-US" sz="1000" dirty="0" err="1">
                    <a:latin typeface="Arial" panose="020B0604020202020204" pitchFamily="34" charset="0"/>
                    <a:cs typeface="Arial" panose="020B0604020202020204" pitchFamily="34" charset="0"/>
                  </a:rPr>
                  <a:t>otra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debido</a:t>
                </a:r>
                <a:r>
                  <a:rPr lang="en-US" sz="1000" dirty="0">
                    <a:latin typeface="Arial" panose="020B0604020202020204" pitchFamily="34" charset="0"/>
                    <a:cs typeface="Arial" panose="020B0604020202020204" pitchFamily="34" charset="0"/>
                  </a:rPr>
                  <a:t> a la </a:t>
                </a:r>
                <a:r>
                  <a:rPr lang="en-US" sz="1000" dirty="0" err="1">
                    <a:latin typeface="Arial" panose="020B0604020202020204" pitchFamily="34" charset="0"/>
                    <a:cs typeface="Arial" panose="020B0604020202020204" pitchFamily="34" charset="0"/>
                  </a:rPr>
                  <a:t>posición</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descentrada</a:t>
                </a:r>
                <a:r>
                  <a:rPr lang="en-US" sz="1000" dirty="0">
                    <a:latin typeface="Arial" panose="020B0604020202020204" pitchFamily="34" charset="0"/>
                    <a:cs typeface="Arial" panose="020B0604020202020204" pitchFamily="34" charset="0"/>
                  </a:rPr>
                  <a:t> de la entrada, </a:t>
                </a:r>
                <a:r>
                  <a:rPr lang="en-US" sz="1000" dirty="0" err="1">
                    <a:latin typeface="Arial" panose="020B0604020202020204" pitchFamily="34" charset="0"/>
                    <a:cs typeface="Arial" panose="020B0604020202020204" pitchFamily="34" charset="0"/>
                  </a:rPr>
                  <a:t>rompiendo</a:t>
                </a:r>
                <a:r>
                  <a:rPr lang="en-US" sz="1000" dirty="0">
                    <a:latin typeface="Arial" panose="020B0604020202020204" pitchFamily="34" charset="0"/>
                    <a:cs typeface="Arial" panose="020B0604020202020204" pitchFamily="34" charset="0"/>
                  </a:rPr>
                  <a:t> la </a:t>
                </a:r>
                <a:r>
                  <a:rPr lang="en-US" sz="1000" dirty="0" err="1">
                    <a:latin typeface="Arial" panose="020B0604020202020204" pitchFamily="34" charset="0"/>
                    <a:cs typeface="Arial" panose="020B0604020202020204" pitchFamily="34" charset="0"/>
                  </a:rPr>
                  <a:t>simetría</a:t>
                </a:r>
                <a:r>
                  <a:rPr lang="en-US" sz="1000" dirty="0">
                    <a:latin typeface="Arial" panose="020B0604020202020204" pitchFamily="34" charset="0"/>
                    <a:cs typeface="Arial" panose="020B0604020202020204" pitchFamily="34" charset="0"/>
                  </a:rPr>
                  <a:t> del </a:t>
                </a:r>
                <a:r>
                  <a:rPr lang="en-US" sz="1000" dirty="0" err="1">
                    <a:latin typeface="Arial" panose="020B0604020202020204" pitchFamily="34" charset="0"/>
                    <a:cs typeface="Arial" panose="020B0604020202020204" pitchFamily="34" charset="0"/>
                  </a:rPr>
                  <a:t>dispositivo</a:t>
                </a:r>
                <a:r>
                  <a:rPr lang="en-US" sz="1000" dirty="0">
                    <a:latin typeface="Arial" panose="020B0604020202020204" pitchFamily="34" charset="0"/>
                    <a:cs typeface="Arial" panose="020B0604020202020204" pitchFamily="34" charset="0"/>
                  </a:rPr>
                  <a:t>.</a:t>
                </a:r>
              </a:p>
              <a:p>
                <a:pPr algn="just"/>
                <a:endParaRPr lang="en-U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Por último, en comparación con el </a:t>
                </a:r>
                <a:r>
                  <a:rPr lang="es-ES" sz="1000" i="1" dirty="0" err="1">
                    <a:latin typeface="Arial" panose="020B0604020202020204" pitchFamily="34" charset="0"/>
                    <a:cs typeface="Arial" panose="020B0604020202020204" pitchFamily="34" charset="0"/>
                  </a:rPr>
                  <a:t>directional</a:t>
                </a:r>
                <a:r>
                  <a:rPr lang="es-ES" sz="1000" i="1" dirty="0">
                    <a:latin typeface="Arial" panose="020B0604020202020204" pitchFamily="34" charset="0"/>
                    <a:cs typeface="Arial" panose="020B0604020202020204" pitchFamily="34" charset="0"/>
                  </a:rPr>
                  <a:t> </a:t>
                </a:r>
                <a:r>
                  <a:rPr lang="es-ES" sz="1000" i="1" dirty="0" err="1">
                    <a:latin typeface="Arial" panose="020B0604020202020204" pitchFamily="34" charset="0"/>
                    <a:cs typeface="Arial" panose="020B0604020202020204" pitchFamily="34" charset="0"/>
                  </a:rPr>
                  <a:t>coupler</a:t>
                </a:r>
                <a:r>
                  <a:rPr lang="es-ES" sz="1000" dirty="0">
                    <a:latin typeface="Arial" panose="020B0604020202020204" pitchFamily="34" charset="0"/>
                    <a:cs typeface="Arial" panose="020B0604020202020204" pitchFamily="34" charset="0"/>
                  </a:rPr>
                  <a:t>, este último basa su funcionamiento en el acoplo evanescente entre dos guías y puede diseñarse para obtener un reparto 50/50, aunque es muy sensible a parámetros críticos como el </a:t>
                </a:r>
                <a:r>
                  <a:rPr lang="es-ES" sz="1000" i="1" dirty="0">
                    <a:latin typeface="Arial" panose="020B0604020202020204" pitchFamily="34" charset="0"/>
                    <a:cs typeface="Arial" panose="020B0604020202020204" pitchFamily="34" charset="0"/>
                  </a:rPr>
                  <a:t>gap</a:t>
                </a:r>
                <a:r>
                  <a:rPr lang="es-ES" sz="1000" dirty="0">
                    <a:latin typeface="Arial" panose="020B0604020202020204" pitchFamily="34" charset="0"/>
                    <a:cs typeface="Arial" panose="020B0604020202020204" pitchFamily="34" charset="0"/>
                  </a:rPr>
                  <a:t> y la longitud del dispositivo. En cambio, el MMI se basa en interferencia multimodo, lo que lo hace más robusto frente a variaciones geométricas y de fabricación.</a:t>
                </a:r>
              </a:p>
              <a:p>
                <a:pPr algn="just"/>
                <a:endParaRPr lang="en-US" sz="1200" dirty="0">
                  <a:latin typeface="Arial" panose="020B0604020202020204" pitchFamily="34" charset="0"/>
                  <a:cs typeface="Arial" panose="020B0604020202020204" pitchFamily="34" charset="0"/>
                </a:endParaRPr>
              </a:p>
            </p:txBody>
          </p:sp>
        </mc:Choice>
        <mc:Fallback>
          <p:sp>
            <p:nvSpPr>
              <p:cNvPr id="2" name="CuadroTexto 1">
                <a:extLst>
                  <a:ext uri="{FF2B5EF4-FFF2-40B4-BE49-F238E27FC236}">
                    <a16:creationId xmlns:a16="http://schemas.microsoft.com/office/drawing/2014/main" id="{329D122E-5098-7A1E-EC3C-23ED5C05C8F7}"/>
                  </a:ext>
                </a:extLst>
              </p:cNvPr>
              <p:cNvSpPr txBox="1">
                <a:spLocks noRot="1" noChangeAspect="1" noMove="1" noResize="1" noEditPoints="1" noAdjustHandles="1" noChangeArrowheads="1" noChangeShapeType="1" noTextEdit="1"/>
              </p:cNvSpPr>
              <p:nvPr/>
            </p:nvSpPr>
            <p:spPr>
              <a:xfrm>
                <a:off x="583019" y="1524000"/>
                <a:ext cx="11199971" cy="2646878"/>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spTree>
    <p:extLst>
      <p:ext uri="{BB962C8B-B14F-4D97-AF65-F5344CB8AC3E}">
        <p14:creationId xmlns:p14="http://schemas.microsoft.com/office/powerpoint/2010/main" val="14973170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F11DBE-A482-7036-60B2-70B7E2318F46}"/>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C096193E-AB86-E3CD-BDAC-0F9156C1A3F0}"/>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#6.2 – 2x2 Multimode Interference Coupler - Optimization</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2D17DCD6-D851-E62D-D95C-A9F9954602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891046F-11DC-B7FC-54F7-9583E688DC0E}"/>
              </a:ext>
            </a:extLst>
          </p:cNvPr>
          <p:cNvSpPr>
            <a:spLocks noGrp="1"/>
          </p:cNvSpPr>
          <p:nvPr>
            <p:ph type="sldNum" sz="quarter" idx="7"/>
          </p:nvPr>
        </p:nvSpPr>
        <p:spPr/>
        <p:txBody>
          <a:bodyPr/>
          <a:lstStyle/>
          <a:p>
            <a:fld id="{B6F15528-21DE-4FAA-801E-634DDDAF4B2B}" type="slidenum">
              <a:rPr lang="es-ES" smtClean="0"/>
              <a:t>19</a:t>
            </a:fld>
            <a:endParaRPr lang="es-ES"/>
          </a:p>
        </p:txBody>
      </p:sp>
      <p:sp>
        <p:nvSpPr>
          <p:cNvPr id="3" name="Marcador de pie de página 2">
            <a:extLst>
              <a:ext uri="{FF2B5EF4-FFF2-40B4-BE49-F238E27FC236}">
                <a16:creationId xmlns:a16="http://schemas.microsoft.com/office/drawing/2014/main" id="{4C9BAA39-017F-D602-6705-A6CF44830139}"/>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7" name="Rectángulo 6">
            <a:extLst>
              <a:ext uri="{FF2B5EF4-FFF2-40B4-BE49-F238E27FC236}">
                <a16:creationId xmlns:a16="http://schemas.microsoft.com/office/drawing/2014/main" id="{9772491E-4FFB-FFC3-C855-72A4B15F3E73}"/>
              </a:ext>
            </a:extLst>
          </p:cNvPr>
          <p:cNvSpPr/>
          <p:nvPr/>
        </p:nvSpPr>
        <p:spPr>
          <a:xfrm>
            <a:off x="609441" y="1377510"/>
            <a:ext cx="11199971" cy="311829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Imagen 8">
            <a:extLst>
              <a:ext uri="{FF2B5EF4-FFF2-40B4-BE49-F238E27FC236}">
                <a16:creationId xmlns:a16="http://schemas.microsoft.com/office/drawing/2014/main" id="{18853588-9BAA-91C4-4A79-9F54CC5E87EE}"/>
              </a:ext>
            </a:extLst>
          </p:cNvPr>
          <p:cNvPicPr>
            <a:picLocks noChangeAspect="1"/>
          </p:cNvPicPr>
          <p:nvPr/>
        </p:nvPicPr>
        <p:blipFill>
          <a:blip r:embed="rId4"/>
          <a:stretch>
            <a:fillRect/>
          </a:stretch>
        </p:blipFill>
        <p:spPr>
          <a:xfrm>
            <a:off x="807216" y="1582438"/>
            <a:ext cx="6545384" cy="2708434"/>
          </a:xfrm>
          <a:prstGeom prst="rect">
            <a:avLst/>
          </a:prstGeom>
        </p:spPr>
      </p:pic>
      <p:pic>
        <p:nvPicPr>
          <p:cNvPr id="11" name="Imagen 10">
            <a:extLst>
              <a:ext uri="{FF2B5EF4-FFF2-40B4-BE49-F238E27FC236}">
                <a16:creationId xmlns:a16="http://schemas.microsoft.com/office/drawing/2014/main" id="{063740EB-B0BA-1AC4-E18F-09B193AD0D9C}"/>
              </a:ext>
            </a:extLst>
          </p:cNvPr>
          <p:cNvPicPr>
            <a:picLocks noChangeAspect="1"/>
          </p:cNvPicPr>
          <p:nvPr/>
        </p:nvPicPr>
        <p:blipFill>
          <a:blip r:embed="rId5"/>
          <a:stretch>
            <a:fillRect/>
          </a:stretch>
        </p:blipFill>
        <p:spPr>
          <a:xfrm>
            <a:off x="7550375" y="1582438"/>
            <a:ext cx="3522530" cy="2708434"/>
          </a:xfrm>
          <a:prstGeom prst="rect">
            <a:avLst/>
          </a:prstGeom>
        </p:spPr>
      </p:pic>
      <p:sp>
        <p:nvSpPr>
          <p:cNvPr id="12" name="CuadroTexto 11">
            <a:extLst>
              <a:ext uri="{FF2B5EF4-FFF2-40B4-BE49-F238E27FC236}">
                <a16:creationId xmlns:a16="http://schemas.microsoft.com/office/drawing/2014/main" id="{59F653BA-AA38-729C-92F0-6C88B2EF6A8F}"/>
              </a:ext>
            </a:extLst>
          </p:cNvPr>
          <p:cNvSpPr txBox="1"/>
          <p:nvPr/>
        </p:nvSpPr>
        <p:spPr>
          <a:xfrm>
            <a:off x="609440" y="4603352"/>
            <a:ext cx="11199971" cy="1569660"/>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Comment results</a:t>
            </a:r>
          </a:p>
          <a:p>
            <a:pPr algn="just"/>
            <a:endParaRPr lang="en-US" sz="1000"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En </a:t>
            </a:r>
            <a:r>
              <a:rPr lang="en-US" sz="1000" dirty="0" err="1">
                <a:latin typeface="Arial" panose="020B0604020202020204" pitchFamily="34" charset="0"/>
                <a:cs typeface="Arial" panose="020B0604020202020204" pitchFamily="34" charset="0"/>
              </a:rPr>
              <a:t>este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caso</a:t>
            </a:r>
            <a:r>
              <a:rPr lang="en-US" sz="1000" dirty="0">
                <a:latin typeface="Arial" panose="020B0604020202020204" pitchFamily="34" charset="0"/>
                <a:cs typeface="Arial" panose="020B0604020202020204" pitchFamily="34" charset="0"/>
              </a:rPr>
              <a:t>, se ha </a:t>
            </a:r>
            <a:r>
              <a:rPr lang="en-US" sz="1000" dirty="0" err="1">
                <a:latin typeface="Arial" panose="020B0604020202020204" pitchFamily="34" charset="0"/>
                <a:cs typeface="Arial" panose="020B0604020202020204" pitchFamily="34" charset="0"/>
              </a:rPr>
              <a:t>realizado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una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optimización</a:t>
            </a:r>
            <a:r>
              <a:rPr lang="en-US" sz="1000" dirty="0">
                <a:latin typeface="Arial" panose="020B0604020202020204" pitchFamily="34" charset="0"/>
                <a:cs typeface="Arial" panose="020B0604020202020204" pitchFamily="34" charset="0"/>
              </a:rPr>
              <a:t> manual del </a:t>
            </a:r>
            <a:r>
              <a:rPr lang="en-US" sz="1000" dirty="0" err="1">
                <a:latin typeface="Arial" panose="020B0604020202020204" pitchFamily="34" charset="0"/>
                <a:cs typeface="Arial" panose="020B0604020202020204" pitchFamily="34" charset="0"/>
              </a:rPr>
              <a:t>acoplador</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ajustando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los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parámetros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dy</a:t>
            </a:r>
            <a:r>
              <a:rPr lang="en-US" sz="1000" dirty="0">
                <a:latin typeface="Arial" panose="020B0604020202020204" pitchFamily="34" charset="0"/>
                <a:cs typeface="Arial" panose="020B0604020202020204" pitchFamily="34" charset="0"/>
              </a:rPr>
              <a:t> y </a:t>
            </a:r>
            <a:r>
              <a:rPr lang="en-US" sz="1000" dirty="0" err="1">
                <a:latin typeface="Arial" panose="020B0604020202020204" pitchFamily="34" charset="0"/>
                <a:cs typeface="Arial" panose="020B0604020202020204" pitchFamily="34" charset="0"/>
              </a:rPr>
              <a:t>dL_MMI</a:t>
            </a:r>
            <a:r>
              <a:rPr lang="en-US" sz="1000" dirty="0">
                <a:latin typeface="Arial" panose="020B0604020202020204" pitchFamily="34" charset="0"/>
                <a:cs typeface="Arial" panose="020B0604020202020204" pitchFamily="34" charset="0"/>
              </a:rPr>
              <a:t> para </a:t>
            </a:r>
            <a:r>
              <a:rPr lang="en-US" sz="1000" dirty="0" err="1">
                <a:latin typeface="Arial" panose="020B0604020202020204" pitchFamily="34" charset="0"/>
                <a:cs typeface="Arial" panose="020B0604020202020204" pitchFamily="34" charset="0"/>
              </a:rPr>
              <a:t>mejorar</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reparto</a:t>
            </a:r>
            <a:r>
              <a:rPr lang="en-US" sz="1000" dirty="0">
                <a:latin typeface="Arial" panose="020B0604020202020204" pitchFamily="34" charset="0"/>
                <a:cs typeface="Arial" panose="020B0604020202020204" pitchFamily="34" charset="0"/>
              </a:rPr>
              <a:t> de </a:t>
            </a:r>
            <a:r>
              <a:rPr lang="en-US" sz="1000" dirty="0" err="1">
                <a:latin typeface="Arial" panose="020B0604020202020204" pitchFamily="34" charset="0"/>
                <a:cs typeface="Arial" panose="020B0604020202020204" pitchFamily="34" charset="0"/>
              </a:rPr>
              <a:t>potencia</a:t>
            </a:r>
            <a:r>
              <a:rPr lang="en-US" sz="1000" dirty="0">
                <a:latin typeface="Arial" panose="020B0604020202020204" pitchFamily="34" charset="0"/>
                <a:cs typeface="Arial" panose="020B0604020202020204" pitchFamily="34" charset="0"/>
              </a:rPr>
              <a:t> entre las </a:t>
            </a:r>
            <a:r>
              <a:rPr lang="en-US" sz="1000" dirty="0" err="1">
                <a:latin typeface="Arial" panose="020B0604020202020204" pitchFamily="34" charset="0"/>
                <a:cs typeface="Arial" panose="020B0604020202020204" pitchFamily="34" charset="0"/>
              </a:rPr>
              <a:t>salidas</a:t>
            </a:r>
            <a:r>
              <a:rPr lang="en-US" sz="1000" dirty="0">
                <a:latin typeface="Arial" panose="020B0604020202020204" pitchFamily="34" charset="0"/>
                <a:cs typeface="Arial" panose="020B0604020202020204" pitchFamily="34" charset="0"/>
              </a:rPr>
              <a:t> y </a:t>
            </a:r>
            <a:r>
              <a:rPr lang="en-US" sz="1000" dirty="0" err="1">
                <a:latin typeface="Arial" panose="020B0604020202020204" pitchFamily="34" charset="0"/>
                <a:cs typeface="Arial" panose="020B0604020202020204" pitchFamily="34" charset="0"/>
              </a:rPr>
              <a:t>reducir</a:t>
            </a:r>
            <a:r>
              <a:rPr lang="en-US" sz="1000" dirty="0">
                <a:latin typeface="Arial" panose="020B0604020202020204" pitchFamily="34" charset="0"/>
                <a:cs typeface="Arial" panose="020B0604020202020204" pitchFamily="34" charset="0"/>
              </a:rPr>
              <a:t> las </a:t>
            </a:r>
            <a:r>
              <a:rPr lang="en-US" sz="1000" dirty="0" err="1">
                <a:latin typeface="Arial" panose="020B0604020202020204" pitchFamily="34" charset="0"/>
                <a:cs typeface="Arial" panose="020B0604020202020204" pitchFamily="34" charset="0"/>
              </a:rPr>
              <a:t>pérdidas</a:t>
            </a:r>
            <a:r>
              <a:rPr lang="en-US" sz="1000" dirty="0">
                <a:latin typeface="Arial" panose="020B0604020202020204" pitchFamily="34" charset="0"/>
                <a:cs typeface="Arial" panose="020B0604020202020204" pitchFamily="34" charset="0"/>
              </a:rPr>
              <a:t>. </a:t>
            </a:r>
          </a:p>
          <a:p>
            <a:pPr algn="just"/>
            <a:endParaRPr lang="en-US" sz="1000"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Tras </a:t>
            </a:r>
            <a:r>
              <a:rPr lang="en-US" sz="1000" dirty="0" err="1">
                <a:latin typeface="Arial" panose="020B0604020202020204" pitchFamily="34" charset="0"/>
                <a:cs typeface="Arial" panose="020B0604020202020204" pitchFamily="34" charset="0"/>
              </a:rPr>
              <a:t>varias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iteraciones</a:t>
            </a:r>
            <a:r>
              <a:rPr lang="en-US" sz="1000" dirty="0">
                <a:latin typeface="Arial" panose="020B0604020202020204" pitchFamily="34" charset="0"/>
                <a:cs typeface="Arial" panose="020B0604020202020204" pitchFamily="34" charset="0"/>
              </a:rPr>
              <a:t>, se ha </a:t>
            </a:r>
            <a:r>
              <a:rPr lang="en-US" sz="1000" dirty="0" err="1">
                <a:latin typeface="Arial" panose="020B0604020202020204" pitchFamily="34" charset="0"/>
                <a:cs typeface="Arial" panose="020B0604020202020204" pitchFamily="34" charset="0"/>
              </a:rPr>
              <a:t>conseguido</a:t>
            </a:r>
            <a:r>
              <a:rPr lang="en-US" sz="1000" dirty="0">
                <a:latin typeface="Arial" panose="020B0604020202020204" pitchFamily="34" charset="0"/>
                <a:cs typeface="Arial" panose="020B0604020202020204" pitchFamily="34" charset="0"/>
              </a:rPr>
              <a:t> un </a:t>
            </a:r>
            <a:r>
              <a:rPr lang="en-US" sz="1000" dirty="0" err="1">
                <a:latin typeface="Arial" panose="020B0604020202020204" pitchFamily="34" charset="0"/>
                <a:cs typeface="Arial" panose="020B0604020202020204" pitchFamily="34" charset="0"/>
              </a:rPr>
              <a:t>reparto</a:t>
            </a:r>
            <a:r>
              <a:rPr lang="en-US" sz="1000" dirty="0">
                <a:latin typeface="Arial" panose="020B0604020202020204" pitchFamily="34" charset="0"/>
                <a:cs typeface="Arial" panose="020B0604020202020204" pitchFamily="34" charset="0"/>
              </a:rPr>
              <a:t> de </a:t>
            </a:r>
            <a:r>
              <a:rPr lang="en-US" sz="1000" dirty="0" err="1">
                <a:latin typeface="Arial" panose="020B0604020202020204" pitchFamily="34" charset="0"/>
                <a:cs typeface="Arial" panose="020B0604020202020204" pitchFamily="34" charset="0"/>
              </a:rPr>
              <a:t>potencia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prácticamente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equitativo</a:t>
            </a:r>
            <a:r>
              <a:rPr lang="en-US" sz="1000" dirty="0">
                <a:latin typeface="Arial" panose="020B0604020202020204" pitchFamily="34" charset="0"/>
                <a:cs typeface="Arial" panose="020B0604020202020204" pitchFamily="34" charset="0"/>
              </a:rPr>
              <a:t> (0.5/0.49), con </a:t>
            </a:r>
            <a:r>
              <a:rPr lang="en-US" sz="1000" dirty="0" err="1">
                <a:latin typeface="Arial" panose="020B0604020202020204" pitchFamily="34" charset="0"/>
                <a:cs typeface="Arial" panose="020B0604020202020204" pitchFamily="34" charset="0"/>
              </a:rPr>
              <a:t>unas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pérdidas</a:t>
            </a:r>
            <a:r>
              <a:rPr lang="en-US" sz="1000" dirty="0">
                <a:latin typeface="Arial" panose="020B0604020202020204" pitchFamily="34" charset="0"/>
                <a:cs typeface="Arial" panose="020B0604020202020204" pitchFamily="34" charset="0"/>
              </a:rPr>
              <a:t> de 0.33 </a:t>
            </a:r>
            <a:r>
              <a:rPr lang="en-US" sz="1000" dirty="0" err="1">
                <a:latin typeface="Arial" panose="020B0604020202020204" pitchFamily="34" charset="0"/>
                <a:cs typeface="Arial" panose="020B0604020202020204" pitchFamily="34" charset="0"/>
              </a:rPr>
              <a:t>dB.</a:t>
            </a:r>
            <a:r>
              <a:rPr lang="en-US" sz="1000" dirty="0">
                <a:latin typeface="Arial" panose="020B0604020202020204" pitchFamily="34" charset="0"/>
                <a:cs typeface="Arial" panose="020B0604020202020204" pitchFamily="34" charset="0"/>
              </a:rPr>
              <a:t> Este </a:t>
            </a:r>
            <a:r>
              <a:rPr lang="en-US" sz="1000" dirty="0" err="1">
                <a:latin typeface="Arial" panose="020B0604020202020204" pitchFamily="34" charset="0"/>
                <a:cs typeface="Arial" panose="020B0604020202020204" pitchFamily="34" charset="0"/>
              </a:rPr>
              <a:t>resultado</a:t>
            </a:r>
            <a:r>
              <a:rPr lang="en-US" sz="1000" dirty="0">
                <a:latin typeface="Arial" panose="020B0604020202020204" pitchFamily="34" charset="0"/>
                <a:cs typeface="Arial" panose="020B0604020202020204" pitchFamily="34" charset="0"/>
              </a:rPr>
              <a:t> se </a:t>
            </a:r>
            <a:r>
              <a:rPr lang="en-US" sz="1000" dirty="0" err="1">
                <a:latin typeface="Arial" panose="020B0604020202020204" pitchFamily="34" charset="0"/>
                <a:cs typeface="Arial" panose="020B0604020202020204" pitchFamily="34" charset="0"/>
              </a:rPr>
              <a:t>obtiene</a:t>
            </a:r>
            <a:r>
              <a:rPr lang="en-US" sz="1000" dirty="0">
                <a:latin typeface="Arial" panose="020B0604020202020204" pitchFamily="34" charset="0"/>
                <a:cs typeface="Arial" panose="020B0604020202020204" pitchFamily="34" charset="0"/>
              </a:rPr>
              <a:t> para </a:t>
            </a:r>
            <a:r>
              <a:rPr lang="en-US" sz="1000" dirty="0" err="1">
                <a:latin typeface="Arial" panose="020B0604020202020204" pitchFamily="34" charset="0"/>
                <a:cs typeface="Arial" panose="020B0604020202020204" pitchFamily="34" charset="0"/>
              </a:rPr>
              <a:t>valores</a:t>
            </a:r>
            <a:r>
              <a:rPr lang="en-US" sz="1000" dirty="0">
                <a:latin typeface="Arial" panose="020B0604020202020204" pitchFamily="34" charset="0"/>
                <a:cs typeface="Arial" panose="020B0604020202020204" pitchFamily="34" charset="0"/>
              </a:rPr>
              <a:t> de </a:t>
            </a:r>
            <a:r>
              <a:rPr lang="en-US" sz="1000" dirty="0" err="1">
                <a:latin typeface="Arial" panose="020B0604020202020204" pitchFamily="34" charset="0"/>
                <a:cs typeface="Arial" panose="020B0604020202020204" pitchFamily="34" charset="0"/>
              </a:rPr>
              <a:t>dy</a:t>
            </a:r>
            <a:r>
              <a:rPr lang="en-US" sz="1000" dirty="0">
                <a:latin typeface="Arial" panose="020B0604020202020204" pitchFamily="34" charset="0"/>
                <a:cs typeface="Arial" panose="020B0604020202020204" pitchFamily="34" charset="0"/>
              </a:rPr>
              <a:t> = 0.09 y </a:t>
            </a:r>
            <a:r>
              <a:rPr lang="en-US" sz="1000" dirty="0" err="1">
                <a:latin typeface="Arial" panose="020B0604020202020204" pitchFamily="34" charset="0"/>
                <a:cs typeface="Arial" panose="020B0604020202020204" pitchFamily="34" charset="0"/>
              </a:rPr>
              <a:t>dL_MMI</a:t>
            </a:r>
            <a:r>
              <a:rPr lang="en-US" sz="1000" dirty="0">
                <a:latin typeface="Arial" panose="020B0604020202020204" pitchFamily="34" charset="0"/>
                <a:cs typeface="Arial" panose="020B0604020202020204" pitchFamily="34" charset="0"/>
              </a:rPr>
              <a:t> = -0.8. Se </a:t>
            </a:r>
            <a:r>
              <a:rPr lang="en-US" sz="1000" dirty="0" err="1">
                <a:latin typeface="Arial" panose="020B0604020202020204" pitchFamily="34" charset="0"/>
                <a:cs typeface="Arial" panose="020B0604020202020204" pitchFamily="34" charset="0"/>
              </a:rPr>
              <a:t>observa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que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pequeños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ajustes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en</a:t>
            </a:r>
            <a:r>
              <a:rPr lang="en-US" sz="1000" dirty="0">
                <a:latin typeface="Arial" panose="020B0604020202020204" pitchFamily="34" charset="0"/>
                <a:cs typeface="Arial" panose="020B0604020202020204" pitchFamily="34" charset="0"/>
              </a:rPr>
              <a:t> la </a:t>
            </a:r>
            <a:r>
              <a:rPr lang="en-US" sz="1000" dirty="0" err="1">
                <a:latin typeface="Arial" panose="020B0604020202020204" pitchFamily="34" charset="0"/>
                <a:cs typeface="Arial" panose="020B0604020202020204" pitchFamily="34" charset="0"/>
              </a:rPr>
              <a:t>posición</a:t>
            </a:r>
            <a:r>
              <a:rPr lang="en-US" sz="1000" dirty="0">
                <a:latin typeface="Arial" panose="020B0604020202020204" pitchFamily="34" charset="0"/>
                <a:cs typeface="Arial" panose="020B0604020202020204" pitchFamily="34" charset="0"/>
              </a:rPr>
              <a:t> de las </a:t>
            </a:r>
            <a:r>
              <a:rPr lang="en-US" sz="1000" dirty="0" err="1">
                <a:latin typeface="Arial" panose="020B0604020202020204" pitchFamily="34" charset="0"/>
                <a:cs typeface="Arial" panose="020B0604020202020204" pitchFamily="34" charset="0"/>
              </a:rPr>
              <a:t>guías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dy</a:t>
            </a:r>
            <a:r>
              <a:rPr lang="en-US"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permiten mejorar la simetría del acoplo, mientras que la longitud efectiva del MMI (</a:t>
            </a:r>
            <a:r>
              <a:rPr lang="es-ES" sz="1000" i="1" dirty="0" err="1">
                <a:latin typeface="Arial" panose="020B0604020202020204" pitchFamily="34" charset="0"/>
                <a:cs typeface="Arial" panose="020B0604020202020204" pitchFamily="34" charset="0"/>
              </a:rPr>
              <a:t>dL_MMI</a:t>
            </a:r>
            <a:r>
              <a:rPr lang="es-ES" sz="1000" dirty="0">
                <a:latin typeface="Arial" panose="020B0604020202020204" pitchFamily="34" charset="0"/>
                <a:cs typeface="Arial" panose="020B0604020202020204" pitchFamily="34" charset="0"/>
              </a:rPr>
              <a:t>) influye en la formación de las autoimágenes, afectando directamente al reparto de potencia en las salidas.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8521575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A9819-E058-DC4F-FB99-88F20442D9F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E1662E38-DE72-ADF3-A38E-08ED40DCC2AD}"/>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#6.3 – 2x2 Multimode Interference Coupler – Optimization (II)</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1CD4B005-DA76-DF7C-8A51-CA16DFD2CA3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B06F952-20FD-3223-6AB8-83339507AFE8}"/>
              </a:ext>
            </a:extLst>
          </p:cNvPr>
          <p:cNvSpPr>
            <a:spLocks noGrp="1"/>
          </p:cNvSpPr>
          <p:nvPr>
            <p:ph type="sldNum" sz="quarter" idx="7"/>
          </p:nvPr>
        </p:nvSpPr>
        <p:spPr/>
        <p:txBody>
          <a:bodyPr/>
          <a:lstStyle/>
          <a:p>
            <a:fld id="{B6F15528-21DE-4FAA-801E-634DDDAF4B2B}" type="slidenum">
              <a:rPr lang="es-ES" smtClean="0"/>
              <a:t>20</a:t>
            </a:fld>
            <a:endParaRPr lang="es-ES"/>
          </a:p>
        </p:txBody>
      </p:sp>
      <p:sp>
        <p:nvSpPr>
          <p:cNvPr id="3" name="Marcador de pie de página 2">
            <a:extLst>
              <a:ext uri="{FF2B5EF4-FFF2-40B4-BE49-F238E27FC236}">
                <a16:creationId xmlns:a16="http://schemas.microsoft.com/office/drawing/2014/main" id="{8B06152F-2A2C-A19B-581F-494FDFF33752}"/>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7" name="Rectángulo 6">
            <a:extLst>
              <a:ext uri="{FF2B5EF4-FFF2-40B4-BE49-F238E27FC236}">
                <a16:creationId xmlns:a16="http://schemas.microsoft.com/office/drawing/2014/main" id="{C8036B97-F577-1F3C-3CE2-BD45F7D1FFC2}"/>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Imagen 8">
            <a:extLst>
              <a:ext uri="{FF2B5EF4-FFF2-40B4-BE49-F238E27FC236}">
                <a16:creationId xmlns:a16="http://schemas.microsoft.com/office/drawing/2014/main" id="{8E93F285-4DE0-2EF7-F9F7-2C22D1DE2F05}"/>
              </a:ext>
            </a:extLst>
          </p:cNvPr>
          <p:cNvPicPr>
            <a:picLocks noChangeAspect="1"/>
          </p:cNvPicPr>
          <p:nvPr/>
        </p:nvPicPr>
        <p:blipFill>
          <a:blip r:embed="rId4"/>
          <a:stretch>
            <a:fillRect/>
          </a:stretch>
        </p:blipFill>
        <p:spPr>
          <a:xfrm>
            <a:off x="685800" y="1690317"/>
            <a:ext cx="6595538" cy="2708434"/>
          </a:xfrm>
          <a:prstGeom prst="rect">
            <a:avLst/>
          </a:prstGeom>
        </p:spPr>
      </p:pic>
      <p:pic>
        <p:nvPicPr>
          <p:cNvPr id="11" name="Imagen 10">
            <a:extLst>
              <a:ext uri="{FF2B5EF4-FFF2-40B4-BE49-F238E27FC236}">
                <a16:creationId xmlns:a16="http://schemas.microsoft.com/office/drawing/2014/main" id="{AD1442A2-C538-C78E-67BD-BFA8ED02BCF3}"/>
              </a:ext>
            </a:extLst>
          </p:cNvPr>
          <p:cNvPicPr>
            <a:picLocks noChangeAspect="1"/>
          </p:cNvPicPr>
          <p:nvPr/>
        </p:nvPicPr>
        <p:blipFill>
          <a:blip r:embed="rId5"/>
          <a:stretch>
            <a:fillRect/>
          </a:stretch>
        </p:blipFill>
        <p:spPr>
          <a:xfrm>
            <a:off x="7455299" y="1524000"/>
            <a:ext cx="3999282" cy="2966680"/>
          </a:xfrm>
          <a:prstGeom prst="rect">
            <a:avLst/>
          </a:prstGeom>
        </p:spPr>
      </p:pic>
    </p:spTree>
    <p:extLst>
      <p:ext uri="{BB962C8B-B14F-4D97-AF65-F5344CB8AC3E}">
        <p14:creationId xmlns:p14="http://schemas.microsoft.com/office/powerpoint/2010/main" val="10237312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D77A80-5995-D3B8-FF2C-04D20FE0191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A7EA34DB-0764-B541-6F66-40D9F7EF3865}"/>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#6.3 – 2x2 Multimode Interference Coupler – Optimization (II)</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9116F70E-1098-61AE-7259-907D2AF7A3F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750473D3-9CAA-B3AF-A9AC-7AB62C34A511}"/>
              </a:ext>
            </a:extLst>
          </p:cNvPr>
          <p:cNvSpPr>
            <a:spLocks noGrp="1"/>
          </p:cNvSpPr>
          <p:nvPr>
            <p:ph type="sldNum" sz="quarter" idx="7"/>
          </p:nvPr>
        </p:nvSpPr>
        <p:spPr/>
        <p:txBody>
          <a:bodyPr/>
          <a:lstStyle/>
          <a:p>
            <a:fld id="{B6F15528-21DE-4FAA-801E-634DDDAF4B2B}" type="slidenum">
              <a:rPr lang="es-ES" smtClean="0"/>
              <a:t>21</a:t>
            </a:fld>
            <a:endParaRPr lang="es-ES"/>
          </a:p>
        </p:txBody>
      </p:sp>
      <p:sp>
        <p:nvSpPr>
          <p:cNvPr id="3" name="Marcador de pie de página 2">
            <a:extLst>
              <a:ext uri="{FF2B5EF4-FFF2-40B4-BE49-F238E27FC236}">
                <a16:creationId xmlns:a16="http://schemas.microsoft.com/office/drawing/2014/main" id="{9AEFF23A-FF19-6810-786A-9A11FB44615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6D190916-6718-03F4-1610-7EC3D7407CD6}"/>
              </a:ext>
            </a:extLst>
          </p:cNvPr>
          <p:cNvSpPr txBox="1"/>
          <p:nvPr/>
        </p:nvSpPr>
        <p:spPr>
          <a:xfrm>
            <a:off x="496014" y="1371600"/>
            <a:ext cx="11199971" cy="2000548"/>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Comment results</a:t>
            </a:r>
          </a:p>
          <a:p>
            <a:pPr algn="just"/>
            <a:endParaRPr lang="en-US" sz="1200" b="1" i="1"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En </a:t>
            </a:r>
            <a:r>
              <a:rPr lang="en-US" sz="1000" dirty="0" err="1">
                <a:latin typeface="Arial" panose="020B0604020202020204" pitchFamily="34" charset="0"/>
                <a:cs typeface="Arial" panose="020B0604020202020204" pitchFamily="34" charset="0"/>
              </a:rPr>
              <a:t>este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último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apartado</a:t>
            </a:r>
            <a:r>
              <a:rPr lang="en-US" sz="1000" dirty="0">
                <a:latin typeface="Arial" panose="020B0604020202020204" pitchFamily="34" charset="0"/>
                <a:cs typeface="Arial" panose="020B0604020202020204" pitchFamily="34" charset="0"/>
              </a:rPr>
              <a:t> se ha </a:t>
            </a:r>
            <a:r>
              <a:rPr lang="en-US" sz="1000" dirty="0" err="1">
                <a:latin typeface="Arial" panose="020B0604020202020204" pitchFamily="34" charset="0"/>
                <a:cs typeface="Arial" panose="020B0604020202020204" pitchFamily="34" charset="0"/>
              </a:rPr>
              <a:t>llevado</a:t>
            </a:r>
            <a:r>
              <a:rPr lang="en-US" sz="1000" dirty="0">
                <a:latin typeface="Arial" panose="020B0604020202020204" pitchFamily="34" charset="0"/>
                <a:cs typeface="Arial" panose="020B0604020202020204" pitchFamily="34" charset="0"/>
              </a:rPr>
              <a:t> a </a:t>
            </a:r>
            <a:r>
              <a:rPr lang="en-US" sz="1000" dirty="0" err="1">
                <a:latin typeface="Arial" panose="020B0604020202020204" pitchFamily="34" charset="0"/>
                <a:cs typeface="Arial" panose="020B0604020202020204" pitchFamily="34" charset="0"/>
              </a:rPr>
              <a:t>cabo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una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optimización</a:t>
            </a:r>
            <a:r>
              <a:rPr lang="en-US" sz="1000" dirty="0">
                <a:latin typeface="Arial" panose="020B0604020202020204" pitchFamily="34" charset="0"/>
                <a:cs typeface="Arial" panose="020B0604020202020204" pitchFamily="34" charset="0"/>
              </a:rPr>
              <a:t> mas </a:t>
            </a:r>
            <a:r>
              <a:rPr lang="en-US" sz="1000" dirty="0" err="1">
                <a:latin typeface="Arial" panose="020B0604020202020204" pitchFamily="34" charset="0"/>
                <a:cs typeface="Arial" panose="020B0604020202020204" pitchFamily="34" charset="0"/>
              </a:rPr>
              <a:t>avanzada</a:t>
            </a:r>
            <a:r>
              <a:rPr lang="en-US" sz="1000" dirty="0">
                <a:latin typeface="Arial" panose="020B0604020202020204" pitchFamily="34" charset="0"/>
                <a:cs typeface="Arial" panose="020B0604020202020204" pitchFamily="34" charset="0"/>
              </a:rPr>
              <a:t> del </a:t>
            </a:r>
            <a:r>
              <a:rPr lang="en-US" sz="1000" dirty="0" err="1">
                <a:latin typeface="Arial" panose="020B0604020202020204" pitchFamily="34" charset="0"/>
                <a:cs typeface="Arial" panose="020B0604020202020204" pitchFamily="34" charset="0"/>
              </a:rPr>
              <a:t>acoplador</a:t>
            </a:r>
            <a:r>
              <a:rPr lang="en-US" sz="1000" dirty="0">
                <a:latin typeface="Arial" panose="020B0604020202020204" pitchFamily="34" charset="0"/>
                <a:cs typeface="Arial" panose="020B0604020202020204" pitchFamily="34" charset="0"/>
              </a:rPr>
              <a:t> MMI, </a:t>
            </a:r>
            <a:r>
              <a:rPr lang="en-US" sz="1000" dirty="0" err="1">
                <a:latin typeface="Arial" panose="020B0604020202020204" pitchFamily="34" charset="0"/>
                <a:cs typeface="Arial" panose="020B0604020202020204" pitchFamily="34" charset="0"/>
              </a:rPr>
              <a:t>combinando</a:t>
            </a:r>
            <a:r>
              <a:rPr lang="en-US" sz="1000" dirty="0">
                <a:latin typeface="Arial" panose="020B0604020202020204" pitchFamily="34" charset="0"/>
                <a:cs typeface="Arial" panose="020B0604020202020204" pitchFamily="34" charset="0"/>
              </a:rPr>
              <a:t> la </a:t>
            </a:r>
            <a:r>
              <a:rPr lang="en-US" sz="1000" dirty="0" err="1">
                <a:latin typeface="Arial" panose="020B0604020202020204" pitchFamily="34" charset="0"/>
                <a:cs typeface="Arial" panose="020B0604020202020204" pitchFamily="34" charset="0"/>
              </a:rPr>
              <a:t>optimización</a:t>
            </a:r>
            <a:r>
              <a:rPr lang="en-US" sz="1000" dirty="0">
                <a:latin typeface="Arial" panose="020B0604020202020204" pitchFamily="34" charset="0"/>
                <a:cs typeface="Arial" panose="020B0604020202020204" pitchFamily="34" charset="0"/>
              </a:rPr>
              <a:t> manual del </a:t>
            </a:r>
            <a:r>
              <a:rPr lang="en-US" sz="1000" dirty="0" err="1">
                <a:latin typeface="Arial" panose="020B0604020202020204" pitchFamily="34" charset="0"/>
                <a:cs typeface="Arial" panose="020B0604020202020204" pitchFamily="34" charset="0"/>
              </a:rPr>
              <a:t>parámetros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geométricos</a:t>
            </a:r>
            <a:r>
              <a:rPr lang="en-US" sz="1000" dirty="0">
                <a:latin typeface="Arial" panose="020B0604020202020204" pitchFamily="34" charset="0"/>
                <a:cs typeface="Arial" panose="020B0604020202020204" pitchFamily="34" charset="0"/>
              </a:rPr>
              <a:t> con </a:t>
            </a:r>
            <a:r>
              <a:rPr lang="es-ES" sz="1000" dirty="0">
                <a:latin typeface="Arial" panose="020B0604020202020204" pitchFamily="34" charset="0"/>
                <a:cs typeface="Arial" panose="020B0604020202020204" pitchFamily="34" charset="0"/>
              </a:rPr>
              <a:t>la modificación del ancho de las guías de entrada y salida.</a:t>
            </a:r>
            <a:r>
              <a:rPr lang="en-US" sz="1000" dirty="0">
                <a:latin typeface="Arial" panose="020B0604020202020204" pitchFamily="34" charset="0"/>
                <a:cs typeface="Arial" panose="020B0604020202020204" pitchFamily="34" charset="0"/>
              </a:rPr>
              <a:t> En </a:t>
            </a:r>
            <a:r>
              <a:rPr lang="en-US" sz="1000" dirty="0" err="1">
                <a:latin typeface="Arial" panose="020B0604020202020204" pitchFamily="34" charset="0"/>
                <a:cs typeface="Arial" panose="020B0604020202020204" pitchFamily="34" charset="0"/>
              </a:rPr>
              <a:t>concreto</a:t>
            </a:r>
            <a:r>
              <a:rPr lang="en-US" sz="1000" dirty="0">
                <a:latin typeface="Arial" panose="020B0604020202020204" pitchFamily="34" charset="0"/>
                <a:cs typeface="Arial" panose="020B0604020202020204" pitchFamily="34" charset="0"/>
              </a:rPr>
              <a:t>, se ha </a:t>
            </a:r>
            <a:r>
              <a:rPr lang="en-US" sz="1000" dirty="0" err="1">
                <a:latin typeface="Arial" panose="020B0604020202020204" pitchFamily="34" charset="0"/>
                <a:cs typeface="Arial" panose="020B0604020202020204" pitchFamily="34" charset="0"/>
              </a:rPr>
              <a:t>usado</a:t>
            </a:r>
            <a:r>
              <a:rPr lang="en-US" sz="1000" dirty="0">
                <a:latin typeface="Arial" panose="020B0604020202020204" pitchFamily="34" charset="0"/>
                <a:cs typeface="Arial" panose="020B0604020202020204" pitchFamily="34" charset="0"/>
              </a:rPr>
              <a:t> un </a:t>
            </a:r>
            <a:r>
              <a:rPr lang="en-US" sz="1000" dirty="0" err="1">
                <a:latin typeface="Arial" panose="020B0604020202020204" pitchFamily="34" charset="0"/>
                <a:cs typeface="Arial" panose="020B0604020202020204" pitchFamily="34" charset="0"/>
              </a:rPr>
              <a:t>incremento</a:t>
            </a:r>
            <a:r>
              <a:rPr lang="en-US" sz="1000" dirty="0">
                <a:latin typeface="Arial" panose="020B0604020202020204" pitchFamily="34" charset="0"/>
                <a:cs typeface="Arial" panose="020B0604020202020204" pitchFamily="34" charset="0"/>
              </a:rPr>
              <a:t> de ancho de 1.2 um, junto con </a:t>
            </a:r>
            <a:r>
              <a:rPr lang="en-US" sz="1000" dirty="0" err="1">
                <a:latin typeface="Arial" panose="020B0604020202020204" pitchFamily="34" charset="0"/>
                <a:cs typeface="Arial" panose="020B0604020202020204" pitchFamily="34" charset="0"/>
              </a:rPr>
              <a:t>valores</a:t>
            </a:r>
            <a:r>
              <a:rPr lang="en-US" sz="1000" dirty="0">
                <a:latin typeface="Arial" panose="020B0604020202020204" pitchFamily="34" charset="0"/>
                <a:cs typeface="Arial" panose="020B0604020202020204" pitchFamily="34" charset="0"/>
              </a:rPr>
              <a:t> de </a:t>
            </a:r>
            <a:r>
              <a:rPr lang="en-US" sz="1000" dirty="0" err="1">
                <a:latin typeface="Arial" panose="020B0604020202020204" pitchFamily="34" charset="0"/>
                <a:cs typeface="Arial" panose="020B0604020202020204" pitchFamily="34" charset="0"/>
              </a:rPr>
              <a:t>dy</a:t>
            </a:r>
            <a:r>
              <a:rPr lang="en-US" sz="1000" dirty="0">
                <a:latin typeface="Arial" panose="020B0604020202020204" pitchFamily="34" charset="0"/>
                <a:cs typeface="Arial" panose="020B0604020202020204" pitchFamily="34" charset="0"/>
              </a:rPr>
              <a:t> = 0.15, y </a:t>
            </a:r>
            <a:r>
              <a:rPr lang="en-US" sz="1000" dirty="0" err="1">
                <a:latin typeface="Arial" panose="020B0604020202020204" pitchFamily="34" charset="0"/>
                <a:cs typeface="Arial" panose="020B0604020202020204" pitchFamily="34" charset="0"/>
              </a:rPr>
              <a:t>dL_MMI</a:t>
            </a:r>
            <a:r>
              <a:rPr lang="en-US" sz="1000" dirty="0">
                <a:latin typeface="Arial" panose="020B0604020202020204" pitchFamily="34" charset="0"/>
                <a:cs typeface="Arial" panose="020B0604020202020204" pitchFamily="34" charset="0"/>
              </a:rPr>
              <a:t> = 0.1.</a:t>
            </a:r>
          </a:p>
          <a:p>
            <a:pPr algn="just"/>
            <a:endParaRPr lang="en-U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Este cambio en el ancho de las guías y del ajuste de los </a:t>
            </a:r>
            <a:r>
              <a:rPr lang="es-ES" sz="1000">
                <a:latin typeface="Arial" panose="020B0604020202020204" pitchFamily="34" charset="0"/>
                <a:cs typeface="Arial" panose="020B0604020202020204" pitchFamily="34" charset="0"/>
              </a:rPr>
              <a:t>parámetros geométricos </a:t>
            </a:r>
            <a:r>
              <a:rPr lang="es-ES" sz="1000" dirty="0">
                <a:latin typeface="Arial" panose="020B0604020202020204" pitchFamily="34" charset="0"/>
                <a:cs typeface="Arial" panose="020B0604020202020204" pitchFamily="34" charset="0"/>
              </a:rPr>
              <a:t>implica una modificación de los modos propagados en la estructura, lo que permite mejorar el acoplo y optimizar la interferencia dentro del MMI. Como resultado, se ha obtenido una distribución de potencia prácticamente equitativa entre las salidas (0.5 / 0.5) y unas pérdidas reducidas de aproximadamente 0.08 dB, cumpliendo así con las especificaciones requeridas.</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Por último, se observa que el aumento del ancho de las guías contribuye principalmente a la reducción de las pérdidas del dispositivo, mientras que el reparto de potencia entre las salidas depende en mayor medida de los parámetros </a:t>
            </a:r>
            <a:r>
              <a:rPr lang="es-ES" sz="1000" dirty="0" err="1">
                <a:latin typeface="Arial" panose="020B0604020202020204" pitchFamily="34" charset="0"/>
                <a:cs typeface="Arial" panose="020B0604020202020204" pitchFamily="34" charset="0"/>
              </a:rPr>
              <a:t>dy</a:t>
            </a:r>
            <a:r>
              <a:rPr lang="es-ES" sz="1000" dirty="0">
                <a:latin typeface="Arial" panose="020B0604020202020204" pitchFamily="34" charset="0"/>
                <a:cs typeface="Arial" panose="020B0604020202020204" pitchFamily="34" charset="0"/>
              </a:rPr>
              <a:t> y </a:t>
            </a:r>
            <a:r>
              <a:rPr lang="es-ES" sz="1000" dirty="0" err="1">
                <a:latin typeface="Arial" panose="020B0604020202020204" pitchFamily="34" charset="0"/>
                <a:cs typeface="Arial" panose="020B0604020202020204" pitchFamily="34" charset="0"/>
              </a:rPr>
              <a:t>dL_MMI</a:t>
            </a:r>
            <a:r>
              <a:rPr lang="es-ES" sz="1000" dirty="0">
                <a:latin typeface="Arial" panose="020B0604020202020204" pitchFamily="34" charset="0"/>
                <a:cs typeface="Arial" panose="020B0604020202020204" pitchFamily="34" charset="0"/>
              </a:rPr>
              <a:t>, siendo especialmente sensible al valor de </a:t>
            </a:r>
            <a:r>
              <a:rPr lang="es-ES" sz="1000" dirty="0" err="1">
                <a:latin typeface="Arial" panose="020B0604020202020204" pitchFamily="34" charset="0"/>
                <a:cs typeface="Arial" panose="020B0604020202020204" pitchFamily="34" charset="0"/>
              </a:rPr>
              <a:t>dy</a:t>
            </a:r>
            <a:r>
              <a:rPr lang="es-ES" sz="1000" dirty="0">
                <a:latin typeface="Arial" panose="020B0604020202020204" pitchFamily="34" charset="0"/>
                <a:cs typeface="Arial" panose="020B0604020202020204" pitchFamily="34" charset="0"/>
              </a:rPr>
              <a:t>.</a:t>
            </a:r>
            <a:endParaRPr lang="en-US" sz="1000" dirty="0">
              <a:latin typeface="Arial" panose="020B0604020202020204" pitchFamily="34" charset="0"/>
              <a:cs typeface="Arial" panose="020B0604020202020204" pitchFamily="34" charset="0"/>
            </a:endParaRPr>
          </a:p>
          <a:p>
            <a:pPr algn="just"/>
            <a:endParaRPr lang="en-US" sz="1000" i="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0246427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A1363-C83E-82B6-7BDE-AD2801F8B66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E256546-3103-104D-A87F-78AEBE5D595E}"/>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#7 – 1x4 Multimode Interference Coupler </a:t>
            </a:r>
            <a:br>
              <a:rPr lang="en-US" sz="2500" dirty="0"/>
            </a:br>
            <a:r>
              <a:rPr lang="en-US" b="0" dirty="0"/>
              <a:t>Wavelength 1.55 µm, </a:t>
            </a:r>
            <a:r>
              <a:rPr lang="en-US" b="0" dirty="0" err="1"/>
              <a:t>wMMI</a:t>
            </a:r>
            <a:r>
              <a:rPr lang="en-US" b="0" dirty="0"/>
              <a:t> = ? µm</a:t>
            </a:r>
            <a:endParaRPr lang="en-US" sz="2500" b="0" dirty="0">
              <a:latin typeface="+mj-lt"/>
              <a:cs typeface="Lucida Sans"/>
            </a:endParaRPr>
          </a:p>
        </p:txBody>
      </p:sp>
      <p:pic>
        <p:nvPicPr>
          <p:cNvPr id="83" name="Gráfico 82">
            <a:extLst>
              <a:ext uri="{FF2B5EF4-FFF2-40B4-BE49-F238E27FC236}">
                <a16:creationId xmlns:a16="http://schemas.microsoft.com/office/drawing/2014/main" id="{4BFCA3D8-29F6-7091-7099-77888A9F863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2E75535-0FBC-4C5F-9AC5-7008914FCF56}"/>
              </a:ext>
            </a:extLst>
          </p:cNvPr>
          <p:cNvSpPr>
            <a:spLocks noGrp="1"/>
          </p:cNvSpPr>
          <p:nvPr>
            <p:ph type="sldNum" sz="quarter" idx="7"/>
          </p:nvPr>
        </p:nvSpPr>
        <p:spPr/>
        <p:txBody>
          <a:bodyPr/>
          <a:lstStyle/>
          <a:p>
            <a:fld id="{B6F15528-21DE-4FAA-801E-634DDDAF4B2B}" type="slidenum">
              <a:rPr lang="es-ES" smtClean="0"/>
              <a:t>22</a:t>
            </a:fld>
            <a:endParaRPr lang="es-ES"/>
          </a:p>
        </p:txBody>
      </p:sp>
      <p:sp>
        <p:nvSpPr>
          <p:cNvPr id="3" name="Marcador de pie de página 2">
            <a:extLst>
              <a:ext uri="{FF2B5EF4-FFF2-40B4-BE49-F238E27FC236}">
                <a16:creationId xmlns:a16="http://schemas.microsoft.com/office/drawing/2014/main" id="{07AC2AFF-A7D9-EBCD-7C5A-6CDF61B69366}"/>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2D73A2E-0E5A-8A39-6B70-F9E94D6DBB70}"/>
              </a:ext>
            </a:extLst>
          </p:cNvPr>
          <p:cNvSpPr txBox="1"/>
          <p:nvPr/>
        </p:nvSpPr>
        <p:spPr>
          <a:xfrm>
            <a:off x="609441" y="4819471"/>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Repeat all the design </a:t>
            </a:r>
            <a:r>
              <a:rPr lang="en-US" sz="1200">
                <a:latin typeface="Arial" panose="020B0604020202020204" pitchFamily="34" charset="0"/>
                <a:cs typeface="Arial" panose="020B0604020202020204" pitchFamily="34" charset="0"/>
              </a:rPr>
              <a:t>process for a </a:t>
            </a:r>
            <a:r>
              <a:rPr lang="en-US" sz="1200" dirty="0">
                <a:latin typeface="Arial" panose="020B0604020202020204" pitchFamily="34" charset="0"/>
                <a:cs typeface="Arial" panose="020B0604020202020204" pitchFamily="34" charset="0"/>
              </a:rPr>
              <a:t>1x4 MMI Coupler.  </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AFB86587-21D4-5A33-7D00-DDF170C919BA}"/>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C3506757-32B7-9151-DA89-AADDB7F7D093}"/>
              </a:ext>
            </a:extLst>
          </p:cNvPr>
          <p:cNvSpPr txBox="1"/>
          <p:nvPr/>
        </p:nvSpPr>
        <p:spPr>
          <a:xfrm>
            <a:off x="2286000" y="2630415"/>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plots and console results</a:t>
            </a:r>
          </a:p>
        </p:txBody>
      </p:sp>
    </p:spTree>
    <p:extLst>
      <p:ext uri="{BB962C8B-B14F-4D97-AF65-F5344CB8AC3E}">
        <p14:creationId xmlns:p14="http://schemas.microsoft.com/office/powerpoint/2010/main" val="69986431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lnSpc>
                <a:spcPct val="100000"/>
              </a:lnSpc>
              <a:spcBef>
                <a:spcPts val="100"/>
              </a:spcBef>
            </a:pPr>
            <a:r>
              <a:rPr lang="en-US" sz="2500" dirty="0"/>
              <a:t>Extra #1 – Directional coupler gap dependence</a:t>
            </a:r>
            <a:br>
              <a:rPr lang="en-US" sz="2500" dirty="0"/>
            </a:br>
            <a:r>
              <a:rPr lang="en-US" b="0" dirty="0"/>
              <a:t>Wavelength 1.55 µm, width 1.0 µm, </a:t>
            </a:r>
            <a:r>
              <a:rPr lang="en-US" dirty="0"/>
              <a:t>gap 0.2-2.4 µm </a:t>
            </a:r>
            <a:r>
              <a:rPr lang="en-US" b="0" dirty="0"/>
              <a:t>(step 0.2 µm)</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23</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1015663"/>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Make conclusions and observations from your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E7488849-10A1-FB48-F511-E57B062CD7E2}"/>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68726DAB-1B5F-39D1-63A0-BB708EA6E17F}"/>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6D309BFB-98FD-0CBA-3C6A-346D8859893B}"/>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E9BD6C85-02F1-7B54-41E3-E3D9883786D8}"/>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8" name="CuadroTexto 7">
                <a:extLst>
                  <a:ext uri="{FF2B5EF4-FFF2-40B4-BE49-F238E27FC236}">
                    <a16:creationId xmlns:a16="http://schemas.microsoft.com/office/drawing/2014/main" id="{E9BD6C85-02F1-7B54-41E3-E3D9883786D8}"/>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7431A41C-EEB3-44D0-4622-A915E258C8F0}"/>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9" name="CuadroTexto 8">
                <a:extLst>
                  <a:ext uri="{FF2B5EF4-FFF2-40B4-BE49-F238E27FC236}">
                    <a16:creationId xmlns:a16="http://schemas.microsoft.com/office/drawing/2014/main" id="{7431A41C-EEB3-44D0-4622-A915E258C8F0}"/>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17979636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C60F79-E2ED-1B1B-6289-A1259E80858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AC39480-E3E5-69B1-401F-A50C45531EF2}"/>
              </a:ext>
            </a:extLst>
          </p:cNvPr>
          <p:cNvSpPr txBox="1">
            <a:spLocks noGrp="1"/>
          </p:cNvSpPr>
          <p:nvPr>
            <p:ph type="title"/>
          </p:nvPr>
        </p:nvSpPr>
        <p:spPr>
          <a:xfrm>
            <a:off x="685800" y="408883"/>
            <a:ext cx="10994410" cy="1474763"/>
          </a:xfrm>
          <a:prstGeom prst="rect">
            <a:avLst/>
          </a:prstGeom>
        </p:spPr>
        <p:txBody>
          <a:bodyPr vert="horz" wrap="square" lIns="0" tIns="12700" rIns="0" bIns="0" rtlCol="0">
            <a:spAutoFit/>
          </a:bodyPr>
          <a:lstStyle/>
          <a:p>
            <a:pPr marL="12700">
              <a:lnSpc>
                <a:spcPct val="100000"/>
              </a:lnSpc>
              <a:spcBef>
                <a:spcPts val="100"/>
              </a:spcBef>
            </a:pPr>
            <a:r>
              <a:rPr lang="en-US" sz="2500" dirty="0"/>
              <a:t>Extra #2 – Directional wavelength dependence</a:t>
            </a:r>
            <a:br>
              <a:rPr lang="en-US" sz="2500" dirty="0"/>
            </a:br>
            <a:r>
              <a:rPr lang="en-US" b="0" dirty="0"/>
              <a:t>Wavelengths </a:t>
            </a:r>
            <a:r>
              <a:rPr lang="en-US" dirty="0"/>
              <a:t>from 1.5 to 1.7 µm</a:t>
            </a:r>
            <a:r>
              <a:rPr lang="en-US" b="0" dirty="0"/>
              <a:t>, gap = 0.6 µm, width 1.0 µm</a:t>
            </a:r>
            <a:br>
              <a:rPr lang="en-US" b="0" dirty="0"/>
            </a:b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4BEE8680-2E49-EF52-0E73-7736679A4D7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73F99BBB-5F10-0BE4-E2DE-E78EAA82F552}"/>
              </a:ext>
            </a:extLst>
          </p:cNvPr>
          <p:cNvSpPr>
            <a:spLocks noGrp="1"/>
          </p:cNvSpPr>
          <p:nvPr>
            <p:ph type="sldNum" sz="quarter" idx="7"/>
          </p:nvPr>
        </p:nvSpPr>
        <p:spPr/>
        <p:txBody>
          <a:bodyPr/>
          <a:lstStyle/>
          <a:p>
            <a:fld id="{B6F15528-21DE-4FAA-801E-634DDDAF4B2B}" type="slidenum">
              <a:rPr lang="es-ES" smtClean="0"/>
              <a:t>24</a:t>
            </a:fld>
            <a:endParaRPr lang="es-ES"/>
          </a:p>
        </p:txBody>
      </p:sp>
      <p:sp>
        <p:nvSpPr>
          <p:cNvPr id="3" name="Marcador de pie de página 2">
            <a:extLst>
              <a:ext uri="{FF2B5EF4-FFF2-40B4-BE49-F238E27FC236}">
                <a16:creationId xmlns:a16="http://schemas.microsoft.com/office/drawing/2014/main" id="{52B2FA4B-8D15-84DC-29D1-94F9F850476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181326FD-308E-2C47-D5D2-57B3357241AA}"/>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B42E1AD9-10D4-8ACB-526F-2DA1DD2B9881}"/>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15ED9C7E-0684-E2B9-7FD6-9BCF17CC000A}"/>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5F16E403-DF61-C9A0-D57F-2E61BEFA8887}"/>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B08C2240-8810-4E0A-7DCF-E62A8271EA2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8" name="CuadroTexto 7">
                <a:extLst>
                  <a:ext uri="{FF2B5EF4-FFF2-40B4-BE49-F238E27FC236}">
                    <a16:creationId xmlns:a16="http://schemas.microsoft.com/office/drawing/2014/main" id="{B08C2240-8810-4E0A-7DCF-E62A8271EA2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BBDDC809-0F06-CBE2-4D1A-3A2FA36C33A8}"/>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BBDDC809-0F06-CBE2-4D1A-3A2FA36C33A8}"/>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81355806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#3 – MMI coupler wavelength dependence</a:t>
            </a:r>
            <a:br>
              <a:rPr lang="en-US" sz="2500" spc="-5" dirty="0">
                <a:latin typeface="+mj-lt"/>
                <a:cs typeface="Lucida Sans"/>
              </a:rPr>
            </a:br>
            <a:r>
              <a:rPr lang="en-US" b="0" dirty="0"/>
              <a:t>Wavelengths from 1.5 to 1.7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25</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2A62DD6-5488-72A1-9926-0CAEE59089A9}"/>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(Important. Compare with Directional Coupler)</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796EDE51-D41E-C23B-F402-2F7357DE8714}"/>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5A3233C9-FE6F-52D8-4D87-224222BDA8E1}"/>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0C016548-01A2-6E58-B80D-148384B98EB3}"/>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075D03BE-0D6A-89E5-3C68-D7BD97B4676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075D03BE-0D6A-89E5-3C68-D7BD97B4676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AC01EDEE-71CC-C570-700B-076F03FCF7E1}"/>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10" name="CuadroTexto 9">
                <a:extLst>
                  <a:ext uri="{FF2B5EF4-FFF2-40B4-BE49-F238E27FC236}">
                    <a16:creationId xmlns:a16="http://schemas.microsoft.com/office/drawing/2014/main" id="{AC01EDEE-71CC-C570-700B-076F03FCF7E1}"/>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95514564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55C897-D580-E5C1-161C-F8E072695C0C}"/>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3FFBD12-4EFF-41C1-4765-2AD268B2BD9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#4 – MMI coupler body width dependence</a:t>
            </a:r>
            <a:br>
              <a:rPr lang="en-US" sz="2500" spc="-5" dirty="0">
                <a:latin typeface="+mj-lt"/>
                <a:cs typeface="Lucida Sans"/>
              </a:rPr>
            </a:br>
            <a:r>
              <a:rPr lang="en-US" b="0" dirty="0"/>
              <a:t>Wavelength 1.55 µm, </a:t>
            </a:r>
            <a:r>
              <a:rPr lang="en-US" b="0" dirty="0" err="1"/>
              <a:t>wMMI</a:t>
            </a:r>
            <a:r>
              <a:rPr lang="en-US" b="0" dirty="0"/>
              <a:t> = 5-10 µm (steps 0.5 µm)</a:t>
            </a:r>
            <a:endParaRPr lang="en-US" sz="2500" b="0" dirty="0">
              <a:latin typeface="+mj-lt"/>
              <a:cs typeface="Lucida Sans"/>
            </a:endParaRPr>
          </a:p>
        </p:txBody>
      </p:sp>
      <p:pic>
        <p:nvPicPr>
          <p:cNvPr id="83" name="Gráfico 82">
            <a:extLst>
              <a:ext uri="{FF2B5EF4-FFF2-40B4-BE49-F238E27FC236}">
                <a16:creationId xmlns:a16="http://schemas.microsoft.com/office/drawing/2014/main" id="{C14AF521-052E-A1FA-D63D-CB0826C48D2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C87B233-8A68-967F-55BC-3A828B5F39BA}"/>
              </a:ext>
            </a:extLst>
          </p:cNvPr>
          <p:cNvSpPr>
            <a:spLocks noGrp="1"/>
          </p:cNvSpPr>
          <p:nvPr>
            <p:ph type="sldNum" sz="quarter" idx="7"/>
          </p:nvPr>
        </p:nvSpPr>
        <p:spPr/>
        <p:txBody>
          <a:bodyPr/>
          <a:lstStyle/>
          <a:p>
            <a:fld id="{B6F15528-21DE-4FAA-801E-634DDDAF4B2B}" type="slidenum">
              <a:rPr lang="es-ES" smtClean="0"/>
              <a:t>26</a:t>
            </a:fld>
            <a:endParaRPr lang="es-ES"/>
          </a:p>
        </p:txBody>
      </p:sp>
      <p:sp>
        <p:nvSpPr>
          <p:cNvPr id="3" name="Marcador de pie de página 2">
            <a:extLst>
              <a:ext uri="{FF2B5EF4-FFF2-40B4-BE49-F238E27FC236}">
                <a16:creationId xmlns:a16="http://schemas.microsoft.com/office/drawing/2014/main" id="{DB1B524E-0E15-1C98-31B0-C98BD07BFBE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D88CB07-C5F5-9BB7-9F41-E171F0F0E2B9}"/>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Polarization independent coupler: is there any point for which the MMI coupler can work identically for TE and TM? Answer yes / no and explain why?</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B58B1BB0-E248-0BA3-D1B3-93649227103E}"/>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8E0E2533-B1CA-72C4-3859-1CBDD5887887}"/>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154B5534-E510-6404-1E30-B73FDF73AD42}"/>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2BDFECD2-156D-6697-CFBF-8CD783F9B986}"/>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width for TE and TM plot here</a:t>
                </a:r>
              </a:p>
            </p:txBody>
          </p:sp>
        </mc:Choice>
        <mc:Fallback xmlns="">
          <p:sp>
            <p:nvSpPr>
              <p:cNvPr id="9" name="CuadroTexto 8">
                <a:extLst>
                  <a:ext uri="{FF2B5EF4-FFF2-40B4-BE49-F238E27FC236}">
                    <a16:creationId xmlns:a16="http://schemas.microsoft.com/office/drawing/2014/main" id="{2BDFECD2-156D-6697-CFBF-8CD783F9B986}"/>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3BFC64CA-DE35-A528-CF09-36A26DB3DEE4}"/>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width for TE and TM plot here</a:t>
                </a:r>
              </a:p>
            </p:txBody>
          </p:sp>
        </mc:Choice>
        <mc:Fallback xmlns="">
          <p:sp>
            <p:nvSpPr>
              <p:cNvPr id="10" name="CuadroTexto 9">
                <a:extLst>
                  <a:ext uri="{FF2B5EF4-FFF2-40B4-BE49-F238E27FC236}">
                    <a16:creationId xmlns:a16="http://schemas.microsoft.com/office/drawing/2014/main" id="{3BFC64CA-DE35-A528-CF09-36A26DB3DEE4}"/>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53593943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27</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1345</TotalTime>
  <Words>3688</Words>
  <Application>Microsoft Office PowerPoint</Application>
  <PresentationFormat>Panorámica</PresentationFormat>
  <Paragraphs>282</Paragraphs>
  <Slides>27</Slides>
  <Notes>22</Notes>
  <HiddenSlides>0</HiddenSlides>
  <MMClips>0</MMClips>
  <ScaleCrop>false</ScaleCrop>
  <HeadingPairs>
    <vt:vector size="6" baseType="variant">
      <vt:variant>
        <vt:lpstr>Fuentes usadas</vt:lpstr>
      </vt:variant>
      <vt:variant>
        <vt:i4>7</vt:i4>
      </vt:variant>
      <vt:variant>
        <vt:lpstr>Tema</vt:lpstr>
      </vt:variant>
      <vt:variant>
        <vt:i4>1</vt:i4>
      </vt:variant>
      <vt:variant>
        <vt:lpstr>Títulos de diapositiva</vt:lpstr>
      </vt:variant>
      <vt:variant>
        <vt:i4>27</vt:i4>
      </vt:variant>
    </vt:vector>
  </HeadingPairs>
  <TitlesOfParts>
    <vt:vector size="35" baseType="lpstr">
      <vt:lpstr>Aptos</vt:lpstr>
      <vt:lpstr>Arial</vt:lpstr>
      <vt:lpstr>Calibri</vt:lpstr>
      <vt:lpstr>Cambria Math</vt:lpstr>
      <vt:lpstr>Lucida Sans</vt:lpstr>
      <vt:lpstr>Times New Roman</vt:lpstr>
      <vt:lpstr>Wingdings</vt:lpstr>
      <vt:lpstr>Office Theme</vt:lpstr>
      <vt:lpstr>Presentación de PowerPoint</vt:lpstr>
      <vt:lpstr>Instructions General</vt:lpstr>
      <vt:lpstr>Presentación de PowerPoint</vt:lpstr>
      <vt:lpstr>Learning outcome #1 – Directional coupler cross-section in GDSFactory </vt:lpstr>
      <vt:lpstr>Learning outcome #1 – Directional coupler cross-section in GDSFactory </vt:lpstr>
      <vt:lpstr>Learning outcome #1 – Directional coupler cross-section in GDSFactory </vt:lpstr>
      <vt:lpstr>Learning outcome #2 – Directional coupler length and coupling coefficient Wavelength 1.5 µm – width 1.2 µm – gap 0.6 µm – thickness 300 nm</vt:lpstr>
      <vt:lpstr>Learning outcome #2 – Directional coupler length and coupling coefficient Wavelength 1.5 µm – width 1.2 µm – gap 0.6 µm – thickness 300 nm</vt:lpstr>
      <vt:lpstr>Learning outcome #3 – 2x2 Directional Coupler Wavelength 1.55 µm – Sweep gaps between 0.2 and 1.2 µm in steps of 0.2 µm</vt:lpstr>
      <vt:lpstr>Learning outcome #3 – 2x2 Directional Coupler Wavelength 1.55 µm – Sweep gaps between 0.2 and 1.2 µm in steps of 0.2 µm</vt:lpstr>
      <vt:lpstr>Learning outcome #4 – Parallel uncoupled waveguides – TE0 mode Wavelength 1.55 µm, width 1.0 µm, gap to be found for uncoupled wvgs</vt:lpstr>
      <vt:lpstr>Learning outcome #4 – Parallel uncoupled waveguides – TE0 mode Wavelength 1.55 µm, width 1.0 µm, gap to be found for uncoupled wvgs</vt:lpstr>
      <vt:lpstr>Presentación de PowerPoint</vt:lpstr>
      <vt:lpstr>Learning outcome #5 – Multimode Interference (MMI) Coupler cross-section</vt:lpstr>
      <vt:lpstr>Learning outcome #5 – Multimode Interference (MMI) Coupler cross-section</vt:lpstr>
      <vt:lpstr>Learning outcome #5 – Multimode Interference (MMI) Coupler cross-section</vt:lpstr>
      <vt:lpstr>Learning outcome #6 – 6.1 2x2 Multimode Interference Coupler  Wavelength 1.55 µm, wMMI = 6.6 µm</vt:lpstr>
      <vt:lpstr>Learning outcome #6 – 6.1 2x2 Multimode Interference Coupler  Wavelength 1.55 µm, wMMI = 6.6 µm</vt:lpstr>
      <vt:lpstr>Learning outcome #6.2 – 2x2 Multimode Interference Coupler - Optimization Wavelength 1.55 µm, wMMI = 6.6 µm</vt:lpstr>
      <vt:lpstr>Learning outcome #6.3 – 2x2 Multimode Interference Coupler – Optimization (II) Wavelength 1.55 µm, wMMI = 6.6 µm</vt:lpstr>
      <vt:lpstr>Learning outcome #6.3 – 2x2 Multimode Interference Coupler – Optimization (II) Wavelength 1.55 µm, wMMI = 6.6 µm</vt:lpstr>
      <vt:lpstr>Learning outcome #7 – 1x4 Multimode Interference Coupler  Wavelength 1.55 µm, wMMI = ? µm</vt:lpstr>
      <vt:lpstr>Extra #1 – Directional coupler gap dependence Wavelength 1.55 µm, width 1.0 µm, gap 0.2-2.4 µm (step 0.2 µm) </vt:lpstr>
      <vt:lpstr>Extra #2 – Directional wavelength dependence Wavelengths from 1.5 to 1.7 µm, gap = 0.6 µm, width 1.0 µm  </vt:lpstr>
      <vt:lpstr>Extra #3 – MMI coupler wavelength dependence Wavelengths from 1.5 to 1.7 µm, wMMI = 6.6 µm</vt:lpstr>
      <vt:lpstr>Extra #4 – MMI coupler body width dependence Wavelength 1.55 µm, wMMI = 5-10 µm (steps 0.5 µm)</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Lidia Tortola Juan</cp:lastModifiedBy>
  <cp:revision>27</cp:revision>
  <dcterms:created xsi:type="dcterms:W3CDTF">2025-01-27T02:46:57Z</dcterms:created>
  <dcterms:modified xsi:type="dcterms:W3CDTF">2026-04-27T12:47:23Z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