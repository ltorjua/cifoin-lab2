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4"/>
  </p:notesMasterIdLst>
  <p:handoutMasterIdLst>
    <p:handoutMasterId r:id="rId35"/>
  </p:handoutMasterIdLst>
  <p:sldIdLst>
    <p:sldId id="256" r:id="rId2"/>
    <p:sldId id="289" r:id="rId3"/>
    <p:sldId id="295" r:id="rId4"/>
    <p:sldId id="304" r:id="rId5"/>
    <p:sldId id="305" r:id="rId6"/>
    <p:sldId id="306" r:id="rId7"/>
    <p:sldId id="302" r:id="rId8"/>
    <p:sldId id="307" r:id="rId9"/>
    <p:sldId id="303" r:id="rId10"/>
    <p:sldId id="308" r:id="rId11"/>
    <p:sldId id="309" r:id="rId12"/>
    <p:sldId id="310" r:id="rId13"/>
    <p:sldId id="296" r:id="rId14"/>
    <p:sldId id="293" r:id="rId15"/>
    <p:sldId id="311" r:id="rId16"/>
    <p:sldId id="312" r:id="rId17"/>
    <p:sldId id="294" r:id="rId18"/>
    <p:sldId id="313" r:id="rId19"/>
    <p:sldId id="299" r:id="rId20"/>
    <p:sldId id="300" r:id="rId21"/>
    <p:sldId id="314" r:id="rId22"/>
    <p:sldId id="301" r:id="rId23"/>
    <p:sldId id="315" r:id="rId24"/>
    <p:sldId id="290" r:id="rId25"/>
    <p:sldId id="316" r:id="rId26"/>
    <p:sldId id="297" r:id="rId27"/>
    <p:sldId id="317" r:id="rId28"/>
    <p:sldId id="292" r:id="rId29"/>
    <p:sldId id="318" r:id="rId30"/>
    <p:sldId id="298" r:id="rId31"/>
    <p:sldId id="319" r:id="rId32"/>
    <p:sldId id="288" r:id="rId3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5033" autoAdjust="0"/>
  </p:normalViewPr>
  <p:slideViewPr>
    <p:cSldViewPr>
      <p:cViewPr varScale="1">
        <p:scale>
          <a:sx n="82" d="100"/>
          <a:sy n="82" d="100"/>
        </p:scale>
        <p:origin x="1142" y="7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30/04/2026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30/04/2026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05FA0-8310-95D9-F59F-8F42EEDA24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AABB8C-A6AF-3BA6-45D2-74E49192B4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F13E16-C481-3712-5627-1CB01BC0AFB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134307B-A280-388B-6938-077D670A8B36}"/>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243326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7D5F6-EE4B-DBF5-46B6-DC091AA222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8459E7-E42C-AEC7-7988-1258D54457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1866CC-E4A1-2661-5B36-0258987A20B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F177EBE-7AF8-0B33-4A0A-46D7104890D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233223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438A7-7899-A307-6C90-D3A73AD2D3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D849CA7-6569-7BE9-9AB5-25077A5726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60DF00-DBEB-4907-1E26-441FD826D2E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E1E232A-8911-AE01-BEB9-1EF0BF46163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3723597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4454F-0878-7CEE-CF50-A103ECC9DB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B21B1E-FB90-688E-B9DC-156F8C3BBD9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3EECF7-7299-5BEE-9B9B-8B98CAB5566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677DAB8-DEF1-B663-EBFF-A0753DD70E55}"/>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40733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D805F-3063-79EC-543B-DFAB71AF86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03078E-B50C-DD8F-FA26-10E656F7D1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DC5F04-0E58-8BD1-33B6-FDFCC87B89B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8218579-8C14-7CD7-75C8-569C35426792}"/>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082529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72324-A32F-B9AC-50E7-65FCF8A26C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8AF1A7-42C7-2BAD-44D5-4D27F8929E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EB82A0-D9DE-365C-CBB6-1F3940C6092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21D0CC7-4111-5D63-5F06-052D2A5B706F}"/>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744524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30BA2-3EDD-C00F-1E9F-1C4C3354F9C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E2A370-C424-5C10-028D-1182022ED8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34D9E3-B30F-FFB7-ECE8-CE697EC06B9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13F2DBD-61A4-84B1-285D-6176746E67E7}"/>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709498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0C1D0-1D56-98AC-F808-3E50A2E18D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015224-D113-BB46-5A26-5EED4760F2B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C43180-97F8-438D-38DE-ABCC1485657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1FC060C-8016-8F5A-1B40-21ECBDF327ED}"/>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433849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ED715-E0AF-B835-3E3D-4C34BA73BEC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DB9127-61EF-9CD1-9094-0C61E61EA7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E1E093-FF3C-2B3E-8E5D-C38A77397D7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9AB70F-764F-327D-064C-98ED0121B8B9}"/>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8407418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CFB65-B08E-9414-2220-EC66BF5F52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68E61E-781E-2507-62AC-8F751BE982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6F5E14-ABD4-746F-B180-9A4F1F5B5B9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42F473B-5C73-E53D-451D-9CD71E6F5DC5}"/>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3501069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8845F-146D-1B37-DA3A-EFBC8740DD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DB63E4-A2EE-8E70-8D38-E4B3DC9917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194DFE-C95A-3F0D-FB68-6AEC285D71C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056D426-3AF8-8C2E-B9AA-6D06DC8839E9}"/>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3720195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63820-3581-F8D2-8EFF-C97772868F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4D89D2-BECC-DD50-EC7D-5E64C46863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E1EEC2-F2C0-404F-5D55-081E5B8612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4FF7EE-D814-FD95-0985-1DD43576A390}"/>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2580943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08689-919D-C6D1-23DB-9D443034FE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EC498C-71FA-B367-1AF8-849444AB20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5AD165-93C6-0949-D5A3-47E7E7E96A9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65B6FFD-F2B4-58A2-A274-518A8E06A7E0}"/>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4025047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28</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0241B-A7F6-AB79-EADB-A8E364AA7C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ADB45A-5A94-32A7-2E95-A690B3375B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E993C81-C881-F4D5-2636-C7825D862F1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A29EB9A-26EF-A5E9-0CE6-1B6652DEB84A}"/>
              </a:ext>
            </a:extLst>
          </p:cNvPr>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4273027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30</a:t>
            </a:fld>
            <a:endParaRPr lang="es-ES"/>
          </a:p>
        </p:txBody>
      </p:sp>
    </p:spTree>
    <p:extLst>
      <p:ext uri="{BB962C8B-B14F-4D97-AF65-F5344CB8AC3E}">
        <p14:creationId xmlns:p14="http://schemas.microsoft.com/office/powerpoint/2010/main" val="1083298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42403-CBBC-B481-3BDA-763027EF35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996A85-9E31-7086-6A06-1BA906C564A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62C9DE-1917-B8AE-D51D-B91A7B92459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B1709D0-8BB8-F36B-7712-982F09FD12FD}"/>
              </a:ext>
            </a:extLst>
          </p:cNvPr>
          <p:cNvSpPr>
            <a:spLocks noGrp="1"/>
          </p:cNvSpPr>
          <p:nvPr>
            <p:ph type="sldNum" sz="quarter" idx="5"/>
          </p:nvPr>
        </p:nvSpPr>
        <p:spPr/>
        <p:txBody>
          <a:bodyPr/>
          <a:lstStyle/>
          <a:p>
            <a:fld id="{676223B9-C868-4436-87D9-1A3152E1157A}" type="slidenum">
              <a:rPr lang="es-ES" smtClean="0"/>
              <a:t>31</a:t>
            </a:fld>
            <a:endParaRPr lang="es-ES"/>
          </a:p>
        </p:txBody>
      </p:sp>
    </p:spTree>
    <p:extLst>
      <p:ext uri="{BB962C8B-B14F-4D97-AF65-F5344CB8AC3E}">
        <p14:creationId xmlns:p14="http://schemas.microsoft.com/office/powerpoint/2010/main" val="1167986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sv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svg"/><Relationship Id="rId7"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svg"/><Relationship Id="rId7"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3.svg"/><Relationship Id="rId7"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3.svg"/><Relationship Id="rId7"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b="1" i="1" spc="165" dirty="0">
                <a:latin typeface="Arial" panose="020B0604020202020204" pitchFamily="34" charset="0"/>
                <a:cs typeface="Arial" panose="020B0604020202020204" pitchFamily="34" charset="0"/>
              </a:rPr>
              <a:t>Student:</a:t>
            </a:r>
            <a:r>
              <a:rPr lang="es-ES" spc="165" dirty="0">
                <a:latin typeface="Arial" panose="020B0604020202020204" pitchFamily="34" charset="0"/>
                <a:cs typeface="Arial" panose="020B0604020202020204" pitchFamily="34" charset="0"/>
              </a:rPr>
              <a:t> </a:t>
            </a:r>
            <a:r>
              <a:rPr lang="es-ES" i="1" spc="165" dirty="0">
                <a:latin typeface="Arial" panose="020B0604020202020204" pitchFamily="34" charset="0"/>
                <a:cs typeface="Arial" panose="020B0604020202020204" pitchFamily="34" charset="0"/>
              </a:rPr>
              <a:t>Lidia Tórtola Juan y Raúl Salido Calatayud</a:t>
            </a:r>
            <a:endParaRPr sz="1800" i="1" dirty="0">
              <a:latin typeface="Arial" panose="020B0604020202020204" pitchFamily="34" charset="0"/>
              <a:cs typeface="Arial" panose="020B0604020202020204" pitchFamily="34" charset="0"/>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
        <p:nvSpPr>
          <p:cNvPr id="2" name="CuadroTexto 1">
            <a:extLst>
              <a:ext uri="{FF2B5EF4-FFF2-40B4-BE49-F238E27FC236}">
                <a16:creationId xmlns:a16="http://schemas.microsoft.com/office/drawing/2014/main" id="{4A43C179-AD18-7B9C-F96C-8B8312D4824A}"/>
              </a:ext>
            </a:extLst>
          </p:cNvPr>
          <p:cNvSpPr txBox="1"/>
          <p:nvPr/>
        </p:nvSpPr>
        <p:spPr>
          <a:xfrm>
            <a:off x="2663890" y="5892089"/>
            <a:ext cx="8305800" cy="369332"/>
          </a:xfrm>
          <a:prstGeom prst="rect">
            <a:avLst/>
          </a:prstGeom>
          <a:noFill/>
        </p:spPr>
        <p:txBody>
          <a:bodyPr wrap="square">
            <a:spAutoFit/>
          </a:bodyPr>
          <a:lstStyle/>
          <a:p>
            <a:r>
              <a:rPr lang="es-ES" b="1" i="1" dirty="0">
                <a:latin typeface="Arial" panose="020B0604020202020204" pitchFamily="34" charset="0"/>
                <a:cs typeface="Arial" panose="020B0604020202020204" pitchFamily="34" charset="0"/>
              </a:rPr>
              <a:t>URL:</a:t>
            </a:r>
            <a:r>
              <a:rPr lang="es-ES" dirty="0">
                <a:latin typeface="Arial" panose="020B0604020202020204" pitchFamily="34" charset="0"/>
                <a:cs typeface="Arial" panose="020B0604020202020204" pitchFamily="34" charset="0"/>
              </a:rPr>
              <a:t> https://github.com/ltorjua/cifoin-lab2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914400"/>
                <a:ext cx="11048999" cy="5339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914400"/>
                <a:ext cx="11048999" cy="5339137"/>
              </a:xfrm>
              <a:prstGeom prst="rect">
                <a:avLst/>
              </a:prstGeom>
              <a:blipFill>
                <a:blip r:embed="rId4"/>
                <a:stretch>
                  <a:fillRect l="-607" t="-571" r="-552"/>
                </a:stretch>
              </a:blipFill>
            </p:spPr>
            <p:txBody>
              <a:bodyPr/>
              <a:lstStyle/>
              <a:p>
                <a:r>
                  <a:rPr lang="es-ES">
                    <a:noFill/>
                  </a:rPr>
                  <a:t> </a:t>
                </a:r>
              </a:p>
            </p:txBody>
          </p:sp>
        </mc:Fallback>
      </mc:AlternateContent>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E5FB7-679F-9236-EFA5-8116C168EE6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920478D-90D9-694D-4EA3-EFE80BF036F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00118739-26AC-C210-6730-157922FFE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AE30E4E-B78E-19DD-C84C-EAA8F630743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D0B4D3F1-CD3C-CC85-9A87-5D07D41685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D0DB3E0E-A522-21B2-DDBD-754E3CB15760}"/>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3BC5BF70-E113-8DE7-7A88-D8E96A4F4219}"/>
              </a:ext>
            </a:extLst>
          </p:cNvPr>
          <p:cNvSpPr txBox="1"/>
          <p:nvPr/>
        </p:nvSpPr>
        <p:spPr>
          <a:xfrm>
            <a:off x="418305" y="4507405"/>
            <a:ext cx="11428412"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En </a:t>
            </a:r>
            <a:r>
              <a:rPr lang="en-US" sz="900" dirty="0" err="1">
                <a:latin typeface="Arial" panose="020B0604020202020204" pitchFamily="34" charset="0"/>
                <a:cs typeface="Arial" panose="020B0604020202020204" pitchFamily="34" charset="0"/>
              </a:rPr>
              <a:t>este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ejercicio</a:t>
            </a:r>
            <a:r>
              <a:rPr lang="en-US" sz="900" dirty="0">
                <a:latin typeface="Arial" panose="020B0604020202020204" pitchFamily="34" charset="0"/>
                <a:cs typeface="Arial" panose="020B0604020202020204" pitchFamily="34" charset="0"/>
              </a:rPr>
              <a:t> se ha </a:t>
            </a:r>
            <a:r>
              <a:rPr lang="en-US" sz="900" dirty="0" err="1">
                <a:latin typeface="Arial" panose="020B0604020202020204" pitchFamily="34" charset="0"/>
                <a:cs typeface="Arial" panose="020B0604020202020204" pitchFamily="34" charset="0"/>
              </a:rPr>
              <a:t>estudiado</a:t>
            </a:r>
            <a:r>
              <a:rPr lang="en-US" sz="900" dirty="0">
                <a:latin typeface="Arial" panose="020B0604020202020204" pitchFamily="34" charset="0"/>
                <a:cs typeface="Arial" panose="020B0604020202020204" pitchFamily="34" charset="0"/>
              </a:rPr>
              <a:t> la </a:t>
            </a:r>
            <a:r>
              <a:rPr lang="en-US" sz="900" dirty="0" err="1">
                <a:latin typeface="Arial" panose="020B0604020202020204" pitchFamily="34" charset="0"/>
                <a:cs typeface="Arial" panose="020B0604020202020204" pitchFamily="34" charset="0"/>
              </a:rPr>
              <a:t>sección</a:t>
            </a:r>
            <a:r>
              <a:rPr lang="en-US" sz="900" dirty="0">
                <a:latin typeface="Arial" panose="020B0604020202020204" pitchFamily="34" charset="0"/>
                <a:cs typeface="Arial" panose="020B0604020202020204" pitchFamily="34" charset="0"/>
              </a:rPr>
              <a:t> transversal de un </a:t>
            </a:r>
            <a:r>
              <a:rPr lang="en-US" sz="900" dirty="0" err="1">
                <a:latin typeface="Arial" panose="020B0604020202020204" pitchFamily="34" charset="0"/>
                <a:cs typeface="Arial" panose="020B0604020202020204" pitchFamily="34" charset="0"/>
              </a:rPr>
              <a:t>acoplador</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direccional</a:t>
            </a:r>
            <a:r>
              <a:rPr lang="en-US" sz="900" dirty="0">
                <a:latin typeface="Arial" panose="020B0604020202020204" pitchFamily="34" charset="0"/>
                <a:cs typeface="Arial" panose="020B0604020202020204" pitchFamily="34" charset="0"/>
              </a:rPr>
              <a:t>. </a:t>
            </a:r>
            <a:r>
              <a:rPr lang="es-ES" sz="900" dirty="0">
                <a:latin typeface="Arial" panose="020B0604020202020204" pitchFamily="34" charset="0"/>
                <a:cs typeface="Arial" panose="020B0604020202020204" pitchFamily="34" charset="0"/>
              </a:rPr>
              <a:t>En primer lugar, se han definido los materiales: para el núcleo de las guías se ha usado nitruro de silicio, mientras que para la cubierta se ha usado óxido de silicio. </a:t>
            </a:r>
          </a:p>
          <a:p>
            <a:pPr algn="just"/>
            <a:endParaRPr lang="es-E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Al </a:t>
            </a:r>
            <a:r>
              <a:rPr lang="en-US" sz="900" dirty="0" err="1">
                <a:latin typeface="Arial" panose="020B0604020202020204" pitchFamily="34" charset="0"/>
                <a:cs typeface="Arial" panose="020B0604020202020204" pitchFamily="34" charset="0"/>
              </a:rPr>
              <a:t>tratarse</a:t>
            </a:r>
            <a:r>
              <a:rPr lang="en-US" sz="900" dirty="0">
                <a:latin typeface="Arial" panose="020B0604020202020204" pitchFamily="34" charset="0"/>
                <a:cs typeface="Arial" panose="020B0604020202020204" pitchFamily="34" charset="0"/>
              </a:rPr>
              <a:t> de un </a:t>
            </a:r>
            <a:r>
              <a:rPr lang="en-US" sz="900" dirty="0" err="1">
                <a:latin typeface="Arial" panose="020B0604020202020204" pitchFamily="34" charset="0"/>
                <a:cs typeface="Arial" panose="020B0604020202020204" pitchFamily="34" charset="0"/>
              </a:rPr>
              <a:t>acoplador</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direccional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estará</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formado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por</a:t>
            </a:r>
            <a:r>
              <a:rPr lang="en-US" sz="900" dirty="0">
                <a:latin typeface="Arial" panose="020B0604020202020204" pitchFamily="34" charset="0"/>
                <a:cs typeface="Arial" panose="020B0604020202020204" pitchFamily="34" charset="0"/>
              </a:rPr>
              <a:t> 2 </a:t>
            </a:r>
            <a:r>
              <a:rPr lang="en-US" sz="900" dirty="0" err="1">
                <a:latin typeface="Arial" panose="020B0604020202020204" pitchFamily="34" charset="0"/>
                <a:cs typeface="Arial" panose="020B0604020202020204" pitchFamily="34" charset="0"/>
              </a:rPr>
              <a:t>guías</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paralelas</a:t>
            </a:r>
            <a:r>
              <a:rPr lang="en-US" sz="900" dirty="0">
                <a:latin typeface="Arial" panose="020B0604020202020204" pitchFamily="34" charset="0"/>
                <a:cs typeface="Arial" panose="020B0604020202020204" pitchFamily="34" charset="0"/>
              </a:rPr>
              <a:t> (con </a:t>
            </a:r>
            <a:r>
              <a:rPr lang="es-ES" sz="900" dirty="0">
                <a:latin typeface="Arial" panose="020B0604020202020204" pitchFamily="34" charset="0"/>
                <a:cs typeface="Arial" panose="020B0604020202020204" pitchFamily="34" charset="0"/>
              </a:rPr>
              <a:t>una anchura de 1200 nm y una altura de 300 nm</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situadas</a:t>
            </a:r>
            <a:r>
              <a:rPr lang="en-US" sz="900" dirty="0">
                <a:latin typeface="Arial" panose="020B0604020202020204" pitchFamily="34" charset="0"/>
                <a:cs typeface="Arial" panose="020B0604020202020204" pitchFamily="34" charset="0"/>
              </a:rPr>
              <a:t> a </a:t>
            </a:r>
            <a:r>
              <a:rPr lang="en-US" sz="900" dirty="0" err="1">
                <a:latin typeface="Arial" panose="020B0604020202020204" pitchFamily="34" charset="0"/>
                <a:cs typeface="Arial" panose="020B0604020202020204" pitchFamily="34" charset="0"/>
              </a:rPr>
              <a:t>cierta</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distancia</a:t>
            </a:r>
            <a:r>
              <a:rPr lang="en-US" sz="900" dirty="0">
                <a:latin typeface="Arial" panose="020B0604020202020204" pitchFamily="34" charset="0"/>
                <a:cs typeface="Arial" panose="020B0604020202020204" pitchFamily="34" charset="0"/>
              </a:rPr>
              <a:t> entre </a:t>
            </a:r>
            <a:r>
              <a:rPr lang="en-US" sz="900" dirty="0" err="1">
                <a:latin typeface="Arial" panose="020B0604020202020204" pitchFamily="34" charset="0"/>
                <a:cs typeface="Arial" panose="020B0604020202020204" pitchFamily="34" charset="0"/>
              </a:rPr>
              <a:t>ellas</a:t>
            </a:r>
            <a:r>
              <a:rPr lang="en-US" sz="900" dirty="0">
                <a:latin typeface="Arial" panose="020B0604020202020204" pitchFamily="34" charset="0"/>
                <a:cs typeface="Arial" panose="020B0604020202020204" pitchFamily="34" charset="0"/>
              </a:rPr>
              <a:t>, es </a:t>
            </a:r>
            <a:r>
              <a:rPr lang="en-US" sz="900" dirty="0" err="1">
                <a:latin typeface="Arial" panose="020B0604020202020204" pitchFamily="34" charset="0"/>
                <a:cs typeface="Arial" panose="020B0604020202020204" pitchFamily="34" charset="0"/>
              </a:rPr>
              <a:t>por</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ello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que</a:t>
            </a:r>
            <a:r>
              <a:rPr lang="en-US" sz="900" dirty="0">
                <a:latin typeface="Arial" panose="020B0604020202020204" pitchFamily="34" charset="0"/>
                <a:cs typeface="Arial" panose="020B0604020202020204" pitchFamily="34" charset="0"/>
              </a:rPr>
              <a:t> también se ha </a:t>
            </a:r>
            <a:r>
              <a:rPr lang="en-US" sz="900" dirty="0" err="1">
                <a:latin typeface="Arial" panose="020B0604020202020204" pitchFamily="34" charset="0"/>
                <a:cs typeface="Arial" panose="020B0604020202020204" pitchFamily="34" charset="0"/>
              </a:rPr>
              <a:t>definido</a:t>
            </a:r>
            <a:r>
              <a:rPr lang="en-US" sz="900" dirty="0">
                <a:latin typeface="Arial" panose="020B0604020202020204" pitchFamily="34" charset="0"/>
                <a:cs typeface="Arial" panose="020B0604020202020204" pitchFamily="34" charset="0"/>
              </a:rPr>
              <a:t> un gap de 600 nm,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cual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será</a:t>
            </a:r>
            <a:r>
              <a:rPr lang="en-US" sz="900" dirty="0">
                <a:latin typeface="Arial" panose="020B0604020202020204" pitchFamily="34" charset="0"/>
                <a:cs typeface="Arial" panose="020B0604020202020204" pitchFamily="34" charset="0"/>
              </a:rPr>
              <a:t> la </a:t>
            </a:r>
            <a:r>
              <a:rPr lang="en-US" sz="900" dirty="0" err="1">
                <a:latin typeface="Arial" panose="020B0604020202020204" pitchFamily="34" charset="0"/>
                <a:cs typeface="Arial" panose="020B0604020202020204" pitchFamily="34" charset="0"/>
              </a:rPr>
              <a:t>separación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que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habrá</a:t>
            </a:r>
            <a:r>
              <a:rPr lang="en-US" sz="900" dirty="0">
                <a:latin typeface="Arial" panose="020B0604020202020204" pitchFamily="34" charset="0"/>
                <a:cs typeface="Arial" panose="020B0604020202020204" pitchFamily="34" charset="0"/>
              </a:rPr>
              <a:t> entre las dos. </a:t>
            </a:r>
            <a:r>
              <a:rPr lang="en-US" sz="900" dirty="0" err="1">
                <a:latin typeface="Arial" panose="020B0604020202020204" pitchFamily="34" charset="0"/>
                <a:cs typeface="Arial" panose="020B0604020202020204" pitchFamily="34" charset="0"/>
              </a:rPr>
              <a:t>Dicho</a:t>
            </a:r>
            <a:r>
              <a:rPr lang="en-US" sz="900" dirty="0">
                <a:latin typeface="Arial" panose="020B0604020202020204" pitchFamily="34" charset="0"/>
                <a:cs typeface="Arial" panose="020B0604020202020204" pitchFamily="34" charset="0"/>
              </a:rPr>
              <a:t> gap </a:t>
            </a:r>
            <a:r>
              <a:rPr lang="en-US" sz="900" dirty="0" err="1">
                <a:latin typeface="Arial" panose="020B0604020202020204" pitchFamily="34" charset="0"/>
                <a:cs typeface="Arial" panose="020B0604020202020204" pitchFamily="34" charset="0"/>
              </a:rPr>
              <a:t>determinará</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grado</a:t>
            </a:r>
            <a:r>
              <a:rPr lang="en-US" sz="900" dirty="0">
                <a:latin typeface="Arial" panose="020B0604020202020204" pitchFamily="34" charset="0"/>
                <a:cs typeface="Arial" panose="020B0604020202020204" pitchFamily="34" charset="0"/>
              </a:rPr>
              <a:t> de </a:t>
            </a:r>
            <a:r>
              <a:rPr lang="en-US" sz="900" dirty="0" err="1">
                <a:latin typeface="Arial" panose="020B0604020202020204" pitchFamily="34" charset="0"/>
                <a:cs typeface="Arial" panose="020B0604020202020204" pitchFamily="34" charset="0"/>
              </a:rPr>
              <a:t>acoplo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que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habrá</a:t>
            </a:r>
            <a:r>
              <a:rPr lang="en-US" sz="900" dirty="0">
                <a:latin typeface="Arial" panose="020B0604020202020204" pitchFamily="34" charset="0"/>
                <a:cs typeface="Arial" panose="020B0604020202020204" pitchFamily="34" charset="0"/>
              </a:rPr>
              <a:t> entre las dos </a:t>
            </a:r>
            <a:r>
              <a:rPr lang="en-US" sz="900" dirty="0" err="1">
                <a:latin typeface="Arial" panose="020B0604020202020204" pitchFamily="34" charset="0"/>
                <a:cs typeface="Arial" panose="020B0604020202020204" pitchFamily="34" charset="0"/>
              </a:rPr>
              <a:t>guías</a:t>
            </a:r>
            <a:r>
              <a:rPr lang="en-US" sz="900" dirty="0">
                <a:latin typeface="Arial" panose="020B0604020202020204" pitchFamily="34" charset="0"/>
                <a:cs typeface="Arial" panose="020B0604020202020204" pitchFamily="34" charset="0"/>
              </a:rPr>
              <a:t> (se </a:t>
            </a:r>
            <a:r>
              <a:rPr lang="en-US" sz="900" dirty="0" err="1">
                <a:latin typeface="Arial" panose="020B0604020202020204" pitchFamily="34" charset="0"/>
                <a:cs typeface="Arial" panose="020B0604020202020204" pitchFamily="34" charset="0"/>
              </a:rPr>
              <a:t>estudia</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ejercicio</a:t>
            </a:r>
            <a:r>
              <a:rPr lang="en-US" sz="900" dirty="0">
                <a:latin typeface="Arial" panose="020B0604020202020204" pitchFamily="34" charset="0"/>
                <a:cs typeface="Arial" panose="020B0604020202020204" pitchFamily="34" charset="0"/>
              </a:rPr>
              <a:t> x).</a:t>
            </a:r>
          </a:p>
          <a:p>
            <a:pPr algn="just"/>
            <a:endParaRPr lang="en-US" sz="900" dirty="0">
              <a:latin typeface="Arial" panose="020B0604020202020204" pitchFamily="34" charset="0"/>
              <a:cs typeface="Arial" panose="020B0604020202020204" pitchFamily="34" charset="0"/>
            </a:endParaRPr>
          </a:p>
          <a:p>
            <a:pPr algn="just"/>
            <a:r>
              <a:rPr lang="en-US" sz="900" dirty="0" err="1">
                <a:latin typeface="Arial" panose="020B0604020202020204" pitchFamily="34" charset="0"/>
                <a:cs typeface="Arial" panose="020B0604020202020204" pitchFamily="34" charset="0"/>
              </a:rPr>
              <a:t>Además</a:t>
            </a:r>
            <a:r>
              <a:rPr lang="en-US" sz="900" dirty="0">
                <a:latin typeface="Arial" panose="020B0604020202020204" pitchFamily="34" charset="0"/>
                <a:cs typeface="Arial" panose="020B0604020202020204" pitchFamily="34" charset="0"/>
              </a:rPr>
              <a:t>, se </a:t>
            </a:r>
            <a:r>
              <a:rPr lang="en-US" sz="900" dirty="0" err="1">
                <a:latin typeface="Arial" panose="020B0604020202020204" pitchFamily="34" charset="0"/>
                <a:cs typeface="Arial" panose="020B0604020202020204" pitchFamily="34" charset="0"/>
              </a:rPr>
              <a:t>han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usado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guías</a:t>
            </a:r>
            <a:r>
              <a:rPr lang="en-US" sz="900" dirty="0">
                <a:latin typeface="Arial" panose="020B0604020202020204" pitchFamily="34" charset="0"/>
                <a:cs typeface="Arial" panose="020B0604020202020204" pitchFamily="34" charset="0"/>
              </a:rPr>
              <a:t> deep, </a:t>
            </a:r>
            <a:r>
              <a:rPr lang="en-US" sz="900" dirty="0" err="1">
                <a:latin typeface="Arial" panose="020B0604020202020204" pitchFamily="34" charset="0"/>
                <a:cs typeface="Arial" panose="020B0604020202020204" pitchFamily="34" charset="0"/>
              </a:rPr>
              <a:t>por</a:t>
            </a:r>
            <a:r>
              <a:rPr lang="en-US" sz="900" dirty="0">
                <a:latin typeface="Arial" panose="020B0604020202020204" pitchFamily="34" charset="0"/>
                <a:cs typeface="Arial" panose="020B0604020202020204" pitchFamily="34" charset="0"/>
              </a:rPr>
              <a:t> lo </a:t>
            </a:r>
            <a:r>
              <a:rPr lang="en-US" sz="900" dirty="0" err="1">
                <a:latin typeface="Arial" panose="020B0604020202020204" pitchFamily="34" charset="0"/>
                <a:cs typeface="Arial" panose="020B0604020202020204" pitchFamily="34" charset="0"/>
              </a:rPr>
              <a:t>que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su</a:t>
            </a:r>
            <a:r>
              <a:rPr lang="en-US" sz="900" dirty="0">
                <a:latin typeface="Arial" panose="020B0604020202020204" pitchFamily="34" charset="0"/>
                <a:cs typeface="Arial" panose="020B0604020202020204" pitchFamily="34" charset="0"/>
              </a:rPr>
              <a:t> slab thickness es de 0 nm.</a:t>
            </a:r>
          </a:p>
          <a:p>
            <a:pPr algn="just"/>
            <a:endParaRPr lang="en-US" sz="12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59141B15-8551-99D6-E4D1-59A47D3554F5}"/>
              </a:ext>
            </a:extLst>
          </p:cNvPr>
          <p:cNvPicPr>
            <a:picLocks noChangeAspect="1"/>
          </p:cNvPicPr>
          <p:nvPr/>
        </p:nvPicPr>
        <p:blipFill>
          <a:blip r:embed="rId4"/>
          <a:srcRect l="1283" t="3639" r="1613" b="3352"/>
          <a:stretch>
            <a:fillRect/>
          </a:stretch>
        </p:blipFill>
        <p:spPr>
          <a:xfrm>
            <a:off x="3232698" y="957318"/>
            <a:ext cx="4992213" cy="3373615"/>
          </a:xfrm>
          <a:prstGeom prst="rect">
            <a:avLst/>
          </a:prstGeom>
        </p:spPr>
      </p:pic>
    </p:spTree>
    <p:extLst>
      <p:ext uri="{BB962C8B-B14F-4D97-AF65-F5344CB8AC3E}">
        <p14:creationId xmlns:p14="http://schemas.microsoft.com/office/powerpoint/2010/main" val="3500614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1ECB-54A7-CD32-E901-1DE76599A0F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57F6DB5-0035-3F87-53D3-5A772C36FBE7}"/>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6A97CEF-DDB5-5FE0-9CC7-3EEFB33A54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BCE179A-9458-E55C-F478-16CB37E84CF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46F1AA5F-CD88-674C-B9D7-83301368A11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E81A0744-12CB-A4CC-F67D-C11E9E829C43}"/>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dirty="0"/>
          </a:p>
          <a:p>
            <a:pPr algn="just"/>
            <a:endParaRPr lang="en-US" sz="2000" kern="0" dirty="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5D166AB-2064-687C-51FC-01FB8AB452D0}"/>
                  </a:ext>
                </a:extLst>
              </p:cNvPr>
              <p:cNvSpPr txBox="1"/>
              <p:nvPr/>
            </p:nvSpPr>
            <p:spPr>
              <a:xfrm>
                <a:off x="231571" y="3665670"/>
                <a:ext cx="11223010" cy="2452851"/>
              </a:xfrm>
              <a:prstGeom prst="rect">
                <a:avLst/>
              </a:prstGeom>
              <a:solidFill>
                <a:schemeClr val="bg1">
                  <a:lumMod val="95000"/>
                </a:schemeClr>
              </a:solidFill>
              <a:ln w="28575">
                <a:solidFill>
                  <a:srgbClr val="E0700D"/>
                </a:solidFill>
              </a:ln>
            </p:spPr>
            <p:txBody>
              <a:bodyPr wrap="square" rtlCol="0">
                <a:spAutoFit/>
              </a:bodyPr>
              <a:lstStyle/>
              <a:p>
                <a:pPr algn="just"/>
                <a:r>
                  <a:rPr lang="en-US" sz="900" b="1" i="1"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En segundo lugar, se han calculado los cuatro primeros modos del acoplador direccional. Los dos primeros corresponden a modos TE, ya que están asociados principalmente a la componente Ex</a:t>
                </a:r>
                <a:r>
                  <a:rPr lang="ar-AE" sz="900" dirty="0">
                    <a:latin typeface="Arial" panose="020B0604020202020204" pitchFamily="34" charset="0"/>
                    <a:cs typeface="Arial" panose="020B0604020202020204" pitchFamily="34" charset="0"/>
                  </a:rPr>
                  <a:t>, </a:t>
                </a:r>
                <a:r>
                  <a:rPr lang="es-ES" sz="900" dirty="0">
                    <a:latin typeface="Arial" panose="020B0604020202020204" pitchFamily="34" charset="0"/>
                    <a:cs typeface="Arial" panose="020B0604020202020204" pitchFamily="34" charset="0"/>
                  </a:rPr>
                  <a:t>mientras que los otros dos corresponden a modos TM, asociados principalmente a la componente </a:t>
                </a:r>
                <a:r>
                  <a:rPr lang="es-ES" sz="900" dirty="0" err="1">
                    <a:latin typeface="Arial" panose="020B0604020202020204" pitchFamily="34" charset="0"/>
                    <a:cs typeface="Arial" panose="020B0604020202020204" pitchFamily="34" charset="0"/>
                  </a:rPr>
                  <a:t>Ey</a:t>
                </a:r>
                <a:r>
                  <a:rPr lang="es-ES" sz="900" dirty="0">
                    <a:latin typeface="Arial" panose="020B0604020202020204" pitchFamily="34" charset="0"/>
                    <a:cs typeface="Arial" panose="020B0604020202020204" pitchFamily="34" charset="0"/>
                  </a:rPr>
                  <a:t>.</a:t>
                </a:r>
              </a:p>
              <a:p>
                <a:pPr algn="just"/>
                <a:endParaRPr lang="en-US" sz="900" dirty="0">
                  <a:latin typeface="Arial" panose="020B0604020202020204" pitchFamily="34" charset="0"/>
                  <a:cs typeface="Arial" panose="020B0604020202020204" pitchFamily="34" charset="0"/>
                </a:endParaRPr>
              </a:p>
              <a:p>
                <a:pPr algn="just"/>
                <a:r>
                  <a:rPr lang="en-US" sz="900" dirty="0">
                    <a:latin typeface="Arial" panose="020B0604020202020204" pitchFamily="34" charset="0"/>
                    <a:cs typeface="Arial" panose="020B0604020202020204" pitchFamily="34" charset="0"/>
                  </a:rPr>
                  <a:t>En </a:t>
                </a:r>
                <a:r>
                  <a:rPr lang="en-US" sz="900" dirty="0" err="1">
                    <a:latin typeface="Arial" panose="020B0604020202020204" pitchFamily="34" charset="0"/>
                    <a:cs typeface="Arial" panose="020B0604020202020204" pitchFamily="34" charset="0"/>
                  </a:rPr>
                  <a:t>este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caso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en</a:t>
                </a:r>
                <a:r>
                  <a:rPr lang="en-US" sz="900" dirty="0">
                    <a:latin typeface="Arial" panose="020B0604020202020204" pitchFamily="34" charset="0"/>
                    <a:cs typeface="Arial" panose="020B0604020202020204" pitchFamily="34" charset="0"/>
                  </a:rPr>
                  <a:t> las </a:t>
                </a:r>
                <a:r>
                  <a:rPr lang="en-US" sz="900" dirty="0" err="1">
                    <a:latin typeface="Arial" panose="020B0604020202020204" pitchFamily="34" charset="0"/>
                    <a:cs typeface="Arial" panose="020B0604020202020204" pitchFamily="34" charset="0"/>
                  </a:rPr>
                  <a:t>imágenes</a:t>
                </a:r>
                <a:r>
                  <a:rPr lang="en-US" sz="900" dirty="0">
                    <a:latin typeface="Arial" panose="020B0604020202020204" pitchFamily="34" charset="0"/>
                    <a:cs typeface="Arial" panose="020B0604020202020204" pitchFamily="34" charset="0"/>
                  </a:rPr>
                  <a:t> se </a:t>
                </a:r>
                <a:r>
                  <a:rPr lang="en-US" sz="900" dirty="0" err="1">
                    <a:latin typeface="Arial" panose="020B0604020202020204" pitchFamily="34" charset="0"/>
                    <a:cs typeface="Arial" panose="020B0604020202020204" pitchFamily="34" charset="0"/>
                  </a:rPr>
                  <a:t>han</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representado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los</a:t>
                </a:r>
                <a:r>
                  <a:rPr lang="en-US" sz="900" dirty="0">
                    <a:latin typeface="Arial" panose="020B0604020202020204" pitchFamily="34" charset="0"/>
                    <a:cs typeface="Arial" panose="020B0604020202020204" pitchFamily="34" charset="0"/>
                  </a:rPr>
                  <a:t> dos primeros </a:t>
                </a:r>
                <a:r>
                  <a:rPr lang="en-US" sz="900" dirty="0" err="1">
                    <a:latin typeface="Arial" panose="020B0604020202020204" pitchFamily="34" charset="0"/>
                    <a:cs typeface="Arial" panose="020B0604020202020204" pitchFamily="34" charset="0"/>
                  </a:rPr>
                  <a:t>modos</a:t>
                </a:r>
                <a:r>
                  <a:rPr lang="en-US" sz="900" dirty="0">
                    <a:latin typeface="Arial" panose="020B0604020202020204" pitchFamily="34" charset="0"/>
                    <a:cs typeface="Arial" panose="020B0604020202020204" pitchFamily="34" charset="0"/>
                  </a:rPr>
                  <a:t> TE. La imagen de la </a:t>
                </a:r>
                <a:r>
                  <a:rPr lang="en-US" sz="900" dirty="0" err="1">
                    <a:latin typeface="Arial" panose="020B0604020202020204" pitchFamily="34" charset="0"/>
                    <a:cs typeface="Arial" panose="020B0604020202020204" pitchFamily="34" charset="0"/>
                  </a:rPr>
                  <a:t>izquierda</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corresponde</a:t>
                </a:r>
                <a:r>
                  <a:rPr lang="en-US" sz="900" dirty="0">
                    <a:latin typeface="Arial" panose="020B0604020202020204" pitchFamily="34" charset="0"/>
                    <a:cs typeface="Arial" panose="020B0604020202020204" pitchFamily="34" charset="0"/>
                  </a:rPr>
                  <a:t> al primer modo (TE0),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cual</a:t>
                </a:r>
                <a:r>
                  <a:rPr lang="en-US" sz="900" dirty="0">
                    <a:latin typeface="Arial" panose="020B0604020202020204" pitchFamily="34" charset="0"/>
                    <a:cs typeface="Arial" panose="020B0604020202020204" pitchFamily="34" charset="0"/>
                  </a:rPr>
                  <a:t> se </a:t>
                </a:r>
                <a:r>
                  <a:rPr lang="en-US" sz="900" dirty="0" err="1">
                    <a:latin typeface="Arial" panose="020B0604020202020204" pitchFamily="34" charset="0"/>
                    <a:cs typeface="Arial" panose="020B0604020202020204" pitchFamily="34" charset="0"/>
                  </a:rPr>
                  <a:t>trata</a:t>
                </a:r>
                <a:r>
                  <a:rPr lang="en-US" sz="900" dirty="0">
                    <a:latin typeface="Arial" panose="020B0604020202020204" pitchFamily="34" charset="0"/>
                    <a:cs typeface="Arial" panose="020B0604020202020204" pitchFamily="34" charset="0"/>
                  </a:rPr>
                  <a:t> de un modo </a:t>
                </a:r>
                <a:r>
                  <a:rPr lang="en-US" sz="900" dirty="0" err="1">
                    <a:latin typeface="Arial" panose="020B0604020202020204" pitchFamily="34" charset="0"/>
                    <a:cs typeface="Arial" panose="020B0604020202020204" pitchFamily="34" charset="0"/>
                  </a:rPr>
                  <a:t>simétrico</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el</a:t>
                </a:r>
                <a:r>
                  <a:rPr lang="en-US" sz="900" dirty="0">
                    <a:latin typeface="Arial" panose="020B0604020202020204" pitchFamily="34" charset="0"/>
                    <a:cs typeface="Arial" panose="020B0604020202020204" pitchFamily="34" charset="0"/>
                  </a:rPr>
                  <a:t> primer modo </a:t>
                </a:r>
                <a:r>
                  <a:rPr lang="en-US" sz="900" dirty="0" err="1">
                    <a:latin typeface="Arial" panose="020B0604020202020204" pitchFamily="34" charset="0"/>
                    <a:cs typeface="Arial" panose="020B0604020202020204" pitchFamily="34" charset="0"/>
                  </a:rPr>
                  <a:t>siempre</a:t>
                </a:r>
                <a:r>
                  <a:rPr lang="en-US" sz="900" dirty="0">
                    <a:latin typeface="Arial" panose="020B0604020202020204" pitchFamily="34" charset="0"/>
                    <a:cs typeface="Arial" panose="020B0604020202020204" pitchFamily="34" charset="0"/>
                  </a:rPr>
                  <a:t> </a:t>
                </a:r>
                <a:r>
                  <a:rPr lang="en-US" sz="900" dirty="0" err="1">
                    <a:latin typeface="Arial" panose="020B0604020202020204" pitchFamily="34" charset="0"/>
                    <a:cs typeface="Arial" panose="020B0604020202020204" pitchFamily="34" charset="0"/>
                  </a:rPr>
                  <a:t>va</a:t>
                </a:r>
                <a:r>
                  <a:rPr lang="en-US" sz="900" dirty="0">
                    <a:latin typeface="Arial" panose="020B0604020202020204" pitchFamily="34" charset="0"/>
                    <a:cs typeface="Arial" panose="020B0604020202020204" pitchFamily="34" charset="0"/>
                  </a:rPr>
                  <a:t> a ser </a:t>
                </a:r>
                <a:r>
                  <a:rPr lang="en-US" sz="900" dirty="0" err="1">
                    <a:latin typeface="Arial" panose="020B0604020202020204" pitchFamily="34" charset="0"/>
                    <a:cs typeface="Arial" panose="020B0604020202020204" pitchFamily="34" charset="0"/>
                  </a:rPr>
                  <a:t>simétrico</a:t>
                </a:r>
                <a:r>
                  <a:rPr lang="en-US" sz="900" dirty="0">
                    <a:latin typeface="Arial" panose="020B0604020202020204" pitchFamily="34" charset="0"/>
                    <a:cs typeface="Arial" panose="020B0604020202020204" pitchFamily="34" charset="0"/>
                  </a:rPr>
                  <a:t>)</a:t>
                </a:r>
                <a:r>
                  <a:rPr lang="es-ES" sz="900" dirty="0">
                    <a:latin typeface="Arial" panose="020B0604020202020204" pitchFamily="34" charset="0"/>
                    <a:cs typeface="Arial" panose="020B0604020202020204" pitchFamily="34" charset="0"/>
                  </a:rPr>
                  <a:t>, ya que el campo tiene el mismo signo en ambas guías y aparecen dos lóbulos positivos. </a:t>
                </a:r>
              </a:p>
              <a:p>
                <a:pPr algn="just"/>
                <a:endParaRPr lang="es-E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Por otro lado, la imagen de la derecha corresponde al segundo modo (TE1), el cual es un modo antisimétrico, ya que el campo cambia de signo entre una guía y la otra, apareciendo un lóbulo positivo y otro negativo.</a:t>
                </a:r>
              </a:p>
              <a:p>
                <a:pPr algn="just"/>
                <a:endParaRPr lang="es-E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Esta diferencia entre el modo simétrico y el antisimétrico es la base del acoplo direccional: ambos modos se propagan con índices efectivos distintos y producen una transferencia periódica de potencia entre las dos guías. A partir de estos índices efectivos se calcula 𝐿𝜋, que representa la distancia necesaria para transferir completamente la potencia de una guía a la otra. </a:t>
                </a:r>
              </a:p>
              <a:p>
                <a:pPr algn="just"/>
                <a:endParaRPr lang="es-E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Para los modos TE, usando los modos 0 y 1, se obtiene </a:t>
                </a:r>
                <a14:m>
                  <m:oMath xmlns:m="http://schemas.openxmlformats.org/officeDocument/2006/math">
                    <m:sSub>
                      <m:sSubPr>
                        <m:ctrlPr>
                          <a:rPr lang="ar-AE" sz="900" i="1">
                            <a:latin typeface="Cambria Math" panose="02040503050406030204" pitchFamily="18" charset="0"/>
                          </a:rPr>
                        </m:ctrlPr>
                      </m:sSubPr>
                      <m:e>
                        <m:r>
                          <a:rPr lang="ar-AE" sz="900" b="0" i="1">
                            <a:latin typeface="Cambria Math" panose="02040503050406030204" pitchFamily="18" charset="0"/>
                          </a:rPr>
                          <m:t>𝐿</m:t>
                        </m:r>
                      </m:e>
                      <m:sub>
                        <m:r>
                          <a:rPr lang="ar-AE" sz="900" b="0" i="1">
                            <a:latin typeface="Cambria Math" panose="02040503050406030204" pitchFamily="18" charset="0"/>
                          </a:rPr>
                          <m:t>𝜋</m:t>
                        </m:r>
                        <m:r>
                          <a:rPr lang="ar-AE" sz="900" b="0">
                            <a:latin typeface="Cambria Math" panose="02040503050406030204" pitchFamily="18" charset="0"/>
                          </a:rPr>
                          <m:t>,</m:t>
                        </m:r>
                        <m:r>
                          <a:rPr lang="ar-AE" sz="900" b="0" i="1">
                            <a:latin typeface="Cambria Math" panose="02040503050406030204" pitchFamily="18" charset="0"/>
                          </a:rPr>
                          <m:t>𝑇𝐸</m:t>
                        </m:r>
                      </m:sub>
                    </m:sSub>
                    <m:r>
                      <a:rPr lang="ar-AE" sz="900" b="0">
                        <a:latin typeface="Cambria Math" panose="02040503050406030204" pitchFamily="18" charset="0"/>
                      </a:rPr>
                      <m:t>=</m:t>
                    </m:r>
                    <m:r>
                      <a:rPr lang="ar-AE" sz="900" b="0" i="1">
                        <a:latin typeface="Cambria Math" panose="02040503050406030204" pitchFamily="18" charset="0"/>
                      </a:rPr>
                      <m:t>93</m:t>
                    </m:r>
                    <m:r>
                      <a:rPr lang="ar-AE" sz="900" b="0">
                        <a:latin typeface="Cambria Math" panose="02040503050406030204" pitchFamily="18" charset="0"/>
                      </a:rPr>
                      <m:t>.</m:t>
                    </m:r>
                    <m:r>
                      <a:rPr lang="ar-AE" sz="900" b="0" i="1">
                        <a:latin typeface="Cambria Math" panose="02040503050406030204" pitchFamily="18" charset="0"/>
                      </a:rPr>
                      <m:t>84</m:t>
                    </m:r>
                    <m:r>
                      <m:rPr>
                        <m:nor/>
                      </m:rPr>
                      <a:rPr lang="ar-AE" sz="900" i="1">
                        <a:latin typeface="Arial" panose="020B0604020202020204" pitchFamily="34" charset="0"/>
                        <a:cs typeface="Arial" panose="020B0604020202020204" pitchFamily="34" charset="0"/>
                      </a:rPr>
                      <m:t> </m:t>
                    </m:r>
                    <m:r>
                      <a:rPr lang="ar-AE" sz="900" b="0" i="1">
                        <a:latin typeface="Cambria Math" panose="02040503050406030204" pitchFamily="18" charset="0"/>
                      </a:rPr>
                      <m:t>𝜇</m:t>
                    </m:r>
                    <m:r>
                      <a:rPr lang="ar-AE" sz="900" b="0" i="1">
                        <a:latin typeface="Cambria Math" panose="02040503050406030204" pitchFamily="18" charset="0"/>
                      </a:rPr>
                      <m:t>𝑚</m:t>
                    </m:r>
                  </m:oMath>
                </a14:m>
                <a:r>
                  <a:rPr lang="ar-AE" sz="900" dirty="0">
                    <a:latin typeface="Arial" panose="020B0604020202020204" pitchFamily="34" charset="0"/>
                    <a:cs typeface="Arial" panose="020B0604020202020204" pitchFamily="34" charset="0"/>
                  </a:rPr>
                  <a:t>, </a:t>
                </a:r>
                <a:r>
                  <a:rPr lang="es-ES" sz="900" dirty="0">
                    <a:latin typeface="Arial" panose="020B0604020202020204" pitchFamily="34" charset="0"/>
                    <a:cs typeface="Arial" panose="020B0604020202020204" pitchFamily="34" charset="0"/>
                  </a:rPr>
                  <a:t>mientras que para los modos TM, usando los modos 2 y 3, se obtiene </a:t>
                </a:r>
                <a14:m>
                  <m:oMath xmlns:m="http://schemas.openxmlformats.org/officeDocument/2006/math">
                    <m:sSub>
                      <m:sSubPr>
                        <m:ctrlPr>
                          <a:rPr lang="ar-AE" sz="900" i="1">
                            <a:latin typeface="Cambria Math" panose="02040503050406030204" pitchFamily="18" charset="0"/>
                          </a:rPr>
                        </m:ctrlPr>
                      </m:sSubPr>
                      <m:e>
                        <m:r>
                          <a:rPr lang="ar-AE" sz="900" b="0" i="1">
                            <a:latin typeface="Cambria Math" panose="02040503050406030204" pitchFamily="18" charset="0"/>
                          </a:rPr>
                          <m:t>𝐿</m:t>
                        </m:r>
                      </m:e>
                      <m:sub>
                        <m:r>
                          <a:rPr lang="ar-AE" sz="900" b="0" i="1">
                            <a:latin typeface="Cambria Math" panose="02040503050406030204" pitchFamily="18" charset="0"/>
                          </a:rPr>
                          <m:t>𝜋</m:t>
                        </m:r>
                        <m:r>
                          <a:rPr lang="ar-AE" sz="900" b="0">
                            <a:latin typeface="Cambria Math" panose="02040503050406030204" pitchFamily="18" charset="0"/>
                          </a:rPr>
                          <m:t>,</m:t>
                        </m:r>
                        <m:r>
                          <a:rPr lang="ar-AE" sz="900" b="0" i="1">
                            <a:latin typeface="Cambria Math" panose="02040503050406030204" pitchFamily="18" charset="0"/>
                          </a:rPr>
                          <m:t>𝑇𝑀</m:t>
                        </m:r>
                      </m:sub>
                    </m:sSub>
                    <m:r>
                      <a:rPr lang="ar-AE" sz="900" b="0">
                        <a:latin typeface="Cambria Math" panose="02040503050406030204" pitchFamily="18" charset="0"/>
                      </a:rPr>
                      <m:t>=</m:t>
                    </m:r>
                    <m:r>
                      <a:rPr lang="ar-AE" sz="900" b="0" i="1">
                        <a:latin typeface="Cambria Math" panose="02040503050406030204" pitchFamily="18" charset="0"/>
                      </a:rPr>
                      <m:t>52</m:t>
                    </m:r>
                    <m:r>
                      <a:rPr lang="ar-AE" sz="900" b="0">
                        <a:latin typeface="Cambria Math" panose="02040503050406030204" pitchFamily="18" charset="0"/>
                      </a:rPr>
                      <m:t>.</m:t>
                    </m:r>
                    <m:r>
                      <a:rPr lang="ar-AE" sz="900" b="0" i="1">
                        <a:latin typeface="Cambria Math" panose="02040503050406030204" pitchFamily="18" charset="0"/>
                      </a:rPr>
                      <m:t>26</m:t>
                    </m:r>
                    <m:r>
                      <m:rPr>
                        <m:nor/>
                      </m:rPr>
                      <a:rPr lang="ar-AE" sz="900" i="1">
                        <a:latin typeface="Arial" panose="020B0604020202020204" pitchFamily="34" charset="0"/>
                        <a:cs typeface="Arial" panose="020B0604020202020204" pitchFamily="34" charset="0"/>
                      </a:rPr>
                      <m:t> </m:t>
                    </m:r>
                    <m:r>
                      <a:rPr lang="ar-AE" sz="900" b="0" i="1">
                        <a:latin typeface="Cambria Math" panose="02040503050406030204" pitchFamily="18" charset="0"/>
                      </a:rPr>
                      <m:t>𝜇</m:t>
                    </m:r>
                    <m:r>
                      <a:rPr lang="ar-AE" sz="900" b="0" i="1">
                        <a:latin typeface="Cambria Math" panose="02040503050406030204" pitchFamily="18" charset="0"/>
                      </a:rPr>
                      <m:t>𝑚</m:t>
                    </m:r>
                    <m:r>
                      <a:rPr lang="es-ES" sz="900" b="0" i="0" smtClean="0">
                        <a:latin typeface="Cambria Math" panose="02040503050406030204" pitchFamily="18" charset="0"/>
                      </a:rPr>
                      <m:t>. </m:t>
                    </m:r>
                  </m:oMath>
                </a14:m>
                <a:endParaRPr lang="es-ES" sz="900" dirty="0">
                  <a:latin typeface="Arial" panose="020B0604020202020204" pitchFamily="34" charset="0"/>
                  <a:cs typeface="Arial" panose="020B0604020202020204" pitchFamily="34" charset="0"/>
                </a:endParaRPr>
              </a:p>
              <a:p>
                <a:pPr algn="just"/>
                <a:r>
                  <a:rPr lang="es-ES" sz="900" dirty="0">
                    <a:latin typeface="Arial" panose="020B0604020202020204" pitchFamily="34" charset="0"/>
                    <a:cs typeface="Arial" panose="020B0604020202020204" pitchFamily="34" charset="0"/>
                  </a:rPr>
                  <a:t>Por tanto, vemos que se requiere una distancia mayor para los modos TE. Esto no se debe simplemente a que estén más confinados, sino a que la diferencia entre los índices efectivos del modo TE simétrico y el modo TE antisimétrico es menor. Al ser menor esta diferencia, necesitan más distancia de propagación para acumular un desfase de 180º entre ellos. Por otro lado, en los modos TM dicha distancia es menor, porque la diferencia entre sus índices efectivos es mayor. Por tanto, los modos TM acumulan el desfase de 180º en una distancia más corta.</a:t>
                </a:r>
                <a:endParaRPr lang="en-US" sz="9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25D166AB-2064-687C-51FC-01FB8AB452D0}"/>
                  </a:ext>
                </a:extLst>
              </p:cNvPr>
              <p:cNvSpPr txBox="1">
                <a:spLocks noRot="1" noChangeAspect="1" noMove="1" noResize="1" noEditPoints="1" noAdjustHandles="1" noChangeArrowheads="1" noChangeShapeType="1" noTextEdit="1"/>
              </p:cNvSpPr>
              <p:nvPr/>
            </p:nvSpPr>
            <p:spPr>
              <a:xfrm>
                <a:off x="231571" y="3665670"/>
                <a:ext cx="11223010" cy="2452851"/>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pic>
        <p:nvPicPr>
          <p:cNvPr id="7" name="Imagen 6">
            <a:extLst>
              <a:ext uri="{FF2B5EF4-FFF2-40B4-BE49-F238E27FC236}">
                <a16:creationId xmlns:a16="http://schemas.microsoft.com/office/drawing/2014/main" id="{10B2241D-7FF2-1E4A-6EBE-A4ED4B60569D}"/>
              </a:ext>
            </a:extLst>
          </p:cNvPr>
          <p:cNvPicPr>
            <a:picLocks noChangeAspect="1"/>
          </p:cNvPicPr>
          <p:nvPr/>
        </p:nvPicPr>
        <p:blipFill>
          <a:blip r:embed="rId5"/>
          <a:stretch>
            <a:fillRect/>
          </a:stretch>
        </p:blipFill>
        <p:spPr>
          <a:xfrm>
            <a:off x="1676400" y="941928"/>
            <a:ext cx="3914873" cy="2668506"/>
          </a:xfrm>
          <a:prstGeom prst="rect">
            <a:avLst/>
          </a:prstGeom>
        </p:spPr>
      </p:pic>
      <p:pic>
        <p:nvPicPr>
          <p:cNvPr id="9" name="Imagen 8">
            <a:extLst>
              <a:ext uri="{FF2B5EF4-FFF2-40B4-BE49-F238E27FC236}">
                <a16:creationId xmlns:a16="http://schemas.microsoft.com/office/drawing/2014/main" id="{CEB22B8A-119E-DB99-7BE5-D46EEEF57377}"/>
              </a:ext>
            </a:extLst>
          </p:cNvPr>
          <p:cNvPicPr>
            <a:picLocks noChangeAspect="1"/>
          </p:cNvPicPr>
          <p:nvPr/>
        </p:nvPicPr>
        <p:blipFill>
          <a:blip r:embed="rId6"/>
          <a:stretch>
            <a:fillRect/>
          </a:stretch>
        </p:blipFill>
        <p:spPr>
          <a:xfrm>
            <a:off x="5838411" y="945038"/>
            <a:ext cx="3986875" cy="2668506"/>
          </a:xfrm>
          <a:prstGeom prst="rect">
            <a:avLst/>
          </a:prstGeom>
        </p:spPr>
      </p:pic>
    </p:spTree>
    <p:extLst>
      <p:ext uri="{BB962C8B-B14F-4D97-AF65-F5344CB8AC3E}">
        <p14:creationId xmlns:p14="http://schemas.microsoft.com/office/powerpoint/2010/main" val="3041194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84005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28853" y="678806"/>
            <a:ext cx="2057400" cy="598179"/>
          </a:xfrm>
          <a:prstGeom prst="rect">
            <a:avLst/>
          </a:prstGeom>
        </p:spPr>
      </p:pic>
      <p:pic>
        <p:nvPicPr>
          <p:cNvPr id="12" name="Imagen 11">
            <a:extLst>
              <a:ext uri="{FF2B5EF4-FFF2-40B4-BE49-F238E27FC236}">
                <a16:creationId xmlns:a16="http://schemas.microsoft.com/office/drawing/2014/main" id="{FE35E716-E84E-C89F-43EA-B2B64AC2D287}"/>
              </a:ext>
            </a:extLst>
          </p:cNvPr>
          <p:cNvPicPr>
            <a:picLocks noChangeAspect="1"/>
          </p:cNvPicPr>
          <p:nvPr/>
        </p:nvPicPr>
        <p:blipFill>
          <a:blip r:embed="rId5"/>
          <a:stretch>
            <a:fillRect/>
          </a:stretch>
        </p:blipFill>
        <p:spPr>
          <a:xfrm>
            <a:off x="1151489" y="1504186"/>
            <a:ext cx="4944511" cy="3735584"/>
          </a:xfrm>
          <a:prstGeom prst="rect">
            <a:avLst/>
          </a:prstGeom>
        </p:spPr>
      </p:pic>
      <p:pic>
        <p:nvPicPr>
          <p:cNvPr id="14" name="Imagen 13">
            <a:extLst>
              <a:ext uri="{FF2B5EF4-FFF2-40B4-BE49-F238E27FC236}">
                <a16:creationId xmlns:a16="http://schemas.microsoft.com/office/drawing/2014/main" id="{8D8A0744-B2C9-4111-319E-E9F2904E14CC}"/>
              </a:ext>
            </a:extLst>
          </p:cNvPr>
          <p:cNvPicPr>
            <a:picLocks noChangeAspect="1"/>
          </p:cNvPicPr>
          <p:nvPr/>
        </p:nvPicPr>
        <p:blipFill>
          <a:blip r:embed="rId6"/>
          <a:stretch>
            <a:fillRect/>
          </a:stretch>
        </p:blipFill>
        <p:spPr>
          <a:xfrm>
            <a:off x="6170564" y="1504186"/>
            <a:ext cx="4915774" cy="3744201"/>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60FE2-6E7C-58D0-03AA-8E130ECB967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043681D-C357-CBBF-7DB5-254E22D6C4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CEFBA4B-E9A5-1544-0B7D-72EAE2F3B4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2402D09-73B8-4088-F546-604E86F2AC4D}"/>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F990604E-0B9D-5F58-E781-E34C469169D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74E8735-0FB2-5E94-5FCF-51BF0AC001AC}"/>
                  </a:ext>
                </a:extLst>
              </p:cNvPr>
              <p:cNvSpPr txBox="1"/>
              <p:nvPr/>
            </p:nvSpPr>
            <p:spPr>
              <a:xfrm>
                <a:off x="480239" y="1741764"/>
                <a:ext cx="11199971" cy="3245247"/>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b="1" i="1"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En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ejercicio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calculado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coeficiente</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acoplo</a:t>
                </a:r>
                <a:r>
                  <a:rPr lang="en-US" sz="1000" dirty="0">
                    <a:latin typeface="Arial" panose="020B0604020202020204" pitchFamily="34" charset="0"/>
                    <a:cs typeface="Arial" panose="020B0604020202020204" pitchFamily="34" charset="0"/>
                  </a:rPr>
                  <a:t> tanto para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modos</a:t>
                </a:r>
                <a:r>
                  <a:rPr lang="en-US" sz="1000" dirty="0">
                    <a:latin typeface="Arial" panose="020B0604020202020204" pitchFamily="34" charset="0"/>
                    <a:cs typeface="Arial" panose="020B0604020202020204" pitchFamily="34" charset="0"/>
                  </a:rPr>
                  <a:t> TE </a:t>
                </a:r>
                <a:r>
                  <a:rPr lang="en-US" sz="1000" dirty="0" err="1">
                    <a:latin typeface="Arial" panose="020B0604020202020204" pitchFamily="34" charset="0"/>
                    <a:cs typeface="Arial" panose="020B0604020202020204" pitchFamily="34" charset="0"/>
                  </a:rPr>
                  <a:t>como</a:t>
                </a:r>
                <a:r>
                  <a:rPr lang="en-US" sz="1000" dirty="0">
                    <a:latin typeface="Arial" panose="020B0604020202020204" pitchFamily="34" charset="0"/>
                    <a:cs typeface="Arial" panose="020B0604020202020204" pitchFamily="34" charset="0"/>
                  </a:rPr>
                  <a:t> para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modos</a:t>
                </a:r>
                <a:r>
                  <a:rPr lang="en-US" sz="1000" dirty="0">
                    <a:latin typeface="Arial" panose="020B0604020202020204" pitchFamily="34" charset="0"/>
                    <a:cs typeface="Arial" panose="020B0604020202020204" pitchFamily="34" charset="0"/>
                  </a:rPr>
                  <a:t> TM,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función</a:t>
                </a:r>
                <a:r>
                  <a:rPr lang="en-US" sz="1000" dirty="0">
                    <a:latin typeface="Arial" panose="020B0604020202020204" pitchFamily="34" charset="0"/>
                    <a:cs typeface="Arial" panose="020B0604020202020204" pitchFamily="34" charset="0"/>
                  </a:rPr>
                  <a:t> de la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física</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acoplador</a:t>
                </a:r>
                <a:r>
                  <a:rPr lang="es-ES" sz="1000" dirty="0">
                    <a:latin typeface="Arial" panose="020B0604020202020204" pitchFamily="34" charset="0"/>
                    <a:cs typeface="Arial" panose="020B0604020202020204" pitchFamily="34" charset="0"/>
                  </a:rPr>
                  <a:t>, siguiendo la fórmula mostrada arriba de las figuras. </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Cuando el coeficiente de acoplo vale uno, significa que la longitud del acoplador es igual a 𝐿𝜋, por tanto, toda la potencia se transfiere a la otra guía al estar totalmente acopladas, mientras que cuando dicho coeficiente vale cero, significa que la potencia permanece en la guía inicial o vuelve a ella después de completar un ciclo de acoplo.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otro lado, vemos que la forma de las dos gráficas es distinta: para un mismo rango de valores, para los dos modos TE se obtiene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r>
                          <a:rPr lang="ar-AE" sz="1000">
                            <a:latin typeface="Cambria Math" panose="02040503050406030204" pitchFamily="18" charset="0"/>
                          </a:rPr>
                          <m:t>,</m:t>
                        </m:r>
                        <m:r>
                          <a:rPr lang="ar-AE" sz="1000" i="1">
                            <a:latin typeface="Cambria Math" panose="02040503050406030204" pitchFamily="18" charset="0"/>
                          </a:rPr>
                          <m:t>𝑇𝐸</m:t>
                        </m:r>
                      </m:sub>
                    </m:sSub>
                    <m:r>
                      <a:rPr lang="ar-AE" sz="1000">
                        <a:latin typeface="Cambria Math" panose="02040503050406030204" pitchFamily="18" charset="0"/>
                      </a:rPr>
                      <m:t>=</m:t>
                    </m:r>
                    <m:r>
                      <a:rPr lang="ar-AE" sz="1000" i="1">
                        <a:latin typeface="Cambria Math" panose="02040503050406030204" pitchFamily="18" charset="0"/>
                      </a:rPr>
                      <m:t>93</m:t>
                    </m:r>
                    <m:r>
                      <a:rPr lang="ar-AE" sz="1000">
                        <a:latin typeface="Cambria Math" panose="02040503050406030204" pitchFamily="18" charset="0"/>
                      </a:rPr>
                      <m:t>.</m:t>
                    </m:r>
                    <m:r>
                      <a:rPr lang="ar-AE" sz="1000" i="1">
                        <a:latin typeface="Cambria Math" panose="02040503050406030204" pitchFamily="18" charset="0"/>
                      </a:rPr>
                      <m:t>84</m:t>
                    </m:r>
                    <m:r>
                      <m:rPr>
                        <m:nor/>
                      </m:rPr>
                      <a:rPr lang="ar-AE" sz="1000" i="1">
                        <a:latin typeface="Arial" panose="020B0604020202020204" pitchFamily="34" charset="0"/>
                        <a:cs typeface="Arial" panose="020B0604020202020204" pitchFamily="34" charset="0"/>
                      </a:rPr>
                      <m:t> </m:t>
                    </m:r>
                    <m:r>
                      <a:rPr lang="ar-AE" sz="1000" i="1">
                        <a:latin typeface="Cambria Math" panose="02040503050406030204" pitchFamily="18" charset="0"/>
                      </a:rPr>
                      <m:t>𝜇</m:t>
                    </m:r>
                    <m:r>
                      <a:rPr lang="ar-AE" sz="1000" i="1">
                        <a:latin typeface="Cambria Math" panose="02040503050406030204" pitchFamily="18" charset="0"/>
                      </a:rPr>
                      <m:t>𝑚</m:t>
                    </m:r>
                  </m:oMath>
                </a14:m>
                <a:r>
                  <a:rPr lang="en-US" sz="1000" dirty="0">
                    <a:latin typeface="Arial" panose="020B0604020202020204" pitchFamily="34" charset="0"/>
                    <a:cs typeface="Arial" panose="020B0604020202020204" pitchFamily="34" charset="0"/>
                  </a:rPr>
                  <a:t>, es </a:t>
                </a:r>
                <a:r>
                  <a:rPr lang="en-US" sz="1000" dirty="0" err="1">
                    <a:latin typeface="Arial" panose="020B0604020202020204" pitchFamily="34" charset="0"/>
                    <a:cs typeface="Arial" panose="020B0604020202020204" pitchFamily="34" charset="0"/>
                  </a:rPr>
                  <a:t>decir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coeficiente</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acoplo</a:t>
                </a:r>
                <a:r>
                  <a:rPr lang="en-US" sz="1000" dirty="0">
                    <a:latin typeface="Arial" panose="020B0604020202020204" pitchFamily="34" charset="0"/>
                    <a:cs typeface="Arial" panose="020B0604020202020204" pitchFamily="34" charset="0"/>
                  </a:rPr>
                  <a:t> es 1 y se produce la </a:t>
                </a:r>
                <a:r>
                  <a:rPr lang="en-US" sz="1000" dirty="0" err="1">
                    <a:latin typeface="Arial" panose="020B0604020202020204" pitchFamily="34" charset="0"/>
                    <a:cs typeface="Arial" panose="020B0604020202020204" pitchFamily="34" charset="0"/>
                  </a:rPr>
                  <a:t>transferencia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máxima</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mientras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al doble de </a:t>
                </a:r>
                <a:r>
                  <a:rPr lang="es-ES" sz="1000" dirty="0">
                    <a:latin typeface="Arial" panose="020B0604020202020204" pitchFamily="34" charset="0"/>
                    <a:cs typeface="Arial" panose="020B0604020202020204" pitchFamily="34" charset="0"/>
                  </a:rPr>
                  <a:t>𝐿𝜋, a la beat </a:t>
                </a:r>
                <a:r>
                  <a:rPr lang="es-ES" sz="1000" dirty="0" err="1">
                    <a:latin typeface="Arial" panose="020B0604020202020204" pitchFamily="34" charset="0"/>
                    <a:cs typeface="Arial" panose="020B0604020202020204" pitchFamily="34" charset="0"/>
                  </a:rPr>
                  <a:t>length</a:t>
                </a:r>
                <a:r>
                  <a:rPr lang="es-ES" sz="1000" dirty="0">
                    <a:latin typeface="Arial" panose="020B0604020202020204" pitchFamily="34" charset="0"/>
                    <a:cs typeface="Arial" panose="020B0604020202020204" pitchFamily="34" charset="0"/>
                  </a:rPr>
                  <a:t> Lb, los modos vuelven a estar en una condición equivalente a la inicial, por lo que la potencia vuelve a la guía de entrada y el coeficiente de acoplo vuelve a 0. </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los dos modos TM sucede lo mismo, con la diferencia de que ahora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r>
                          <a:rPr lang="ar-AE" sz="1000">
                            <a:latin typeface="Cambria Math" panose="02040503050406030204" pitchFamily="18" charset="0"/>
                          </a:rPr>
                          <m:t>,</m:t>
                        </m:r>
                        <m:r>
                          <a:rPr lang="ar-AE" sz="1000" i="1">
                            <a:latin typeface="Cambria Math" panose="02040503050406030204" pitchFamily="18" charset="0"/>
                          </a:rPr>
                          <m:t>𝑇𝑀</m:t>
                        </m:r>
                      </m:sub>
                    </m:sSub>
                    <m:r>
                      <a:rPr lang="ar-AE" sz="1000">
                        <a:latin typeface="Cambria Math" panose="02040503050406030204" pitchFamily="18" charset="0"/>
                      </a:rPr>
                      <m:t>=</m:t>
                    </m:r>
                    <m:r>
                      <a:rPr lang="ar-AE" sz="1000" i="1">
                        <a:latin typeface="Cambria Math" panose="02040503050406030204" pitchFamily="18" charset="0"/>
                      </a:rPr>
                      <m:t>52</m:t>
                    </m:r>
                    <m:r>
                      <a:rPr lang="ar-AE" sz="1000">
                        <a:latin typeface="Cambria Math" panose="02040503050406030204" pitchFamily="18" charset="0"/>
                      </a:rPr>
                      <m:t>.</m:t>
                    </m:r>
                    <m:r>
                      <a:rPr lang="ar-AE" sz="1000" i="1">
                        <a:latin typeface="Cambria Math" panose="02040503050406030204" pitchFamily="18" charset="0"/>
                      </a:rPr>
                      <m:t>26</m:t>
                    </m:r>
                    <m:r>
                      <m:rPr>
                        <m:nor/>
                      </m:rPr>
                      <a:rPr lang="ar-AE" sz="1000" i="1">
                        <a:latin typeface="Arial" panose="020B0604020202020204" pitchFamily="34" charset="0"/>
                        <a:cs typeface="Arial" panose="020B0604020202020204" pitchFamily="34" charset="0"/>
                      </a:rPr>
                      <m:t> </m:t>
                    </m:r>
                    <m:r>
                      <a:rPr lang="ar-AE" sz="1000" i="1">
                        <a:latin typeface="Cambria Math" panose="02040503050406030204" pitchFamily="18" charset="0"/>
                      </a:rPr>
                      <m:t>𝜇</m:t>
                    </m:r>
                    <m:r>
                      <a:rPr lang="ar-AE" sz="1000" i="1">
                        <a:latin typeface="Cambria Math" panose="02040503050406030204" pitchFamily="18" charset="0"/>
                      </a:rPr>
                      <m:t>𝑚</m:t>
                    </m:r>
                  </m:oMath>
                </a14:m>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por</a:t>
                </a:r>
                <a:r>
                  <a:rPr lang="en-US" sz="1000" dirty="0">
                    <a:latin typeface="Arial" panose="020B0604020202020204" pitchFamily="34" charset="0"/>
                    <a:cs typeface="Arial" panose="020B0604020202020204" pitchFamily="34" charset="0"/>
                  </a:rPr>
                  <a:t> tanto </a:t>
                </a:r>
                <a:r>
                  <a:rPr lang="en-US" sz="1000" dirty="0" err="1">
                    <a:latin typeface="Arial" panose="020B0604020202020204" pitchFamily="34" charset="0"/>
                    <a:cs typeface="Arial" panose="020B0604020202020204" pitchFamily="34" charset="0"/>
                  </a:rPr>
                  <a:t>vemos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como</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transferencia</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ocurre</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distancia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menor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debido</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diferencia</a:t>
                </a:r>
                <a:r>
                  <a:rPr lang="en-US" sz="1000" dirty="0">
                    <a:latin typeface="Arial" panose="020B0604020202020204" pitchFamily="34" charset="0"/>
                    <a:cs typeface="Arial" panose="020B0604020202020204" pitchFamily="34" charset="0"/>
                  </a:rPr>
                  <a:t> entre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índices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efectivos</a:t>
                </a:r>
                <a:r>
                  <a:rPr lang="en-US" sz="1000" dirty="0">
                    <a:latin typeface="Arial" panose="020B0604020202020204" pitchFamily="34" charset="0"/>
                    <a:cs typeface="Arial" panose="020B0604020202020204" pitchFamily="34" charset="0"/>
                  </a:rPr>
                  <a:t> es mayor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TM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TE. Es </a:t>
                </a:r>
                <a:r>
                  <a:rPr lang="en-US" sz="1000" dirty="0" err="1">
                    <a:latin typeface="Arial" panose="020B0604020202020204" pitchFamily="34" charset="0"/>
                    <a:cs typeface="Arial" panose="020B0604020202020204" pitchFamily="34" charset="0"/>
                  </a:rPr>
                  <a:t>decir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acumulan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desfase</a:t>
                </a:r>
                <a:r>
                  <a:rPr lang="en-US" sz="1000" dirty="0">
                    <a:latin typeface="Arial" panose="020B0604020202020204" pitchFamily="34" charset="0"/>
                    <a:cs typeface="Arial" panose="020B0604020202020204" pitchFamily="34" charset="0"/>
                  </a:rPr>
                  <a:t> de 180º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menos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 </a:t>
                </a:r>
              </a:p>
              <a:p>
                <a:pPr algn="just"/>
                <a:r>
                  <a:rPr lang="en-US" sz="1000" dirty="0">
                    <a:latin typeface="Arial" panose="020B0604020202020204" pitchFamily="34" charset="0"/>
                    <a:cs typeface="Arial" panose="020B0604020202020204" pitchFamily="34" charset="0"/>
                  </a:rPr>
                  <a:t>Es </a:t>
                </a:r>
                <a:r>
                  <a:rPr lang="en-US" sz="1000" dirty="0" err="1">
                    <a:latin typeface="Arial" panose="020B0604020202020204" pitchFamily="34" charset="0"/>
                    <a:cs typeface="Arial" panose="020B0604020202020204" pitchFamily="34" charset="0"/>
                  </a:rPr>
                  <a:t>por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ello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gráfica</a:t>
                </a:r>
                <a:r>
                  <a:rPr lang="en-US" sz="1000" dirty="0">
                    <a:latin typeface="Arial" panose="020B0604020202020204" pitchFamily="34" charset="0"/>
                    <a:cs typeface="Arial" panose="020B0604020202020204" pitchFamily="34" charset="0"/>
                  </a:rPr>
                  <a:t> de la </a:t>
                </a:r>
                <a:r>
                  <a:rPr lang="en-US" sz="1000" dirty="0" err="1">
                    <a:latin typeface="Arial" panose="020B0604020202020204" pitchFamily="34" charset="0"/>
                    <a:cs typeface="Arial" panose="020B0604020202020204" pitchFamily="34" charset="0"/>
                  </a:rPr>
                  <a:t>derecha</a:t>
                </a:r>
                <a:r>
                  <a:rPr lang="en-US" sz="1000" dirty="0">
                    <a:latin typeface="Arial" panose="020B0604020202020204" pitchFamily="34" charset="0"/>
                    <a:cs typeface="Arial" panose="020B0604020202020204" pitchFamily="34" charset="0"/>
                  </a:rPr>
                  <a:t> (la de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modos</a:t>
                </a:r>
                <a:r>
                  <a:rPr lang="en-US" sz="1000" dirty="0">
                    <a:latin typeface="Arial" panose="020B0604020202020204" pitchFamily="34" charset="0"/>
                    <a:cs typeface="Arial" panose="020B0604020202020204" pitchFamily="34" charset="0"/>
                  </a:rPr>
                  <a:t> TM), </a:t>
                </a:r>
                <a:r>
                  <a:rPr lang="en-US" sz="1000" dirty="0" err="1">
                    <a:latin typeface="Arial" panose="020B0604020202020204" pitchFamily="34" charset="0"/>
                    <a:cs typeface="Arial" panose="020B0604020202020204" pitchFamily="34" charset="0"/>
                  </a:rPr>
                  <a:t>sí</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se </a:t>
                </a:r>
                <a:r>
                  <a:rPr lang="en-US" sz="1000" dirty="0" err="1">
                    <a:latin typeface="Arial" panose="020B0604020202020204" pitchFamily="34" charset="0"/>
                    <a:cs typeface="Arial" panose="020B0604020202020204" pitchFamily="34" charset="0"/>
                  </a:rPr>
                  <a:t>llega</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apreciar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cómo</a:t>
                </a:r>
                <a:r>
                  <a:rPr lang="en-US" sz="1000" dirty="0">
                    <a:latin typeface="Arial" panose="020B0604020202020204" pitchFamily="34" charset="0"/>
                    <a:cs typeface="Arial" panose="020B0604020202020204" pitchFamily="34" charset="0"/>
                  </a:rPr>
                  <a:t> al doble de </a:t>
                </a:r>
                <a:r>
                  <a:rPr lang="es-ES" sz="1000" dirty="0">
                    <a:latin typeface="Arial" panose="020B0604020202020204" pitchFamily="34" charset="0"/>
                    <a:cs typeface="Arial" panose="020B0604020202020204" pitchFamily="34" charset="0"/>
                  </a:rPr>
                  <a:t>𝐿𝜋 llega a la beat </a:t>
                </a:r>
                <a:r>
                  <a:rPr lang="es-ES" sz="1000" dirty="0" err="1">
                    <a:latin typeface="Arial" panose="020B0604020202020204" pitchFamily="34" charset="0"/>
                    <a:cs typeface="Arial" panose="020B0604020202020204" pitchFamily="34" charset="0"/>
                  </a:rPr>
                  <a:t>length</a:t>
                </a:r>
                <a:r>
                  <a:rPr lang="es-ES" sz="1000" dirty="0">
                    <a:latin typeface="Arial" panose="020B0604020202020204" pitchFamily="34" charset="0"/>
                    <a:cs typeface="Arial" panose="020B0604020202020204" pitchFamily="34" charset="0"/>
                  </a:rPr>
                  <a:t> Lb, el coeficiente de acoplo vuelve a 0, y posteriormente la potencia se vuelve a acoplar en la otra guía.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Además, para conseguir un </a:t>
                </a:r>
                <a:r>
                  <a:rPr lang="es-ES" sz="1000" dirty="0" err="1">
                    <a:latin typeface="Arial" panose="020B0604020202020204" pitchFamily="34" charset="0"/>
                    <a:cs typeface="Arial" panose="020B0604020202020204" pitchFamily="34" charset="0"/>
                  </a:rPr>
                  <a:t>splitter</a:t>
                </a:r>
                <a:r>
                  <a:rPr lang="es-ES" sz="1000" dirty="0">
                    <a:latin typeface="Arial" panose="020B0604020202020204" pitchFamily="34" charset="0"/>
                    <a:cs typeface="Arial" panose="020B0604020202020204" pitchFamily="34" charset="0"/>
                  </a:rPr>
                  <a:t>, es decir el reparto de potencia al 50%, se debe de usar </a:t>
                </a:r>
                <a14:m>
                  <m:oMath xmlns:m="http://schemas.openxmlformats.org/officeDocument/2006/math">
                    <m:r>
                      <a:rPr lang="es-ES" sz="1000" b="0" i="1">
                        <a:latin typeface="Cambria Math" panose="02040503050406030204" pitchFamily="18" charset="0"/>
                      </a:rPr>
                      <m:t>𝐾</m:t>
                    </m:r>
                    <m:r>
                      <a:rPr lang="es-ES" sz="1000" b="0">
                        <a:latin typeface="Cambria Math" panose="02040503050406030204" pitchFamily="18" charset="0"/>
                      </a:rPr>
                      <m:t>=</m:t>
                    </m:r>
                    <m:r>
                      <a:rPr lang="es-ES" sz="1000" b="0" i="1">
                        <a:latin typeface="Cambria Math" panose="02040503050406030204" pitchFamily="18" charset="0"/>
                      </a:rPr>
                      <m:t>0</m:t>
                    </m:r>
                    <m:r>
                      <a:rPr lang="es-ES" sz="1000" b="0">
                        <a:latin typeface="Cambria Math" panose="02040503050406030204" pitchFamily="18" charset="0"/>
                      </a:rPr>
                      <m:t>.</m:t>
                    </m:r>
                    <m:r>
                      <a:rPr lang="es-ES" sz="1000" b="0" i="1">
                        <a:latin typeface="Cambria Math" panose="02040503050406030204" pitchFamily="18" charset="0"/>
                      </a:rPr>
                      <m:t>5</m:t>
                    </m:r>
                  </m:oMath>
                </a14:m>
                <a:r>
                  <a:rPr lang="es-ES" sz="1000" dirty="0">
                    <a:latin typeface="Arial" panose="020B0604020202020204" pitchFamily="34" charset="0"/>
                    <a:cs typeface="Arial" panose="020B0604020202020204" pitchFamily="34" charset="0"/>
                  </a:rPr>
                  <a:t>, que corresponde aproximadamente a L=</a:t>
                </a:r>
                <a14:m>
                  <m:oMath xmlns:m="http://schemas.openxmlformats.org/officeDocument/2006/math">
                    <m:sSub>
                      <m:sSubPr>
                        <m:ctrlPr>
                          <a:rPr lang="ar-AE" sz="1000" i="1">
                            <a:latin typeface="Cambria Math" panose="02040503050406030204" pitchFamily="18" charset="0"/>
                          </a:rPr>
                        </m:ctrlPr>
                      </m:sSubPr>
                      <m:e>
                        <m:r>
                          <a:rPr lang="ar-AE" sz="1000" b="0" i="1">
                            <a:latin typeface="Cambria Math" panose="02040503050406030204" pitchFamily="18" charset="0"/>
                          </a:rPr>
                          <m:t>𝐿</m:t>
                        </m:r>
                      </m:e>
                      <m:sub>
                        <m:r>
                          <a:rPr lang="ar-AE" sz="1000" b="0" i="1">
                            <a:latin typeface="Cambria Math" panose="02040503050406030204" pitchFamily="18" charset="0"/>
                          </a:rPr>
                          <m:t>𝜋</m:t>
                        </m:r>
                      </m:sub>
                    </m:sSub>
                    <m:r>
                      <a:rPr lang="ar-AE" sz="1000" b="0">
                        <a:latin typeface="Cambria Math" panose="02040503050406030204" pitchFamily="18" charset="0"/>
                      </a:rPr>
                      <m:t>/</m:t>
                    </m:r>
                    <m:r>
                      <a:rPr lang="ar-AE" sz="1000" b="0" i="1">
                        <a:latin typeface="Cambria Math" panose="02040503050406030204" pitchFamily="18" charset="0"/>
                      </a:rPr>
                      <m:t>2</m:t>
                    </m:r>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Por tanto, para TE la longitud necesaria para dividir la potencia en partes iguales es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𝑇𝐸</m:t>
                        </m:r>
                      </m:sub>
                    </m:sSub>
                    <m:r>
                      <a:rPr lang="es-ES" sz="1000" b="0" i="1" smtClean="0">
                        <a:latin typeface="Cambria Math" panose="02040503050406030204" pitchFamily="18" charset="0"/>
                      </a:rPr>
                      <m:t>=</m:t>
                    </m:r>
                    <m:r>
                      <a:rPr lang="es-ES" sz="1000" b="0" i="1">
                        <a:latin typeface="Cambria Math" panose="02040503050406030204" pitchFamily="18" charset="0"/>
                      </a:rPr>
                      <m:t>46</m:t>
                    </m:r>
                    <m:r>
                      <a:rPr lang="es-ES" sz="1000" b="0">
                        <a:latin typeface="Cambria Math" panose="02040503050406030204" pitchFamily="18" charset="0"/>
                      </a:rPr>
                      <m:t>.</m:t>
                    </m:r>
                    <m:r>
                      <a:rPr lang="es-ES" sz="1000" b="0" i="1">
                        <a:latin typeface="Cambria Math" panose="02040503050406030204" pitchFamily="18" charset="0"/>
                      </a:rPr>
                      <m:t>92</m:t>
                    </m:r>
                    <m:r>
                      <m:rPr>
                        <m:nor/>
                      </m:rPr>
                      <a:rPr lang="es-ES" sz="1000" i="1">
                        <a:latin typeface="Arial" panose="020B0604020202020204" pitchFamily="34" charset="0"/>
                        <a:cs typeface="Arial" panose="020B0604020202020204" pitchFamily="34" charset="0"/>
                      </a:rPr>
                      <m:t> </m:t>
                    </m:r>
                    <m:r>
                      <a:rPr lang="es-ES" sz="1000" b="0" i="1">
                        <a:latin typeface="Cambria Math" panose="02040503050406030204" pitchFamily="18" charset="0"/>
                      </a:rPr>
                      <m:t>𝜇</m:t>
                    </m:r>
                    <m:r>
                      <a:rPr lang="es-ES" sz="1000" b="0" i="1">
                        <a:latin typeface="Cambria Math" panose="02040503050406030204" pitchFamily="18" charset="0"/>
                      </a:rPr>
                      <m:t>𝑚</m:t>
                    </m:r>
                  </m:oMath>
                </a14:m>
                <a:r>
                  <a:rPr lang="es-ES" sz="1000" dirty="0">
                    <a:latin typeface="Arial" panose="020B0604020202020204" pitchFamily="34" charset="0"/>
                    <a:cs typeface="Arial" panose="020B0604020202020204" pitchFamily="34" charset="0"/>
                  </a:rPr>
                  <a:t>, mientras que para TM es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𝑇𝑀</m:t>
                        </m:r>
                      </m:sub>
                    </m:sSub>
                    <m:r>
                      <a:rPr lang="es-ES" sz="1000" b="0" i="1" smtClean="0">
                        <a:latin typeface="Cambria Math" panose="02040503050406030204" pitchFamily="18" charset="0"/>
                      </a:rPr>
                      <m:t>=</m:t>
                    </m:r>
                    <m:r>
                      <a:rPr lang="es-ES" sz="1000" b="0" i="1">
                        <a:latin typeface="Cambria Math" panose="02040503050406030204" pitchFamily="18" charset="0"/>
                      </a:rPr>
                      <m:t>26</m:t>
                    </m:r>
                    <m:r>
                      <a:rPr lang="es-ES" sz="1000" b="0">
                        <a:latin typeface="Cambria Math" panose="02040503050406030204" pitchFamily="18" charset="0"/>
                      </a:rPr>
                      <m:t>.</m:t>
                    </m:r>
                    <m:r>
                      <a:rPr lang="es-ES" sz="1000" b="0" i="1">
                        <a:latin typeface="Cambria Math" panose="02040503050406030204" pitchFamily="18" charset="0"/>
                      </a:rPr>
                      <m:t>13</m:t>
                    </m:r>
                    <m:r>
                      <m:rPr>
                        <m:nor/>
                      </m:rPr>
                      <a:rPr lang="es-ES" sz="1000" i="1">
                        <a:latin typeface="Arial" panose="020B0604020202020204" pitchFamily="34" charset="0"/>
                        <a:cs typeface="Arial" panose="020B0604020202020204" pitchFamily="34" charset="0"/>
                      </a:rPr>
                      <m:t> </m:t>
                    </m:r>
                    <m:r>
                      <a:rPr lang="es-ES" sz="1000" b="0" i="1">
                        <a:latin typeface="Cambria Math" panose="02040503050406030204" pitchFamily="18" charset="0"/>
                      </a:rPr>
                      <m:t>𝜇</m:t>
                    </m:r>
                    <m:r>
                      <a:rPr lang="es-ES" sz="1000" b="0" i="1">
                        <a:latin typeface="Cambria Math" panose="02040503050406030204" pitchFamily="18" charset="0"/>
                      </a:rPr>
                      <m:t>𝑚</m:t>
                    </m:r>
                  </m:oMath>
                </a14:m>
                <a:r>
                  <a:rPr lang="es-ES" sz="1000" dirty="0">
                    <a:latin typeface="Arial" panose="020B0604020202020204" pitchFamily="34" charset="0"/>
                    <a:cs typeface="Arial" panose="020B0604020202020204" pitchFamily="34" charset="0"/>
                  </a:rPr>
                  <a:t>.</a:t>
                </a:r>
                <a:endParaRPr lang="en-US" sz="10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74E8735-0FB2-5E94-5FCF-51BF0AC001AC}"/>
                  </a:ext>
                </a:extLst>
              </p:cNvPr>
              <p:cNvSpPr txBox="1">
                <a:spLocks noRot="1" noChangeAspect="1" noMove="1" noResize="1" noEditPoints="1" noAdjustHandles="1" noChangeArrowheads="1" noChangeShapeType="1" noTextEdit="1"/>
              </p:cNvSpPr>
              <p:nvPr/>
            </p:nvSpPr>
            <p:spPr>
              <a:xfrm>
                <a:off x="480239" y="1741764"/>
                <a:ext cx="11199971" cy="324524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pic>
        <p:nvPicPr>
          <p:cNvPr id="6" name="Imagen 5" descr="Forma&#10;&#10;Descripción generada automáticamente con confianza media">
            <a:extLst>
              <a:ext uri="{FF2B5EF4-FFF2-40B4-BE49-F238E27FC236}">
                <a16:creationId xmlns:a16="http://schemas.microsoft.com/office/drawing/2014/main" id="{0DB5FD8C-2122-9F88-6212-9B140FF838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85020" y="761543"/>
            <a:ext cx="2057400" cy="598179"/>
          </a:xfrm>
          <a:prstGeom prst="rect">
            <a:avLst/>
          </a:prstGeom>
        </p:spPr>
      </p:pic>
    </p:spTree>
    <p:extLst>
      <p:ext uri="{BB962C8B-B14F-4D97-AF65-F5344CB8AC3E}">
        <p14:creationId xmlns:p14="http://schemas.microsoft.com/office/powerpoint/2010/main" val="2451903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4490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EE9C704-B391-B131-1F5D-4DD8AD5DF363}"/>
              </a:ext>
            </a:extLst>
          </p:cNvPr>
          <p:cNvPicPr>
            <a:picLocks noChangeAspect="1"/>
          </p:cNvPicPr>
          <p:nvPr/>
        </p:nvPicPr>
        <p:blipFill>
          <a:blip r:embed="rId4"/>
          <a:stretch>
            <a:fillRect/>
          </a:stretch>
        </p:blipFill>
        <p:spPr>
          <a:xfrm>
            <a:off x="685800" y="2072953"/>
            <a:ext cx="3943900" cy="1000265"/>
          </a:xfrm>
          <a:prstGeom prst="rect">
            <a:avLst/>
          </a:prstGeom>
        </p:spPr>
      </p:pic>
      <p:pic>
        <p:nvPicPr>
          <p:cNvPr id="9" name="Imagen 8">
            <a:extLst>
              <a:ext uri="{FF2B5EF4-FFF2-40B4-BE49-F238E27FC236}">
                <a16:creationId xmlns:a16="http://schemas.microsoft.com/office/drawing/2014/main" id="{1C81A8C1-8E80-6811-58CB-205185D3AD83}"/>
              </a:ext>
            </a:extLst>
          </p:cNvPr>
          <p:cNvPicPr>
            <a:picLocks noChangeAspect="1"/>
          </p:cNvPicPr>
          <p:nvPr/>
        </p:nvPicPr>
        <p:blipFill>
          <a:blip r:embed="rId5"/>
          <a:stretch>
            <a:fillRect/>
          </a:stretch>
        </p:blipFill>
        <p:spPr>
          <a:xfrm>
            <a:off x="4785715" y="2104705"/>
            <a:ext cx="3229426" cy="1295581"/>
          </a:xfrm>
          <a:prstGeom prst="rect">
            <a:avLst/>
          </a:prstGeom>
        </p:spPr>
      </p:pic>
      <p:pic>
        <p:nvPicPr>
          <p:cNvPr id="11" name="Imagen 10">
            <a:extLst>
              <a:ext uri="{FF2B5EF4-FFF2-40B4-BE49-F238E27FC236}">
                <a16:creationId xmlns:a16="http://schemas.microsoft.com/office/drawing/2014/main" id="{7CD859A7-F320-FB4C-D944-EC3BEA7F8CCE}"/>
              </a:ext>
            </a:extLst>
          </p:cNvPr>
          <p:cNvPicPr>
            <a:picLocks noChangeAspect="1"/>
          </p:cNvPicPr>
          <p:nvPr/>
        </p:nvPicPr>
        <p:blipFill>
          <a:blip r:embed="rId6"/>
          <a:stretch>
            <a:fillRect/>
          </a:stretch>
        </p:blipFill>
        <p:spPr>
          <a:xfrm>
            <a:off x="8310134" y="2231265"/>
            <a:ext cx="3305636" cy="543001"/>
          </a:xfrm>
          <a:prstGeom prst="rect">
            <a:avLst/>
          </a:prstGeom>
        </p:spPr>
      </p:pic>
      <p:pic>
        <p:nvPicPr>
          <p:cNvPr id="13" name="Imagen 12">
            <a:extLst>
              <a:ext uri="{FF2B5EF4-FFF2-40B4-BE49-F238E27FC236}">
                <a16:creationId xmlns:a16="http://schemas.microsoft.com/office/drawing/2014/main" id="{7553E6A3-D014-F1D5-E621-BBEB4D72F82B}"/>
              </a:ext>
            </a:extLst>
          </p:cNvPr>
          <p:cNvPicPr>
            <a:picLocks noChangeAspect="1"/>
          </p:cNvPicPr>
          <p:nvPr/>
        </p:nvPicPr>
        <p:blipFill>
          <a:blip r:embed="rId7"/>
          <a:stretch>
            <a:fillRect/>
          </a:stretch>
        </p:blipFill>
        <p:spPr>
          <a:xfrm>
            <a:off x="1012550" y="3429610"/>
            <a:ext cx="3566356" cy="1804121"/>
          </a:xfrm>
          <a:prstGeom prst="rect">
            <a:avLst/>
          </a:prstGeom>
        </p:spPr>
      </p:pic>
      <p:pic>
        <p:nvPicPr>
          <p:cNvPr id="15" name="Imagen 14">
            <a:extLst>
              <a:ext uri="{FF2B5EF4-FFF2-40B4-BE49-F238E27FC236}">
                <a16:creationId xmlns:a16="http://schemas.microsoft.com/office/drawing/2014/main" id="{9413EF78-A4E1-A640-28AE-59A15A4553F3}"/>
              </a:ext>
            </a:extLst>
          </p:cNvPr>
          <p:cNvPicPr>
            <a:picLocks noChangeAspect="1"/>
          </p:cNvPicPr>
          <p:nvPr/>
        </p:nvPicPr>
        <p:blipFill>
          <a:blip r:embed="rId8"/>
          <a:stretch>
            <a:fillRect/>
          </a:stretch>
        </p:blipFill>
        <p:spPr>
          <a:xfrm>
            <a:off x="8504501" y="3423390"/>
            <a:ext cx="3150975" cy="1804121"/>
          </a:xfrm>
          <a:prstGeom prst="rect">
            <a:avLst/>
          </a:prstGeom>
        </p:spPr>
      </p:pic>
      <p:pic>
        <p:nvPicPr>
          <p:cNvPr id="18" name="Imagen 17">
            <a:extLst>
              <a:ext uri="{FF2B5EF4-FFF2-40B4-BE49-F238E27FC236}">
                <a16:creationId xmlns:a16="http://schemas.microsoft.com/office/drawing/2014/main" id="{42860E7A-B049-8202-BFB8-0F57448EC2BF}"/>
              </a:ext>
            </a:extLst>
          </p:cNvPr>
          <p:cNvPicPr>
            <a:picLocks noChangeAspect="1"/>
          </p:cNvPicPr>
          <p:nvPr/>
        </p:nvPicPr>
        <p:blipFill>
          <a:blip r:embed="rId9"/>
          <a:stretch>
            <a:fillRect/>
          </a:stretch>
        </p:blipFill>
        <p:spPr>
          <a:xfrm>
            <a:off x="4785715" y="3423390"/>
            <a:ext cx="3524419" cy="1804121"/>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B1280-098C-7B8C-B51D-DB3557C20F1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78234B5-5001-CCFB-11F6-19C8C5D76AE3}"/>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82E1A214-CF83-731C-D96E-484909E64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1A3A09A-4351-09EC-2B23-1F794F9870C5}"/>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7D7AE817-D6C9-8213-C772-38BEF7166AB5}"/>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3856910-DA26-80D4-8490-DFECDBE8142A}"/>
                  </a:ext>
                </a:extLst>
              </p:cNvPr>
              <p:cNvSpPr txBox="1"/>
              <p:nvPr/>
            </p:nvSpPr>
            <p:spPr>
              <a:xfrm>
                <a:off x="480239" y="1447800"/>
                <a:ext cx="11199971" cy="3323987"/>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 (Coupling relationship, </a:t>
                </a:r>
                <a:r>
                  <a:rPr lang="en-US" sz="1200" b="1" i="1" dirty="0" err="1">
                    <a:latin typeface="Arial" panose="020B0604020202020204" pitchFamily="34" charset="0"/>
                    <a:cs typeface="Arial" panose="020B0604020202020204" pitchFamily="34" charset="0"/>
                  </a:rPr>
                  <a:t>Lpi</a:t>
                </a:r>
                <a:r>
                  <a:rPr lang="en-US" sz="1200" b="1" i="1" dirty="0">
                    <a:latin typeface="Arial" panose="020B0604020202020204" pitchFamily="34" charset="0"/>
                    <a:cs typeface="Arial" panose="020B0604020202020204" pitchFamily="34" charset="0"/>
                  </a:rPr>
                  <a:t>, losses, … )</a:t>
                </a: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apartado se ha simulado un acoplador direccional 2x2 diseñado para funcionar como </a:t>
                </a:r>
                <a:r>
                  <a:rPr lang="es-ES" sz="1000" dirty="0" err="1">
                    <a:latin typeface="Arial" panose="020B0604020202020204" pitchFamily="34" charset="0"/>
                    <a:cs typeface="Arial" panose="020B0604020202020204" pitchFamily="34" charset="0"/>
                  </a:rPr>
                  <a:t>splitter</a:t>
                </a:r>
                <a:r>
                  <a:rPr lang="es-ES" sz="1000" dirty="0">
                    <a:latin typeface="Arial" panose="020B0604020202020204" pitchFamily="34" charset="0"/>
                    <a:cs typeface="Arial" panose="020B0604020202020204" pitchFamily="34" charset="0"/>
                  </a:rPr>
                  <a:t> 50:50. Para ello se ha realizado un barrido del gap entre las dos guías, desde 0.2 µm hasta 1.2 µm, y para cada caso se ha ajustado la longitud de la región de acoplo para obtener dos salidas con la misma potencia.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las simulaciones se observa que, cuando el gap es menor, las guías están más próximas y el acoplo es más fuerte. Por tanto, la longitud necesaria para obtener el reparto 50:50 es menor. En cambio, cuando el gap aumenta, el solapamiento entre los campos de ambas guías disminuye, por lo que el coeficiente de acoplo es menor y se necesita una longitud de acoplo mucho mayor. Esto se ve en los resultados, donde aparecen longitudes muy diferentes, como 47.01 µm, 12.91 µm y 290.21 µm respectivamente, dependiendo del gap utilizado.</a:t>
                </a:r>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todos los casos, el reparto entre las dos salidas es prácticamente equilibrado, con ratios cercanos a 0.5/0.5 (ratio </a:t>
                </a:r>
                <a:r>
                  <a:rPr lang="es-ES" sz="1000" dirty="0" err="1">
                    <a:latin typeface="Arial" panose="020B0604020202020204" pitchFamily="34" charset="0"/>
                    <a:cs typeface="Arial" panose="020B0604020202020204" pitchFamily="34" charset="0"/>
                  </a:rPr>
                  <a:t>over</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OUTs</a:t>
                </a:r>
                <a:r>
                  <a:rPr lang="es-ES" sz="1000" dirty="0">
                    <a:latin typeface="Arial" panose="020B0604020202020204" pitchFamily="34" charset="0"/>
                    <a:cs typeface="Arial" panose="020B0604020202020204" pitchFamily="34" charset="0"/>
                  </a:rPr>
                  <a:t>). Esto indica que el diseño está funcionando correctamente como acoplador 3 dB, pero las pérdidas no son iguales en todos los casos (se obtienen pérdidas de 0.19 dB, 1.20 dB y 0.55 dB respectivamente). Por tanto, además de conseguir un reparto 50:50, también hay que comparar las pérdidas para escoger el diseño más adecuado.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resumen, al aumentar el gap disminuye el acoplo entre las guías y aumenta la longitud necesaria para conseguir el mismo reparto de potencia. El mejor diseño será el que consiga una relación de salida cercana a 50:50 con la menor pérdida posible y una longitud para el dispositivo razonable.</a:t>
                </a:r>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Para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barrido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realizado</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el mejor caso es el del acoplador con una longitud de 87 µm, ya que mantiene una relación de salida cercana a 0.5/0.5, presenta pérdidas bajas y no requiere una longitud excesivamente grande. Los gaps más pequeños permiten acopladores más cortos porque el acoplo es más fuerte y </a:t>
                </a:r>
                <a14:m>
                  <m:oMath xmlns:m="http://schemas.openxmlformats.org/officeDocument/2006/math">
                    <m:sSub>
                      <m:sSubPr>
                        <m:ctrlPr>
                          <a:rPr lang="ar-AE" sz="1000" i="1">
                            <a:latin typeface="Cambria Math" panose="02040503050406030204" pitchFamily="18" charset="0"/>
                          </a:rPr>
                        </m:ctrlPr>
                      </m:sSubPr>
                      <m:e>
                        <m:r>
                          <a:rPr lang="ar-AE" sz="1000" b="0" i="1" smtClean="0">
                            <a:latin typeface="Cambria Math" panose="02040503050406030204" pitchFamily="18" charset="0"/>
                          </a:rPr>
                          <m:t>𝐿</m:t>
                        </m:r>
                      </m:e>
                      <m:sub>
                        <m:r>
                          <a:rPr lang="ar-AE" sz="1000" b="0" i="1" smtClean="0">
                            <a:latin typeface="Cambria Math" panose="02040503050406030204" pitchFamily="18" charset="0"/>
                          </a:rPr>
                          <m:t>𝜋</m:t>
                        </m:r>
                      </m:sub>
                    </m:sSub>
                  </m:oMath>
                </a14:m>
                <a:r>
                  <a:rPr lang="es-ES" sz="1000" dirty="0">
                    <a:latin typeface="Arial" panose="020B0604020202020204" pitchFamily="34" charset="0"/>
                    <a:cs typeface="Arial" panose="020B0604020202020204" pitchFamily="34" charset="0"/>
                  </a:rPr>
                  <a:t> es menor, pero en las simulaciones presentan más pérdidas. En cambio, los gaps más grandes reducen las pérdidas, pero necesitan longitudes mucho mayores porque el acoplo entre las guías es más débil. Por tanto, el diseño de 87 µm representa un compromiso adecuado entre longitud, pérdidas y reparto de potencia.</a:t>
                </a:r>
                <a:endParaRPr lang="en-US" sz="10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43856910-DA26-80D4-8490-DFECDBE8142A}"/>
                  </a:ext>
                </a:extLst>
              </p:cNvPr>
              <p:cNvSpPr txBox="1">
                <a:spLocks noRot="1" noChangeAspect="1" noMove="1" noResize="1" noEditPoints="1" noAdjustHandles="1" noChangeArrowheads="1" noChangeShapeType="1" noTextEdit="1"/>
              </p:cNvSpPr>
              <p:nvPr/>
            </p:nvSpPr>
            <p:spPr>
              <a:xfrm>
                <a:off x="480239" y="1447800"/>
                <a:ext cx="11199971" cy="332398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62609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014D3-D6A9-670F-844B-9B7F4B08595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8719923-04BA-05E4-A67E-F6AB6E46C3FB}"/>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30B57D7C-2E28-993D-4CD6-20DC9ABEBD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7BE3CB9-42ED-2B6F-078A-0A6932FB3466}"/>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83CCB49B-A241-AEAA-BEC6-1B4FA3D84E1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C2F5DD9F-26F4-7A98-0433-9542E9E8403D}"/>
              </a:ext>
            </a:extLst>
          </p:cNvPr>
          <p:cNvSpPr/>
          <p:nvPr/>
        </p:nvSpPr>
        <p:spPr>
          <a:xfrm>
            <a:off x="456581" y="182246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FBDE452C-5712-1B41-8AA8-BAB66E2D77DF}"/>
              </a:ext>
            </a:extLst>
          </p:cNvPr>
          <p:cNvSpPr/>
          <p:nvPr/>
        </p:nvSpPr>
        <p:spPr>
          <a:xfrm>
            <a:off x="6168564" y="182246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ADAAAC6-11F2-6A95-5F56-E9D8239C0183}"/>
                  </a:ext>
                </a:extLst>
              </p:cNvPr>
              <p:cNvSpPr txBox="1"/>
              <p:nvPr/>
            </p:nvSpPr>
            <p:spPr>
              <a:xfrm>
                <a:off x="1243947" y="2963480"/>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EADAAAC6-11F2-6A95-5F56-E9D8239C0183}"/>
                  </a:ext>
                </a:extLst>
              </p:cNvPr>
              <p:cNvSpPr txBox="1">
                <a:spLocks noRot="1" noChangeAspect="1" noMove="1" noResize="1" noEditPoints="1" noAdjustHandles="1" noChangeArrowheads="1" noChangeShapeType="1" noTextEdit="1"/>
              </p:cNvSpPr>
              <p:nvPr/>
            </p:nvSpPr>
            <p:spPr>
              <a:xfrm>
                <a:off x="1243947" y="2963480"/>
                <a:ext cx="4546634" cy="1477328"/>
              </a:xfrm>
              <a:prstGeom prst="rect">
                <a:avLst/>
              </a:prstGeom>
              <a:blipFill>
                <a:blip r:embed="rId4"/>
                <a:stretch>
                  <a:fillRect t="-206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9EF8FB0-EFB8-2457-5C44-4C20A63DCBBB}"/>
                  </a:ext>
                </a:extLst>
              </p:cNvPr>
              <p:cNvSpPr txBox="1"/>
              <p:nvPr/>
            </p:nvSpPr>
            <p:spPr>
              <a:xfrm>
                <a:off x="6730506" y="308375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F9EF8FB0-EFB8-2457-5C44-4C20A63DCBBB}"/>
                  </a:ext>
                </a:extLst>
              </p:cNvPr>
              <p:cNvSpPr txBox="1">
                <a:spLocks noRot="1" noChangeAspect="1" noMove="1" noResize="1" noEditPoints="1" noAdjustHandles="1" noChangeArrowheads="1" noChangeShapeType="1" noTextEdit="1"/>
              </p:cNvSpPr>
              <p:nvPr/>
            </p:nvSpPr>
            <p:spPr>
              <a:xfrm>
                <a:off x="6730506" y="3083756"/>
                <a:ext cx="4546634" cy="1477328"/>
              </a:xfrm>
              <a:prstGeom prst="rect">
                <a:avLst/>
              </a:prstGeom>
              <a:blipFill>
                <a:blip r:embed="rId5"/>
                <a:stretch>
                  <a:fillRect t="-2479" b="-5785"/>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9FC82E3C-4C5C-707F-F65C-0DD50EE74889}"/>
              </a:ext>
            </a:extLst>
          </p:cNvPr>
          <p:cNvPicPr>
            <a:picLocks noChangeAspect="1"/>
          </p:cNvPicPr>
          <p:nvPr/>
        </p:nvPicPr>
        <p:blipFill>
          <a:blip r:embed="rId6"/>
          <a:stretch>
            <a:fillRect/>
          </a:stretch>
        </p:blipFill>
        <p:spPr>
          <a:xfrm>
            <a:off x="489652" y="1851090"/>
            <a:ext cx="5269827" cy="3235858"/>
          </a:xfrm>
          <a:prstGeom prst="rect">
            <a:avLst/>
          </a:prstGeom>
        </p:spPr>
      </p:pic>
      <p:pic>
        <p:nvPicPr>
          <p:cNvPr id="11" name="Imagen 10">
            <a:extLst>
              <a:ext uri="{FF2B5EF4-FFF2-40B4-BE49-F238E27FC236}">
                <a16:creationId xmlns:a16="http://schemas.microsoft.com/office/drawing/2014/main" id="{11BAB563-44C9-72A5-C01F-E20A35B08EF1}"/>
              </a:ext>
            </a:extLst>
          </p:cNvPr>
          <p:cNvPicPr>
            <a:picLocks noChangeAspect="1"/>
          </p:cNvPicPr>
          <p:nvPr/>
        </p:nvPicPr>
        <p:blipFill>
          <a:blip r:embed="rId7"/>
          <a:stretch>
            <a:fillRect/>
          </a:stretch>
        </p:blipFill>
        <p:spPr>
          <a:xfrm>
            <a:off x="6244867" y="1869393"/>
            <a:ext cx="5209714" cy="3197629"/>
          </a:xfrm>
          <a:prstGeom prst="rect">
            <a:avLst/>
          </a:prstGeom>
        </p:spPr>
      </p:pic>
    </p:spTree>
    <p:extLst>
      <p:ext uri="{BB962C8B-B14F-4D97-AF65-F5344CB8AC3E}">
        <p14:creationId xmlns:p14="http://schemas.microsoft.com/office/powerpoint/2010/main" val="533566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7FF6-20C6-306B-392F-B30B36DB5F7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B5050EA-EA18-1061-9B65-D0E99195CE6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21F9B4C1-11FA-A69E-044B-6B05A03AAC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20F23B6-7ACA-9E95-81F4-FA1B2D3F0375}"/>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6A1A25F9-9773-2BBB-FDC4-1095A5EF704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20BAC5F-CBE4-F51D-1942-89C991D6883E}"/>
                  </a:ext>
                </a:extLst>
              </p:cNvPr>
              <p:cNvSpPr txBox="1"/>
              <p:nvPr/>
            </p:nvSpPr>
            <p:spPr>
              <a:xfrm>
                <a:off x="381000" y="1752600"/>
                <a:ext cx="11430000" cy="31700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Hints:</a:t>
                </a:r>
              </a:p>
              <a:p>
                <a:pPr algn="just"/>
                <a:r>
                  <a:rPr lang="en-US" sz="1200" b="1" i="1"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b="1" i="1" dirty="0" err="1">
                    <a:latin typeface="Arial" panose="020B0604020202020204" pitchFamily="34" charset="0"/>
                    <a:cs typeface="Arial" panose="020B0604020202020204" pitchFamily="34" charset="0"/>
                  </a:rPr>
                  <a:t>wvl</a:t>
                </a:r>
                <a:r>
                  <a:rPr lang="en-US" sz="1200" b="1" i="1" dirty="0">
                    <a:latin typeface="Arial" panose="020B0604020202020204" pitchFamily="34" charset="0"/>
                    <a:cs typeface="Arial" panose="020B0604020202020204" pitchFamily="34" charset="0"/>
                  </a:rPr>
                  <a:t> 1.55 µm.</a:t>
                </a:r>
              </a:p>
              <a:p>
                <a:pPr algn="just"/>
                <a:endParaRPr lang="en-US" sz="1000" b="1"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Para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ejercicio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calculado</a:t>
                </a:r>
                <a:r>
                  <a:rPr lang="en-US" sz="1000" dirty="0">
                    <a:latin typeface="Arial" panose="020B0604020202020204" pitchFamily="34" charset="0"/>
                    <a:cs typeface="Arial" panose="020B0604020202020204" pitchFamily="34" charset="0"/>
                  </a:rPr>
                  <a:t> la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sub>
                    </m:sSub>
                  </m:oMath>
                </a14:m>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teórica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necesaria</a:t>
                </a:r>
                <a:r>
                  <a:rPr lang="en-US" sz="1000" dirty="0">
                    <a:latin typeface="Arial" panose="020B0604020202020204" pitchFamily="34" charset="0"/>
                    <a:cs typeface="Arial" panose="020B0604020202020204" pitchFamily="34" charset="0"/>
                  </a:rPr>
                  <a:t> para </a:t>
                </a:r>
                <a:r>
                  <a:rPr lang="en-US" sz="1000" dirty="0" err="1">
                    <a:latin typeface="Arial" panose="020B0604020202020204" pitchFamily="34" charset="0"/>
                    <a:cs typeface="Arial" panose="020B0604020202020204" pitchFamily="34" charset="0"/>
                  </a:rPr>
                  <a:t>conseguir</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coeficiente</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acoplo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menor</a:t>
                </a:r>
                <a:r>
                  <a:rPr lang="en-US" sz="1000" dirty="0">
                    <a:latin typeface="Arial" panose="020B0604020202020204" pitchFamily="34" charset="0"/>
                    <a:cs typeface="Arial" panose="020B0604020202020204" pitchFamily="34" charset="0"/>
                  </a:rPr>
                  <a:t> a 0.01, y para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dispositivo</a:t>
                </a:r>
                <a:r>
                  <a:rPr lang="en-US" sz="1000" dirty="0">
                    <a:latin typeface="Arial" panose="020B0604020202020204" pitchFamily="34" charset="0"/>
                    <a:cs typeface="Arial" panose="020B0604020202020204" pitchFamily="34" charset="0"/>
                  </a:rPr>
                  <a:t> de 10 mm, </a:t>
                </a:r>
                <a:r>
                  <a:rPr lang="en-US" sz="1000" dirty="0" err="1">
                    <a:latin typeface="Arial" panose="020B0604020202020204" pitchFamily="34" charset="0"/>
                    <a:cs typeface="Arial" panose="020B0604020202020204" pitchFamily="34" charset="0"/>
                  </a:rPr>
                  <a:t>consiguiendo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sub>
                    </m:sSub>
                  </m:oMath>
                </a14:m>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resultante</a:t>
                </a:r>
                <a:r>
                  <a:rPr lang="en-US" sz="1000" dirty="0">
                    <a:latin typeface="Arial" panose="020B0604020202020204" pitchFamily="34" charset="0"/>
                    <a:cs typeface="Arial" panose="020B0604020202020204" pitchFamily="34" charset="0"/>
                  </a:rPr>
                  <a:t> de </a:t>
                </a:r>
                <a:r>
                  <a:rPr lang="es-ES" sz="1000" dirty="0">
                    <a:latin typeface="Arial" panose="020B0604020202020204" pitchFamily="34" charset="0"/>
                    <a:cs typeface="Arial" panose="020B0604020202020204" pitchFamily="34" charset="0"/>
                  </a:rPr>
                  <a:t>156.81 mm</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Este criterio significa que menos del 1% de la potencia se transfiere a la otra guía, por lo que las guías pueden considerarse desacopladas. </a:t>
                </a: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Posteriormente</a:t>
                </a:r>
                <a:r>
                  <a:rPr lang="en-US" sz="1000" dirty="0">
                    <a:latin typeface="Arial" panose="020B0604020202020204" pitchFamily="34" charset="0"/>
                    <a:cs typeface="Arial" panose="020B0604020202020204" pitchFamily="34" charset="0"/>
                  </a:rPr>
                  <a:t>, para la </a:t>
                </a:r>
                <a:r>
                  <a:rPr lang="en-US" sz="1000" dirty="0" err="1">
                    <a:latin typeface="Arial" panose="020B0604020202020204" pitchFamily="34" charset="0"/>
                    <a:cs typeface="Arial" panose="020B0604020202020204" pitchFamily="34" charset="0"/>
                  </a:rPr>
                  <a:t>guía</a:t>
                </a:r>
                <a:r>
                  <a:rPr lang="en-US" sz="1000" dirty="0">
                    <a:latin typeface="Arial" panose="020B0604020202020204" pitchFamily="34" charset="0"/>
                    <a:cs typeface="Arial" panose="020B0604020202020204" pitchFamily="34" charset="0"/>
                  </a:rPr>
                  <a:t> deep se ha </a:t>
                </a:r>
                <a:r>
                  <a:rPr lang="en-US" sz="1000" dirty="0" err="1">
                    <a:latin typeface="Arial" panose="020B0604020202020204" pitchFamily="34" charset="0"/>
                    <a:cs typeface="Arial" panose="020B0604020202020204" pitchFamily="34" charset="0"/>
                  </a:rPr>
                  <a:t>llevado</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cabo</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barrido</a:t>
                </a:r>
                <a:r>
                  <a:rPr lang="en-US" sz="1000" dirty="0">
                    <a:latin typeface="Arial" panose="020B0604020202020204" pitchFamily="34" charset="0"/>
                    <a:cs typeface="Arial" panose="020B0604020202020204" pitchFamily="34" charset="0"/>
                  </a:rPr>
                  <a:t> del gap con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objetivo</a:t>
                </a:r>
                <a:r>
                  <a:rPr lang="en-US" sz="1000" dirty="0">
                    <a:latin typeface="Arial" panose="020B0604020202020204" pitchFamily="34" charset="0"/>
                    <a:cs typeface="Arial" panose="020B0604020202020204" pitchFamily="34" charset="0"/>
                  </a:rPr>
                  <a:t> de </a:t>
                </a:r>
                <a:r>
                  <a:rPr lang="es-ES" sz="1000" dirty="0">
                    <a:latin typeface="Arial" panose="020B0604020202020204" pitchFamily="34" charset="0"/>
                    <a:cs typeface="Arial" panose="020B0604020202020204" pitchFamily="34" charset="0"/>
                  </a:rPr>
                  <a:t>encontrar la separación mínima entre guías que permite alcanzar dicha </a:t>
                </a:r>
                <a14:m>
                  <m:oMath xmlns:m="http://schemas.openxmlformats.org/officeDocument/2006/math">
                    <m:sSub>
                      <m:sSubPr>
                        <m:ctrlPr>
                          <a:rPr lang="ar-AE" sz="1000" i="1">
                            <a:latin typeface="Cambria Math" panose="02040503050406030204" pitchFamily="18" charset="0"/>
                          </a:rPr>
                        </m:ctrlPr>
                      </m:sSubPr>
                      <m:e>
                        <m:r>
                          <a:rPr lang="ar-AE" sz="1000" b="0" i="1" smtClean="0">
                            <a:latin typeface="Cambria Math" panose="02040503050406030204" pitchFamily="18" charset="0"/>
                          </a:rPr>
                          <m:t>𝐿</m:t>
                        </m:r>
                      </m:e>
                      <m:sub>
                        <m:r>
                          <a:rPr lang="ar-AE" sz="1000" b="0" i="1" smtClean="0">
                            <a:latin typeface="Cambria Math" panose="02040503050406030204" pitchFamily="18" charset="0"/>
                          </a:rPr>
                          <m:t>𝜋</m:t>
                        </m:r>
                      </m:sub>
                    </m:sSub>
                  </m:oMath>
                </a14:m>
                <a:r>
                  <a:rPr lang="es-ES" sz="1000" dirty="0">
                    <a:latin typeface="Arial" panose="020B0604020202020204" pitchFamily="34" charset="0"/>
                    <a:cs typeface="Arial" panose="020B0604020202020204" pitchFamily="34" charset="0"/>
                  </a:rPr>
                  <a:t> teórica</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En este caso, se obtiene un gap mínimo de 3.39 µm, con una </a:t>
                </a:r>
                <a14:m>
                  <m:oMath xmlns:m="http://schemas.openxmlformats.org/officeDocument/2006/math">
                    <m:sSub>
                      <m:sSubPr>
                        <m:ctrlPr>
                          <a:rPr lang="ar-AE" sz="1000" i="1">
                            <a:latin typeface="Cambria Math" panose="02040503050406030204" pitchFamily="18" charset="0"/>
                          </a:rPr>
                        </m:ctrlPr>
                      </m:sSubPr>
                      <m:e>
                        <m:r>
                          <a:rPr lang="ar-AE" sz="1000" b="0" i="1" smtClean="0">
                            <a:latin typeface="Cambria Math" panose="02040503050406030204" pitchFamily="18" charset="0"/>
                          </a:rPr>
                          <m:t>𝐿</m:t>
                        </m:r>
                      </m:e>
                      <m:sub>
                        <m:r>
                          <a:rPr lang="ar-AE" sz="1000" b="0" i="1" smtClean="0">
                            <a:latin typeface="Cambria Math" panose="02040503050406030204" pitchFamily="18" charset="0"/>
                          </a:rPr>
                          <m:t>𝜋</m:t>
                        </m:r>
                      </m:sub>
                    </m:sSub>
                  </m:oMath>
                </a14:m>
                <a:r>
                  <a:rPr lang="es-ES" sz="1000" dirty="0">
                    <a:latin typeface="Arial" panose="020B0604020202020204" pitchFamily="34" charset="0"/>
                    <a:cs typeface="Arial" panose="020B0604020202020204" pitchFamily="34" charset="0"/>
                  </a:rPr>
                  <a:t> simulada de 156.91 </a:t>
                </a:r>
                <a:r>
                  <a:rPr lang="es-ES" sz="1000" dirty="0" err="1">
                    <a:latin typeface="Arial" panose="020B0604020202020204" pitchFamily="34" charset="0"/>
                    <a:cs typeface="Arial" panose="020B0604020202020204" pitchFamily="34" charset="0"/>
                  </a:rPr>
                  <a:t>mm.</a:t>
                </a:r>
                <a:r>
                  <a:rPr lang="es-ES" sz="1000" dirty="0">
                    <a:latin typeface="Arial" panose="020B0604020202020204" pitchFamily="34" charset="0"/>
                    <a:cs typeface="Arial" panose="020B0604020202020204" pitchFamily="34" charset="0"/>
                  </a:rPr>
                  <a:t> Por tanto, a partir de este gap, el acoplo entre guías es suficientemente bajo para considerar que están desacopladas en una longitud de 10 </a:t>
                </a:r>
                <a:r>
                  <a:rPr lang="es-ES" sz="1000" dirty="0" err="1">
                    <a:latin typeface="Arial" panose="020B0604020202020204" pitchFamily="34" charset="0"/>
                    <a:cs typeface="Arial" panose="020B0604020202020204" pitchFamily="34" charset="0"/>
                  </a:rPr>
                  <a:t>mm.</a:t>
                </a:r>
                <a:endParaRPr lang="es-E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Se ha </a:t>
                </a:r>
                <a:r>
                  <a:rPr lang="en-US" sz="1000" dirty="0" err="1">
                    <a:latin typeface="Arial" panose="020B0604020202020204" pitchFamily="34" charset="0"/>
                    <a:cs typeface="Arial" panose="020B0604020202020204" pitchFamily="34" charset="0"/>
                  </a:rPr>
                  <a:t>realizado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mismo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procedimiento</a:t>
                </a:r>
                <a:r>
                  <a:rPr lang="en-US" sz="1000" dirty="0">
                    <a:latin typeface="Arial" panose="020B0604020202020204" pitchFamily="34" charset="0"/>
                    <a:cs typeface="Arial" panose="020B0604020202020204" pitchFamily="34" charset="0"/>
                  </a:rPr>
                  <a:t> para la </a:t>
                </a:r>
                <a:r>
                  <a:rPr lang="en-US" sz="1000" dirty="0" err="1">
                    <a:latin typeface="Arial" panose="020B0604020202020204" pitchFamily="34" charset="0"/>
                    <a:cs typeface="Arial" panose="020B0604020202020204" pitchFamily="34" charset="0"/>
                  </a:rPr>
                  <a:t>guía</a:t>
                </a:r>
                <a:r>
                  <a:rPr lang="en-US" sz="1000" dirty="0">
                    <a:latin typeface="Arial" panose="020B0604020202020204" pitchFamily="34" charset="0"/>
                    <a:cs typeface="Arial" panose="020B0604020202020204" pitchFamily="34" charset="0"/>
                  </a:rPr>
                  <a:t> shallow y </a:t>
                </a:r>
                <a:r>
                  <a:rPr lang="en-US" sz="1000" dirty="0" err="1">
                    <a:latin typeface="Arial" panose="020B0604020202020204" pitchFamily="34" charset="0"/>
                    <a:cs typeface="Arial" panose="020B0604020202020204" pitchFamily="34" charset="0"/>
                  </a:rPr>
                  <a:t>definiendo</a:t>
                </a:r>
                <a:r>
                  <a:rPr lang="en-US" sz="1000" dirty="0">
                    <a:latin typeface="Arial" panose="020B0604020202020204" pitchFamily="34" charset="0"/>
                    <a:cs typeface="Arial" panose="020B0604020202020204" pitchFamily="34" charset="0"/>
                  </a:rPr>
                  <a:t> un slab de 150 nm. </a:t>
                </a:r>
                <a:r>
                  <a:rPr lang="es-ES" sz="1000" dirty="0">
                    <a:latin typeface="Arial" panose="020B0604020202020204" pitchFamily="34" charset="0"/>
                    <a:cs typeface="Arial" panose="020B0604020202020204" pitchFamily="34" charset="0"/>
                  </a:rPr>
                  <a:t>En este caso, el gap mínimo obtenido es mayor, de 4.49 µm, con una </a:t>
                </a:r>
                <a14:m>
                  <m:oMath xmlns:m="http://schemas.openxmlformats.org/officeDocument/2006/math">
                    <m:sSub>
                      <m:sSubPr>
                        <m:ctrlPr>
                          <a:rPr lang="ar-AE" sz="1000" i="1">
                            <a:latin typeface="Cambria Math" panose="02040503050406030204" pitchFamily="18" charset="0"/>
                          </a:rPr>
                        </m:ctrlPr>
                      </m:sSubPr>
                      <m:e>
                        <m:r>
                          <a:rPr lang="ar-AE" sz="1000" b="0" i="1" smtClean="0">
                            <a:latin typeface="Cambria Math" panose="02040503050406030204" pitchFamily="18" charset="0"/>
                          </a:rPr>
                          <m:t>𝐿</m:t>
                        </m:r>
                      </m:e>
                      <m:sub>
                        <m:r>
                          <a:rPr lang="ar-AE" sz="1000" b="0" i="1" smtClean="0">
                            <a:latin typeface="Cambria Math" panose="02040503050406030204" pitchFamily="18" charset="0"/>
                          </a:rPr>
                          <m:t>𝜋</m:t>
                        </m:r>
                      </m:sub>
                    </m:sSub>
                  </m:oMath>
                </a14:m>
                <a:r>
                  <a:rPr lang="es-ES" sz="1000" dirty="0">
                    <a:latin typeface="Arial" panose="020B0604020202020204" pitchFamily="34" charset="0"/>
                    <a:cs typeface="Arial" panose="020B0604020202020204" pitchFamily="34" charset="0"/>
                  </a:rPr>
                  <a:t> simulada de 179.37 </a:t>
                </a:r>
                <a:r>
                  <a:rPr lang="es-ES" sz="1000" dirty="0" err="1">
                    <a:latin typeface="Arial" panose="020B0604020202020204" pitchFamily="34" charset="0"/>
                    <a:cs typeface="Arial" panose="020B0604020202020204" pitchFamily="34" charset="0"/>
                  </a:rPr>
                  <a:t>mm.</a:t>
                </a:r>
                <a:r>
                  <a:rPr lang="es-ES" sz="1000" dirty="0">
                    <a:latin typeface="Arial" panose="020B0604020202020204" pitchFamily="34" charset="0"/>
                    <a:cs typeface="Arial" panose="020B0604020202020204" pitchFamily="34" charset="0"/>
                  </a:rPr>
                  <a:t> Esto ocurre porque en una guía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el campo óptico está menos confinado y se extiende más por el </a:t>
                </a:r>
                <a:r>
                  <a:rPr lang="es-ES" sz="1000" dirty="0" err="1">
                    <a:latin typeface="Arial" panose="020B0604020202020204" pitchFamily="34" charset="0"/>
                    <a:cs typeface="Arial" panose="020B0604020202020204" pitchFamily="34" charset="0"/>
                  </a:rPr>
                  <a:t>slab</a:t>
                </a:r>
                <a:r>
                  <a:rPr lang="es-ES" sz="1000" dirty="0">
                    <a:latin typeface="Arial" panose="020B0604020202020204" pitchFamily="34" charset="0"/>
                    <a:cs typeface="Arial" panose="020B0604020202020204" pitchFamily="34" charset="0"/>
                  </a:rPr>
                  <a:t>, aumentando el solapamiento con la guía vecina. Por tanto, se necesita una separación mayor para reducir el acoplo hasta </a:t>
                </a:r>
                <a14:m>
                  <m:oMath xmlns:m="http://schemas.openxmlformats.org/officeDocument/2006/math">
                    <m:r>
                      <a:rPr lang="es-ES" sz="1000" b="0" i="1" smtClean="0">
                        <a:latin typeface="Cambria Math" panose="02040503050406030204" pitchFamily="18" charset="0"/>
                      </a:rPr>
                      <m:t>𝐾</m:t>
                    </m:r>
                    <m:r>
                      <a:rPr lang="es-ES" sz="1000" b="0" smtClean="0">
                        <a:latin typeface="Cambria Math" panose="02040503050406030204" pitchFamily="18" charset="0"/>
                      </a:rPr>
                      <m:t>&lt;</m:t>
                    </m:r>
                    <m:r>
                      <a:rPr lang="es-ES" sz="1000" b="0" i="1" smtClean="0">
                        <a:latin typeface="Cambria Math" panose="02040503050406030204" pitchFamily="18" charset="0"/>
                      </a:rPr>
                      <m:t>0</m:t>
                    </m:r>
                    <m:r>
                      <a:rPr lang="es-ES" sz="1000" b="0" smtClean="0">
                        <a:latin typeface="Cambria Math" panose="02040503050406030204" pitchFamily="18" charset="0"/>
                      </a:rPr>
                      <m:t>.</m:t>
                    </m:r>
                    <m:r>
                      <a:rPr lang="es-ES" sz="1000" b="0" i="1" smtClean="0">
                        <a:latin typeface="Cambria Math" panose="02040503050406030204" pitchFamily="18" charset="0"/>
                      </a:rPr>
                      <m:t>01</m:t>
                    </m:r>
                  </m:oMath>
                </a14:m>
                <a:r>
                  <a:rPr lang="es-ES" sz="1000" dirty="0">
                    <a:latin typeface="Arial" panose="020B0604020202020204" pitchFamily="34" charset="0"/>
                    <a:cs typeface="Arial" panose="020B0604020202020204" pitchFamily="34" charset="0"/>
                  </a:rPr>
                  <a:t>.</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resumen, la guía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permite usar un gap menor porque el modo está más confinado en el núcleo, mientras que la guía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requiere un gap mayor debido a que el campo se extiende más lateralmente.</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220BAC5F-CBE4-F51D-1942-89C991D6883E}"/>
                  </a:ext>
                </a:extLst>
              </p:cNvPr>
              <p:cNvSpPr txBox="1">
                <a:spLocks noRot="1" noChangeAspect="1" noMove="1" noResize="1" noEditPoints="1" noAdjustHandles="1" noChangeArrowheads="1" noChangeShapeType="1" noTextEdit="1"/>
              </p:cNvSpPr>
              <p:nvPr/>
            </p:nvSpPr>
            <p:spPr>
              <a:xfrm>
                <a:off x="381000" y="1752600"/>
                <a:ext cx="11430000" cy="3170099"/>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3443339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Tree>
    <p:extLst>
      <p:ext uri="{BB962C8B-B14F-4D97-AF65-F5344CB8AC3E}">
        <p14:creationId xmlns:p14="http://schemas.microsoft.com/office/powerpoint/2010/main" val="1802451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8D39F-8E35-E515-5985-5DC0F0DF5B3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24E52CA-7A26-9B97-5DD9-ECAAFB80216C}"/>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79C13F5-93F1-63B4-3EFE-3570D4635C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140C3E3-1D24-F349-5861-CA6E338D03CE}"/>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01D0770C-BBA8-F3AA-5BA3-EFD9FA31CC4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D475AF3A-324C-316C-4247-F6B699D89F62}"/>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u="sng" dirty="0"/>
          </a:p>
          <a:p>
            <a:pPr algn="just"/>
            <a:endParaRPr lang="en-US" sz="2000" kern="0" dirty="0">
              <a:solidFill>
                <a:sysClr val="windowText" lastClr="000000"/>
              </a:solidFill>
            </a:endParaRPr>
          </a:p>
        </p:txBody>
      </p:sp>
      <p:pic>
        <p:nvPicPr>
          <p:cNvPr id="6" name="Imagen 5">
            <a:extLst>
              <a:ext uri="{FF2B5EF4-FFF2-40B4-BE49-F238E27FC236}">
                <a16:creationId xmlns:a16="http://schemas.microsoft.com/office/drawing/2014/main" id="{812E9FA3-F3CC-CFC8-06B6-9F7031F4DB4D}"/>
              </a:ext>
            </a:extLst>
          </p:cNvPr>
          <p:cNvPicPr>
            <a:picLocks noChangeAspect="1"/>
          </p:cNvPicPr>
          <p:nvPr/>
        </p:nvPicPr>
        <p:blipFill>
          <a:blip r:embed="rId4"/>
          <a:stretch>
            <a:fillRect/>
          </a:stretch>
        </p:blipFill>
        <p:spPr>
          <a:xfrm>
            <a:off x="990601" y="1833465"/>
            <a:ext cx="4191000" cy="2982058"/>
          </a:xfrm>
          <a:prstGeom prst="rect">
            <a:avLst/>
          </a:prstGeom>
        </p:spPr>
      </p:pic>
      <p:pic>
        <p:nvPicPr>
          <p:cNvPr id="8" name="Imagen 7">
            <a:extLst>
              <a:ext uri="{FF2B5EF4-FFF2-40B4-BE49-F238E27FC236}">
                <a16:creationId xmlns:a16="http://schemas.microsoft.com/office/drawing/2014/main" id="{A07D9B81-857E-DAD5-AE0C-10C559D262A7}"/>
              </a:ext>
            </a:extLst>
          </p:cNvPr>
          <p:cNvPicPr>
            <a:picLocks noChangeAspect="1"/>
          </p:cNvPicPr>
          <p:nvPr/>
        </p:nvPicPr>
        <p:blipFill>
          <a:blip r:embed="rId5"/>
          <a:stretch>
            <a:fillRect/>
          </a:stretch>
        </p:blipFill>
        <p:spPr>
          <a:xfrm>
            <a:off x="5791200" y="1844351"/>
            <a:ext cx="4252156" cy="2971172"/>
          </a:xfrm>
          <a:prstGeom prst="rect">
            <a:avLst/>
          </a:prstGeom>
        </p:spPr>
      </p:pic>
    </p:spTree>
    <p:extLst>
      <p:ext uri="{BB962C8B-B14F-4D97-AF65-F5344CB8AC3E}">
        <p14:creationId xmlns:p14="http://schemas.microsoft.com/office/powerpoint/2010/main" val="3957791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0DDEA-6C22-D6BE-A111-47CCB5EFDC2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5E5BEC8-4FC6-6F66-C7A7-07628D2DB64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5E32DD65-6E81-4E67-9CA0-51358BA992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DF9E22-DF47-584B-513C-39932253DE6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195B1817-6642-879F-1A4B-3A615069800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EA9E5C68-0EB3-D16B-0845-3B78FBAC58E5}"/>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endParaRPr lang="en-US" sz="2000" b="1" i="1" u="sng" dirty="0"/>
          </a:p>
          <a:p>
            <a:pPr algn="just"/>
            <a:endParaRPr lang="en-US" sz="2000" kern="0" dirty="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79C9142-6057-26BD-DF47-70CCF3F3D226}"/>
                  </a:ext>
                </a:extLst>
              </p:cNvPr>
              <p:cNvSpPr txBox="1"/>
              <p:nvPr/>
            </p:nvSpPr>
            <p:spPr>
              <a:xfrm>
                <a:off x="534989" y="1293791"/>
                <a:ext cx="11199971" cy="2631361"/>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apartado se ha estudiado la sección transversal del cuerpo de un acoplador MMI. A diferencia del acoplador direccional, donde había dos guías próximas, en este caso se define una única guía multimodo mucho más ancha. Concretamente, se ha usado un ancho de </a:t>
                </a:r>
                <a14:m>
                  <m:oMath xmlns:m="http://schemas.openxmlformats.org/officeDocument/2006/math">
                    <m:r>
                      <a:rPr lang="es-ES" sz="1000">
                        <a:latin typeface="Cambria Math" panose="02040503050406030204" pitchFamily="18" charset="0"/>
                      </a:rPr>
                      <m:t>12</m:t>
                    </m:r>
                    <m:r>
                      <m:rPr>
                        <m:nor/>
                      </m:rPr>
                      <a:rPr lang="es-ES" sz="1000" i="1">
                        <a:latin typeface="Arial" panose="020B0604020202020204" pitchFamily="34" charset="0"/>
                        <a:cs typeface="Arial" panose="020B0604020202020204" pitchFamily="34" charset="0"/>
                      </a:rPr>
                      <m:t> </m:t>
                    </m:r>
                    <m:r>
                      <a:rPr lang="es-ES" sz="1000" i="1">
                        <a:latin typeface="Cambria Math" panose="02040503050406030204" pitchFamily="18" charset="0"/>
                      </a:rPr>
                      <m:t>𝜇</m:t>
                    </m:r>
                    <m:r>
                      <a:rPr lang="es-ES" sz="1000" i="1">
                        <a:latin typeface="Cambria Math" panose="02040503050406030204" pitchFamily="18" charset="0"/>
                      </a:rPr>
                      <m:t>𝑚</m:t>
                    </m:r>
                  </m:oMath>
                </a14:m>
                <a:r>
                  <a:rPr lang="es-ES" sz="1000" dirty="0">
                    <a:latin typeface="Arial" panose="020B0604020202020204" pitchFamily="34" charset="0"/>
                    <a:cs typeface="Arial" panose="020B0604020202020204" pitchFamily="34" charset="0"/>
                  </a:rPr>
                  <a:t>, una altura de 300 nm y una longitud de onda de </a:t>
                </a:r>
                <a14:m>
                  <m:oMath xmlns:m="http://schemas.openxmlformats.org/officeDocument/2006/math">
                    <m:r>
                      <a:rPr lang="es-ES" sz="1000">
                        <a:latin typeface="Cambria Math" panose="02040503050406030204" pitchFamily="18" charset="0"/>
                      </a:rPr>
                      <m:t>1</m:t>
                    </m:r>
                    <m:r>
                      <a:rPr lang="es-ES" sz="1000">
                        <a:latin typeface="Cambria Math" panose="02040503050406030204" pitchFamily="18" charset="0"/>
                      </a:rPr>
                      <m:t>.</m:t>
                    </m:r>
                    <m:r>
                      <a:rPr lang="es-ES" sz="1000">
                        <a:latin typeface="Cambria Math" panose="02040503050406030204" pitchFamily="18" charset="0"/>
                      </a:rPr>
                      <m:t>55</m:t>
                    </m:r>
                    <m:r>
                      <m:rPr>
                        <m:nor/>
                      </m:rPr>
                      <a:rPr lang="es-ES" sz="1000" i="1">
                        <a:latin typeface="Arial" panose="020B0604020202020204" pitchFamily="34" charset="0"/>
                        <a:cs typeface="Arial" panose="020B0604020202020204" pitchFamily="34" charset="0"/>
                      </a:rPr>
                      <m:t> </m:t>
                    </m:r>
                    <m:r>
                      <a:rPr lang="es-ES" sz="1000" i="1">
                        <a:latin typeface="Cambria Math" panose="02040503050406030204" pitchFamily="18" charset="0"/>
                      </a:rPr>
                      <m:t>𝜇</m:t>
                    </m:r>
                    <m:r>
                      <a:rPr lang="es-ES" sz="1000" i="1">
                        <a:latin typeface="Cambria Math" panose="02040503050406030204" pitchFamily="18" charset="0"/>
                      </a:rPr>
                      <m:t>𝑚</m:t>
                    </m:r>
                  </m:oMath>
                </a14:m>
                <a:r>
                  <a:rPr lang="es-ES" sz="1000" dirty="0">
                    <a:latin typeface="Arial" panose="020B0604020202020204" pitchFamily="34" charset="0"/>
                    <a:cs typeface="Arial" panose="020B0604020202020204" pitchFamily="34" charset="0"/>
                  </a:rPr>
                  <a:t>. Además, se ha definido como guía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ya que el </a:t>
                </a:r>
                <a:r>
                  <a:rPr lang="es-ES" sz="1000" dirty="0" err="1">
                    <a:latin typeface="Arial" panose="020B0604020202020204" pitchFamily="34" charset="0"/>
                    <a:cs typeface="Arial" panose="020B0604020202020204" pitchFamily="34" charset="0"/>
                  </a:rPr>
                  <a:t>slab</a:t>
                </a:r>
                <a:r>
                  <a:rPr lang="es-ES" sz="1000" dirty="0">
                    <a:latin typeface="Arial" panose="020B0604020202020204" pitchFamily="34" charset="0"/>
                    <a:cs typeface="Arial" panose="020B0604020202020204" pitchFamily="34" charset="0"/>
                  </a:rPr>
                  <a:t> </a:t>
                </a:r>
                <a:r>
                  <a:rPr lang="es-ES" sz="1000" dirty="0" err="1">
                    <a:latin typeface="Arial" panose="020B0604020202020204" pitchFamily="34" charset="0"/>
                    <a:cs typeface="Arial" panose="020B0604020202020204" pitchFamily="34" charset="0"/>
                  </a:rPr>
                  <a:t>thickness</a:t>
                </a:r>
                <a:r>
                  <a:rPr lang="es-ES" sz="1000" dirty="0">
                    <a:latin typeface="Arial" panose="020B0604020202020204" pitchFamily="34" charset="0"/>
                    <a:cs typeface="Arial" panose="020B0604020202020204" pitchFamily="34" charset="0"/>
                  </a:rPr>
                  <a:t> es 0 nm.</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Al ser una guía ancha, esta estructura soporta la propagación de varios modos, en concreto se han calculado 20 modos. Los resultados muestran los índices efectivos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𝑛</m:t>
                        </m:r>
                      </m:e>
                      <m:sub>
                        <m:r>
                          <m:rPr>
                            <m:nor/>
                          </m:rPr>
                          <a:rPr lang="es-ES" sz="1000" i="1">
                            <a:latin typeface="Arial" panose="020B0604020202020204" pitchFamily="34" charset="0"/>
                            <a:cs typeface="Arial" panose="020B0604020202020204" pitchFamily="34" charset="0"/>
                          </a:rPr>
                          <m:t>eff</m:t>
                        </m:r>
                      </m:sub>
                    </m:sSub>
                  </m:oMath>
                </a14:m>
                <a:r>
                  <a:rPr lang="es-ES" sz="1000" dirty="0">
                    <a:latin typeface="Arial" panose="020B0604020202020204" pitchFamily="34" charset="0"/>
                    <a:cs typeface="Arial" panose="020B0604020202020204" pitchFamily="34" charset="0"/>
                  </a:rPr>
                  <a:t> de esos modos y también la fracción TE, que permite identificar si cada modo es principalmente TE o TM. En este caso, los primeros modos presentan una fracción TE cercana a 1, por lo que corresponden principalmente a modos TE, mientras que los modos con fracción baja corresponden a modos TM</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las imágenes se muestran algunos campos modales de la componente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𝐸</m:t>
                        </m:r>
                      </m:e>
                      <m:sub>
                        <m:r>
                          <a:rPr lang="ar-AE" sz="1000" i="1">
                            <a:latin typeface="Cambria Math" panose="02040503050406030204" pitchFamily="18" charset="0"/>
                          </a:rPr>
                          <m:t>𝑥</m:t>
                        </m:r>
                      </m:sub>
                    </m:sSub>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El modo 0 corresponde al modo fundamental, con un único máximo centrado y sin cambios de signo. El modo 1 presenta dos lóbulos con signo opuesto, por lo que corresponde a un modo de orden superior. También se ha representado el modo 7, donde aparecen varios lóbulos alternando signo positivo y negativo a lo largo del ancho del MMI, confirmando que el cuerpo del MMI es multimodo.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Finalmente, a partir de los dos primeros modos TE se calcula la longitud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sub>
                    </m:sSub>
                    <m:r>
                      <a:rPr lang="es-ES" sz="1000" b="0" i="0" smtClean="0">
                        <a:latin typeface="Cambria Math" panose="02040503050406030204" pitchFamily="18" charset="0"/>
                      </a:rPr>
                      <m:t>,</m:t>
                    </m:r>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usando la diferencia entre sus índices efectivos, obteniendo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sub>
                    </m:sSub>
                    <m:r>
                      <a:rPr lang="ar-AE" sz="1000">
                        <a:latin typeface="Cambria Math" panose="02040503050406030204" pitchFamily="18" charset="0"/>
                      </a:rPr>
                      <m:t>=</m:t>
                    </m:r>
                    <m:r>
                      <a:rPr lang="ar-AE" sz="1000">
                        <a:latin typeface="Cambria Math" panose="02040503050406030204" pitchFamily="18" charset="0"/>
                      </a:rPr>
                      <m:t>219</m:t>
                    </m:r>
                    <m:r>
                      <a:rPr lang="ar-AE" sz="1000">
                        <a:latin typeface="Cambria Math" panose="02040503050406030204" pitchFamily="18" charset="0"/>
                      </a:rPr>
                      <m:t>.</m:t>
                    </m:r>
                    <m:r>
                      <a:rPr lang="ar-AE" sz="1000">
                        <a:latin typeface="Cambria Math" panose="02040503050406030204" pitchFamily="18" charset="0"/>
                      </a:rPr>
                      <m:t>41</m:t>
                    </m:r>
                    <m:r>
                      <m:rPr>
                        <m:nor/>
                      </m:rPr>
                      <a:rPr lang="ar-AE" sz="1000" i="1">
                        <a:latin typeface="Arial" panose="020B0604020202020204" pitchFamily="34" charset="0"/>
                      </a:rPr>
                      <m:t> </m:t>
                    </m:r>
                    <m:r>
                      <a:rPr lang="ar-AE" sz="1000" i="1">
                        <a:latin typeface="Cambria Math" panose="02040503050406030204" pitchFamily="18" charset="0"/>
                      </a:rPr>
                      <m:t>𝜇</m:t>
                    </m:r>
                    <m:r>
                      <a:rPr lang="ar-AE" sz="1000" i="1">
                        <a:latin typeface="Cambria Math" panose="02040503050406030204" pitchFamily="18" charset="0"/>
                      </a:rPr>
                      <m:t>𝑚</m:t>
                    </m:r>
                  </m:oMath>
                </a14:m>
                <a:r>
                  <a:rPr lang="es-ES" sz="1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endParaRPr lang="es-ES" sz="10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79C9142-6057-26BD-DF47-70CCF3F3D226}"/>
                  </a:ext>
                </a:extLst>
              </p:cNvPr>
              <p:cNvSpPr txBox="1">
                <a:spLocks noRot="1" noChangeAspect="1" noMove="1" noResize="1" noEditPoints="1" noAdjustHandles="1" noChangeArrowheads="1" noChangeShapeType="1" noTextEdit="1"/>
              </p:cNvSpPr>
              <p:nvPr/>
            </p:nvSpPr>
            <p:spPr>
              <a:xfrm>
                <a:off x="534989" y="1293791"/>
                <a:ext cx="11199971" cy="2631361"/>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1165636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006FD154-64D2-1DE0-45D4-F432BC8409D4}"/>
              </a:ext>
            </a:extLst>
          </p:cNvPr>
          <p:cNvPicPr>
            <a:picLocks noChangeAspect="1"/>
          </p:cNvPicPr>
          <p:nvPr/>
        </p:nvPicPr>
        <p:blipFill>
          <a:blip r:embed="rId4"/>
          <a:stretch>
            <a:fillRect/>
          </a:stretch>
        </p:blipFill>
        <p:spPr>
          <a:xfrm>
            <a:off x="679580" y="1811324"/>
            <a:ext cx="6014038" cy="2438400"/>
          </a:xfrm>
          <a:prstGeom prst="rect">
            <a:avLst/>
          </a:prstGeom>
        </p:spPr>
      </p:pic>
      <p:pic>
        <p:nvPicPr>
          <p:cNvPr id="9" name="Imagen 8">
            <a:extLst>
              <a:ext uri="{FF2B5EF4-FFF2-40B4-BE49-F238E27FC236}">
                <a16:creationId xmlns:a16="http://schemas.microsoft.com/office/drawing/2014/main" id="{BF0C916D-8ABE-7B53-C4E1-0802006735C1}"/>
              </a:ext>
            </a:extLst>
          </p:cNvPr>
          <p:cNvPicPr>
            <a:picLocks noChangeAspect="1"/>
          </p:cNvPicPr>
          <p:nvPr/>
        </p:nvPicPr>
        <p:blipFill>
          <a:blip r:embed="rId5"/>
          <a:stretch>
            <a:fillRect/>
          </a:stretch>
        </p:blipFill>
        <p:spPr>
          <a:xfrm>
            <a:off x="7010400" y="1733586"/>
            <a:ext cx="3323403" cy="2593875"/>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6E5C9-C008-133F-8869-2623D2B78B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BF71F63-3A33-F072-9E8E-1D7E08A9271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541D948-39F2-A12E-798A-1558C047F5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6EA6FED-20E3-3256-B342-72A22FF07825}"/>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64246EAB-454C-1EA5-F2CC-315F030E8E5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329D122E-5098-7A1E-EC3C-23ED5C05C8F7}"/>
                  </a:ext>
                </a:extLst>
              </p:cNvPr>
              <p:cNvSpPr txBox="1"/>
              <p:nvPr/>
            </p:nvSpPr>
            <p:spPr>
              <a:xfrm>
                <a:off x="583019" y="1524000"/>
                <a:ext cx="11199971" cy="264687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 (Coupling relationship, </a:t>
                </a:r>
                <a:r>
                  <a:rPr lang="en-US" sz="1200" b="1" i="1" dirty="0" err="1">
                    <a:latin typeface="Arial" panose="020B0604020202020204" pitchFamily="34" charset="0"/>
                    <a:cs typeface="Arial" panose="020B0604020202020204" pitchFamily="34" charset="0"/>
                  </a:rPr>
                  <a:t>Lpi</a:t>
                </a:r>
                <a:r>
                  <a:rPr lang="en-US" sz="1200" b="1" i="1"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En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primer </a:t>
                </a:r>
                <a:r>
                  <a:rPr lang="en-US" sz="1000" dirty="0" err="1">
                    <a:latin typeface="Arial" panose="020B0604020202020204" pitchFamily="34" charset="0"/>
                    <a:cs typeface="Arial" panose="020B0604020202020204" pitchFamily="34" charset="0"/>
                  </a:rPr>
                  <a:t>apartado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simulado</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acoplador</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interferencias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multimodo</a:t>
                </a:r>
                <a:r>
                  <a:rPr lang="en-US" sz="1000" dirty="0">
                    <a:latin typeface="Arial" panose="020B0604020202020204" pitchFamily="34" charset="0"/>
                    <a:cs typeface="Arial" panose="020B0604020202020204" pitchFamily="34" charset="0"/>
                  </a:rPr>
                  <a:t> MMI, con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estructura</a:t>
                </a:r>
                <a:r>
                  <a:rPr lang="en-US" sz="1000" dirty="0">
                    <a:latin typeface="Arial" panose="020B0604020202020204" pitchFamily="34" charset="0"/>
                    <a:cs typeface="Arial" panose="020B0604020202020204" pitchFamily="34" charset="0"/>
                  </a:rPr>
                  <a:t> 2x2, y con la entrada </a:t>
                </a:r>
                <a:r>
                  <a:rPr lang="en-US" sz="1000" dirty="0" err="1">
                    <a:latin typeface="Arial" panose="020B0604020202020204" pitchFamily="34" charset="0"/>
                    <a:cs typeface="Arial" panose="020B0604020202020204" pitchFamily="34" charset="0"/>
                  </a:rPr>
                  <a:t>situada</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distancia</a:t>
                </a:r>
                <a:r>
                  <a:rPr lang="en-US" sz="1000" dirty="0">
                    <a:latin typeface="Arial" panose="020B0604020202020204" pitchFamily="34" charset="0"/>
                    <a:cs typeface="Arial" panose="020B0604020202020204" pitchFamily="34" charset="0"/>
                  </a:rPr>
                  <a:t> de 1/6 del </a:t>
                </a:r>
                <a:r>
                  <a:rPr lang="en-US" sz="1000" dirty="0" err="1">
                    <a:latin typeface="Arial" panose="020B0604020202020204" pitchFamily="34" charset="0"/>
                    <a:cs typeface="Arial" panose="020B0604020202020204" pitchFamily="34" charset="0"/>
                  </a:rPr>
                  <a:t>centro</a:t>
                </a:r>
                <a:r>
                  <a:rPr lang="en-US" sz="1000" dirty="0">
                    <a:latin typeface="Arial" panose="020B0604020202020204" pitchFamily="34" charset="0"/>
                    <a:cs typeface="Arial" panose="020B0604020202020204" pitchFamily="34" charset="0"/>
                  </a:rPr>
                  <a:t>, y </a:t>
                </a:r>
                <a:r>
                  <a:rPr lang="en-US" sz="1000" dirty="0" err="1">
                    <a:latin typeface="Arial" panose="020B0604020202020204" pitchFamily="34" charset="0"/>
                    <a:cs typeface="Arial" panose="020B0604020202020204" pitchFamily="34" charset="0"/>
                  </a:rPr>
                  <a:t>teniendo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cuenta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30 primeros </a:t>
                </a:r>
                <a:r>
                  <a:rPr lang="en-US" sz="1000" dirty="0" err="1">
                    <a:latin typeface="Arial" panose="020B0604020202020204" pitchFamily="34" charset="0"/>
                    <a:cs typeface="Arial" panose="020B0604020202020204" pitchFamily="34" charset="0"/>
                  </a:rPr>
                  <a:t>modos</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La </a:t>
                </a:r>
                <a:r>
                  <a:rPr lang="en-US" sz="1000" dirty="0" err="1">
                    <a:latin typeface="Arial" panose="020B0604020202020204" pitchFamily="34" charset="0"/>
                    <a:cs typeface="Arial" panose="020B0604020202020204" pitchFamily="34" charset="0"/>
                  </a:rPr>
                  <a:t>distribución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obtenida</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muestra claramente el fenómeno de interferencia multimodo, donde los diferentes modos excitados en la región MMI interfieren entre sí dando lugar al efecto de </a:t>
                </a:r>
                <a:r>
                  <a:rPr lang="es-ES" sz="1000" u="sng" dirty="0" err="1">
                    <a:latin typeface="Arial" panose="020B0604020202020204" pitchFamily="34" charset="0"/>
                    <a:cs typeface="Arial" panose="020B0604020202020204" pitchFamily="34" charset="0"/>
                  </a:rPr>
                  <a:t>self-imaging</a:t>
                </a:r>
                <a:r>
                  <a:rPr lang="es-ES" sz="1000" dirty="0">
                    <a:latin typeface="Arial" panose="020B0604020202020204" pitchFamily="34" charset="0"/>
                    <a:cs typeface="Arial" panose="020B0604020202020204" pitchFamily="34" charset="0"/>
                  </a:rPr>
                  <a:t>, es decir, la reproducción del campo de entrada en posiciones concretas a lo largo del dispositivo</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La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dispostivo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obtenida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será</a:t>
                </a:r>
                <a:r>
                  <a:rPr lang="en-US" sz="1000" dirty="0">
                    <a:latin typeface="Arial" panose="020B0604020202020204" pitchFamily="34" charset="0"/>
                    <a:cs typeface="Arial" panose="020B0604020202020204" pitchFamily="34" charset="0"/>
                  </a:rPr>
                  <a:t> de 34.51 um, la </a:t>
                </a:r>
                <a:r>
                  <a:rPr lang="en-US" sz="1000" dirty="0" err="1">
                    <a:latin typeface="Arial" panose="020B0604020202020204" pitchFamily="34" charset="0"/>
                    <a:cs typeface="Arial" panose="020B0604020202020204" pitchFamily="34" charset="0"/>
                  </a:rPr>
                  <a:t>cual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está</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relacionada</a:t>
                </a:r>
                <a:r>
                  <a:rPr lang="en-US" sz="1000" dirty="0">
                    <a:latin typeface="Arial" panose="020B0604020202020204" pitchFamily="34" charset="0"/>
                    <a:cs typeface="Arial" panose="020B0604020202020204" pitchFamily="34" charset="0"/>
                  </a:rPr>
                  <a:t> con </a:t>
                </a:r>
                <a14:m>
                  <m:oMath xmlns:m="http://schemas.openxmlformats.org/officeDocument/2006/math">
                    <m:sSub>
                      <m:sSubPr>
                        <m:ctrlPr>
                          <a:rPr lang="ar-AE" sz="1000" i="1">
                            <a:latin typeface="Cambria Math" panose="02040503050406030204" pitchFamily="18" charset="0"/>
                          </a:rPr>
                        </m:ctrlPr>
                      </m:sSubPr>
                      <m:e>
                        <m:r>
                          <a:rPr lang="ar-AE" sz="1000" i="1">
                            <a:latin typeface="Cambria Math" panose="02040503050406030204" pitchFamily="18" charset="0"/>
                          </a:rPr>
                          <m:t>𝐿</m:t>
                        </m:r>
                      </m:e>
                      <m:sub>
                        <m:r>
                          <a:rPr lang="ar-AE" sz="1000" i="1">
                            <a:latin typeface="Cambria Math" panose="02040503050406030204" pitchFamily="18" charset="0"/>
                          </a:rPr>
                          <m:t>𝜋</m:t>
                        </m:r>
                      </m:sub>
                    </m:sSub>
                  </m:oMath>
                </a14:m>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determina</a:t>
                </a:r>
                <a:r>
                  <a:rPr lang="en-US" sz="1000" dirty="0">
                    <a:latin typeface="Arial" panose="020B0604020202020204" pitchFamily="34" charset="0"/>
                    <a:cs typeface="Arial" panose="020B0604020202020204" pitchFamily="34" charset="0"/>
                  </a:rPr>
                  <a:t> las </a:t>
                </a:r>
                <a:r>
                  <a:rPr lang="en-US" sz="1000" dirty="0" err="1">
                    <a:latin typeface="Arial" panose="020B0604020202020204" pitchFamily="34" charset="0"/>
                    <a:cs typeface="Arial" panose="020B0604020202020204" pitchFamily="34" charset="0"/>
                  </a:rPr>
                  <a:t>posiciones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donde</a:t>
                </a:r>
                <a:r>
                  <a:rPr lang="en-US" sz="1000" dirty="0">
                    <a:latin typeface="Arial" panose="020B0604020202020204" pitchFamily="34" charset="0"/>
                    <a:cs typeface="Arial" panose="020B0604020202020204" pitchFamily="34" charset="0"/>
                  </a:rPr>
                  <a:t> se </a:t>
                </a:r>
                <a:r>
                  <a:rPr lang="en-US" sz="1000" dirty="0" err="1">
                    <a:latin typeface="Arial" panose="020B0604020202020204" pitchFamily="34" charset="0"/>
                    <a:cs typeface="Arial" panose="020B0604020202020204" pitchFamily="34" charset="0"/>
                  </a:rPr>
                  <a:t>forman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estas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autoimágenes</a:t>
                </a:r>
                <a:r>
                  <a:rPr lang="en-US" sz="1000" dirty="0">
                    <a:latin typeface="Arial" panose="020B0604020202020204" pitchFamily="34" charset="0"/>
                    <a:cs typeface="Arial" panose="020B0604020202020204" pitchFamily="34" charset="0"/>
                  </a:rPr>
                  <a:t>.</a:t>
                </a:r>
              </a:p>
              <a:p>
                <a:pPr algn="just"/>
                <a:r>
                  <a:rPr lang="en-US" sz="1000" dirty="0">
                    <a:latin typeface="Arial" panose="020B0604020202020204" pitchFamily="34" charset="0"/>
                    <a:cs typeface="Arial" panose="020B0604020202020204" pitchFamily="34" charset="0"/>
                  </a:rPr>
                  <a:t>Por </a:t>
                </a:r>
                <a:r>
                  <a:rPr lang="en-US" sz="1000" dirty="0" err="1">
                    <a:latin typeface="Arial" panose="020B0604020202020204" pitchFamily="34" charset="0"/>
                    <a:cs typeface="Arial" panose="020B0604020202020204" pitchFamily="34" charset="0"/>
                  </a:rPr>
                  <a:t>otro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lado</a:t>
                </a:r>
                <a:r>
                  <a:rPr lang="en-US" sz="1000" dirty="0">
                    <a:latin typeface="Arial" panose="020B0604020202020204" pitchFamily="34" charset="0"/>
                    <a:cs typeface="Arial" panose="020B0604020202020204" pitchFamily="34" charset="0"/>
                  </a:rPr>
                  <a:t>, las </a:t>
                </a:r>
                <a:r>
                  <a:rPr lang="en-US" sz="1000" dirty="0" err="1">
                    <a:latin typeface="Arial" panose="020B0604020202020204" pitchFamily="34" charset="0"/>
                    <a:cs typeface="Arial" panose="020B0604020202020204" pitchFamily="34" charset="0"/>
                  </a:rPr>
                  <a:t>pérdidas</a:t>
                </a:r>
                <a:r>
                  <a:rPr lang="en-US" sz="1000" dirty="0">
                    <a:latin typeface="Arial" panose="020B0604020202020204" pitchFamily="34" charset="0"/>
                    <a:cs typeface="Arial" panose="020B0604020202020204" pitchFamily="34" charset="0"/>
                  </a:rPr>
                  <a:t> son de 0.42 dB y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reparto</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entre las dos </a:t>
                </a:r>
                <a:r>
                  <a:rPr lang="en-US" sz="1000" dirty="0" err="1">
                    <a:latin typeface="Arial" panose="020B0604020202020204" pitchFamily="34" charset="0"/>
                    <a:cs typeface="Arial" panose="020B0604020202020204" pitchFamily="34" charset="0"/>
                  </a:rPr>
                  <a:t>salidas</a:t>
                </a:r>
                <a:r>
                  <a:rPr lang="en-US" sz="1000" dirty="0">
                    <a:latin typeface="Arial" panose="020B0604020202020204" pitchFamily="34" charset="0"/>
                    <a:cs typeface="Arial" panose="020B0604020202020204" pitchFamily="34" charset="0"/>
                  </a:rPr>
                  <a:t> no es </a:t>
                </a:r>
                <a:r>
                  <a:rPr lang="en-US" sz="1000" dirty="0" err="1">
                    <a:latin typeface="Arial" panose="020B0604020202020204" pitchFamily="34" charset="0"/>
                    <a:cs typeface="Arial" panose="020B0604020202020204" pitchFamily="34" charset="0"/>
                  </a:rPr>
                  <a:t>equitativo</a:t>
                </a:r>
                <a:r>
                  <a:rPr lang="en-US" sz="1000" dirty="0">
                    <a:latin typeface="Arial" panose="020B0604020202020204" pitchFamily="34" charset="0"/>
                    <a:cs typeface="Arial" panose="020B0604020202020204" pitchFamily="34" charset="0"/>
                  </a:rPr>
                  <a:t> (es </a:t>
                </a:r>
                <a:r>
                  <a:rPr lang="en-US" sz="1000" dirty="0" err="1">
                    <a:latin typeface="Arial" panose="020B0604020202020204" pitchFamily="34" charset="0"/>
                    <a:cs typeface="Arial" panose="020B0604020202020204" pitchFamily="34" charset="0"/>
                  </a:rPr>
                  <a:t>decir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salida</a:t>
                </a:r>
                <a:r>
                  <a:rPr lang="en-US" sz="1000" dirty="0">
                    <a:latin typeface="Arial" panose="020B0604020202020204" pitchFamily="34" charset="0"/>
                    <a:cs typeface="Arial" panose="020B0604020202020204" pitchFamily="34" charset="0"/>
                  </a:rPr>
                  <a:t> se </a:t>
                </a:r>
                <a:r>
                  <a:rPr lang="en-US" sz="1000" dirty="0" err="1">
                    <a:latin typeface="Arial" panose="020B0604020202020204" pitchFamily="34" charset="0"/>
                    <a:cs typeface="Arial" panose="020B0604020202020204" pitchFamily="34" charset="0"/>
                  </a:rPr>
                  <a:t>obtiene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ligeramente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más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por</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otra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debido</a:t>
                </a:r>
                <a:r>
                  <a:rPr lang="en-US" sz="1000" dirty="0">
                    <a:latin typeface="Arial" panose="020B0604020202020204" pitchFamily="34" charset="0"/>
                    <a:cs typeface="Arial" panose="020B0604020202020204" pitchFamily="34" charset="0"/>
                  </a:rPr>
                  <a:t> a la </a:t>
                </a:r>
                <a:r>
                  <a:rPr lang="en-US" sz="1000" dirty="0" err="1">
                    <a:latin typeface="Arial" panose="020B0604020202020204" pitchFamily="34" charset="0"/>
                    <a:cs typeface="Arial" panose="020B0604020202020204" pitchFamily="34" charset="0"/>
                  </a:rPr>
                  <a:t>posición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descentrada</a:t>
                </a:r>
                <a:r>
                  <a:rPr lang="en-US" sz="1000" dirty="0">
                    <a:latin typeface="Arial" panose="020B0604020202020204" pitchFamily="34" charset="0"/>
                    <a:cs typeface="Arial" panose="020B0604020202020204" pitchFamily="34" charset="0"/>
                  </a:rPr>
                  <a:t> de la entrada, </a:t>
                </a:r>
                <a:r>
                  <a:rPr lang="en-US" sz="1000" dirty="0" err="1">
                    <a:latin typeface="Arial" panose="020B0604020202020204" pitchFamily="34" charset="0"/>
                    <a:cs typeface="Arial" panose="020B0604020202020204" pitchFamily="34" charset="0"/>
                  </a:rPr>
                  <a:t>rompiendo</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simetría</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dispositivo</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último, en comparación con el </a:t>
                </a:r>
                <a:r>
                  <a:rPr lang="es-ES" sz="1000" i="1" dirty="0" err="1">
                    <a:latin typeface="Arial" panose="020B0604020202020204" pitchFamily="34" charset="0"/>
                    <a:cs typeface="Arial" panose="020B0604020202020204" pitchFamily="34" charset="0"/>
                  </a:rPr>
                  <a:t>directional</a:t>
                </a:r>
                <a:r>
                  <a:rPr lang="es-ES" sz="1000" i="1" dirty="0">
                    <a:latin typeface="Arial" panose="020B0604020202020204" pitchFamily="34" charset="0"/>
                    <a:cs typeface="Arial" panose="020B0604020202020204" pitchFamily="34" charset="0"/>
                  </a:rPr>
                  <a:t> </a:t>
                </a:r>
                <a:r>
                  <a:rPr lang="es-ES" sz="1000" i="1" dirty="0" err="1">
                    <a:latin typeface="Arial" panose="020B0604020202020204" pitchFamily="34" charset="0"/>
                    <a:cs typeface="Arial" panose="020B0604020202020204" pitchFamily="34" charset="0"/>
                  </a:rPr>
                  <a:t>coupler</a:t>
                </a:r>
                <a:r>
                  <a:rPr lang="es-ES" sz="1000" dirty="0">
                    <a:latin typeface="Arial" panose="020B0604020202020204" pitchFamily="34" charset="0"/>
                    <a:cs typeface="Arial" panose="020B0604020202020204" pitchFamily="34" charset="0"/>
                  </a:rPr>
                  <a:t>, este último basa su funcionamiento en el acoplo evanescente entre dos guías y puede diseñarse para obtener un reparto 50/50, aunque es muy sensible a parámetros críticos como el </a:t>
                </a:r>
                <a:r>
                  <a:rPr lang="es-ES" sz="1000" i="1" dirty="0">
                    <a:latin typeface="Arial" panose="020B0604020202020204" pitchFamily="34" charset="0"/>
                    <a:cs typeface="Arial" panose="020B0604020202020204" pitchFamily="34" charset="0"/>
                  </a:rPr>
                  <a:t>gap</a:t>
                </a:r>
                <a:r>
                  <a:rPr lang="es-ES" sz="1000" dirty="0">
                    <a:latin typeface="Arial" panose="020B0604020202020204" pitchFamily="34" charset="0"/>
                    <a:cs typeface="Arial" panose="020B0604020202020204" pitchFamily="34" charset="0"/>
                  </a:rPr>
                  <a:t> y la longitud del dispositivo. En cambio, el MMI se basa en interferencia multimodo, lo que lo hace más robusto frente a variaciones geométricas y de fabricación.</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329D122E-5098-7A1E-EC3C-23ED5C05C8F7}"/>
                  </a:ext>
                </a:extLst>
              </p:cNvPr>
              <p:cNvSpPr txBox="1">
                <a:spLocks noRot="1" noChangeAspect="1" noMove="1" noResize="1" noEditPoints="1" noAdjustHandles="1" noChangeArrowheads="1" noChangeShapeType="1" noTextEdit="1"/>
              </p:cNvSpPr>
              <p:nvPr/>
            </p:nvSpPr>
            <p:spPr>
              <a:xfrm>
                <a:off x="583019" y="1524000"/>
                <a:ext cx="11199971" cy="2646878"/>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14973170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1182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18853588-9BAA-91C4-4A79-9F54CC5E87EE}"/>
              </a:ext>
            </a:extLst>
          </p:cNvPr>
          <p:cNvPicPr>
            <a:picLocks noChangeAspect="1"/>
          </p:cNvPicPr>
          <p:nvPr/>
        </p:nvPicPr>
        <p:blipFill>
          <a:blip r:embed="rId4"/>
          <a:stretch>
            <a:fillRect/>
          </a:stretch>
        </p:blipFill>
        <p:spPr>
          <a:xfrm>
            <a:off x="807216" y="1582438"/>
            <a:ext cx="6545384" cy="2708434"/>
          </a:xfrm>
          <a:prstGeom prst="rect">
            <a:avLst/>
          </a:prstGeom>
        </p:spPr>
      </p:pic>
      <p:pic>
        <p:nvPicPr>
          <p:cNvPr id="11" name="Imagen 10">
            <a:extLst>
              <a:ext uri="{FF2B5EF4-FFF2-40B4-BE49-F238E27FC236}">
                <a16:creationId xmlns:a16="http://schemas.microsoft.com/office/drawing/2014/main" id="{063740EB-B0BA-1AC4-E18F-09B193AD0D9C}"/>
              </a:ext>
            </a:extLst>
          </p:cNvPr>
          <p:cNvPicPr>
            <a:picLocks noChangeAspect="1"/>
          </p:cNvPicPr>
          <p:nvPr/>
        </p:nvPicPr>
        <p:blipFill>
          <a:blip r:embed="rId5"/>
          <a:stretch>
            <a:fillRect/>
          </a:stretch>
        </p:blipFill>
        <p:spPr>
          <a:xfrm>
            <a:off x="7550375" y="1582438"/>
            <a:ext cx="3522530" cy="2708434"/>
          </a:xfrm>
          <a:prstGeom prst="rect">
            <a:avLst/>
          </a:prstGeom>
        </p:spPr>
      </p:pic>
      <p:sp>
        <p:nvSpPr>
          <p:cNvPr id="12" name="CuadroTexto 11">
            <a:extLst>
              <a:ext uri="{FF2B5EF4-FFF2-40B4-BE49-F238E27FC236}">
                <a16:creationId xmlns:a16="http://schemas.microsoft.com/office/drawing/2014/main" id="{59F653BA-AA38-729C-92F0-6C88B2EF6A8F}"/>
              </a:ext>
            </a:extLst>
          </p:cNvPr>
          <p:cNvSpPr txBox="1"/>
          <p:nvPr/>
        </p:nvSpPr>
        <p:spPr>
          <a:xfrm>
            <a:off x="609440" y="4603352"/>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En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caso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realizado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optimización</a:t>
            </a:r>
            <a:r>
              <a:rPr lang="en-US" sz="1000" dirty="0">
                <a:latin typeface="Arial" panose="020B0604020202020204" pitchFamily="34" charset="0"/>
                <a:cs typeface="Arial" panose="020B0604020202020204" pitchFamily="34" charset="0"/>
              </a:rPr>
              <a:t> manual del </a:t>
            </a:r>
            <a:r>
              <a:rPr lang="en-US" sz="1000" dirty="0" err="1">
                <a:latin typeface="Arial" panose="020B0604020202020204" pitchFamily="34" charset="0"/>
                <a:cs typeface="Arial" panose="020B0604020202020204" pitchFamily="34" charset="0"/>
              </a:rPr>
              <a:t>acoplador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ajustando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los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parámetros</a:t>
            </a:r>
            <a:r>
              <a:rPr lang="en-US" sz="1000" dirty="0">
                <a:latin typeface="Arial" panose="020B0604020202020204" pitchFamily="34" charset="0"/>
                <a:cs typeface="Arial" panose="020B0604020202020204" pitchFamily="34" charset="0"/>
              </a:rPr>
              <a:t> </a:t>
            </a:r>
            <a:r>
              <a:rPr lang="en-US" sz="1000" i="1" dirty="0" err="1">
                <a:latin typeface="Arial" panose="020B0604020202020204" pitchFamily="34" charset="0"/>
                <a:cs typeface="Arial" panose="020B0604020202020204" pitchFamily="34" charset="0"/>
              </a:rPr>
              <a:t>dy</a:t>
            </a:r>
            <a:r>
              <a:rPr lang="en-US" sz="1000" dirty="0">
                <a:latin typeface="Arial" panose="020B0604020202020204" pitchFamily="34" charset="0"/>
                <a:cs typeface="Arial" panose="020B0604020202020204" pitchFamily="34" charset="0"/>
              </a:rPr>
              <a:t> y </a:t>
            </a:r>
            <a:r>
              <a:rPr lang="en-US" sz="1000" i="1" dirty="0" err="1">
                <a:latin typeface="Arial" panose="020B0604020202020204" pitchFamily="34" charset="0"/>
                <a:cs typeface="Arial" panose="020B0604020202020204" pitchFamily="34" charset="0"/>
              </a:rPr>
              <a:t>dL_MMI</a:t>
            </a:r>
            <a:r>
              <a:rPr lang="en-US" sz="1000" i="1"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para </a:t>
            </a:r>
            <a:r>
              <a:rPr lang="en-US" sz="1000" dirty="0" err="1">
                <a:latin typeface="Arial" panose="020B0604020202020204" pitchFamily="34" charset="0"/>
                <a:cs typeface="Arial" panose="020B0604020202020204" pitchFamily="34" charset="0"/>
              </a:rPr>
              <a:t>mejorar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reparto</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entre las </a:t>
            </a:r>
            <a:r>
              <a:rPr lang="en-US" sz="1000" dirty="0" err="1">
                <a:latin typeface="Arial" panose="020B0604020202020204" pitchFamily="34" charset="0"/>
                <a:cs typeface="Arial" panose="020B0604020202020204" pitchFamily="34" charset="0"/>
              </a:rPr>
              <a:t>salidas</a:t>
            </a:r>
            <a:r>
              <a:rPr lang="en-US" sz="1000" dirty="0">
                <a:latin typeface="Arial" panose="020B0604020202020204" pitchFamily="34" charset="0"/>
                <a:cs typeface="Arial" panose="020B0604020202020204" pitchFamily="34" charset="0"/>
              </a:rPr>
              <a:t> y </a:t>
            </a:r>
            <a:r>
              <a:rPr lang="en-US" sz="1000" dirty="0" err="1">
                <a:latin typeface="Arial" panose="020B0604020202020204" pitchFamily="34" charset="0"/>
                <a:cs typeface="Arial" panose="020B0604020202020204" pitchFamily="34" charset="0"/>
              </a:rPr>
              <a:t>reducir</a:t>
            </a:r>
            <a:r>
              <a:rPr lang="en-US" sz="1000" dirty="0">
                <a:latin typeface="Arial" panose="020B0604020202020204" pitchFamily="34" charset="0"/>
                <a:cs typeface="Arial" panose="020B0604020202020204" pitchFamily="34" charset="0"/>
              </a:rPr>
              <a:t> las </a:t>
            </a:r>
            <a:r>
              <a:rPr lang="en-US" sz="1000" dirty="0" err="1">
                <a:latin typeface="Arial" panose="020B0604020202020204" pitchFamily="34" charset="0"/>
                <a:cs typeface="Arial" panose="020B0604020202020204" pitchFamily="34" charset="0"/>
              </a:rPr>
              <a:t>pérdidas</a:t>
            </a:r>
            <a:r>
              <a:rPr lang="en-US" sz="1000" dirty="0">
                <a:latin typeface="Arial" panose="020B0604020202020204" pitchFamily="34" charset="0"/>
                <a:cs typeface="Arial" panose="020B0604020202020204" pitchFamily="34" charset="0"/>
              </a:rPr>
              <a:t>. </a:t>
            </a:r>
          </a:p>
          <a:p>
            <a:pPr algn="just"/>
            <a:endParaRPr lang="en-US" sz="1000"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Tras </a:t>
            </a:r>
            <a:r>
              <a:rPr lang="en-US" sz="1000" dirty="0" err="1">
                <a:latin typeface="Arial" panose="020B0604020202020204" pitchFamily="34" charset="0"/>
                <a:cs typeface="Arial" panose="020B0604020202020204" pitchFamily="34" charset="0"/>
              </a:rPr>
              <a:t>varias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iteraciones</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conseguido</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reparto</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potencia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prácticamente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equitativo</a:t>
            </a:r>
            <a:r>
              <a:rPr lang="en-US" sz="1000" dirty="0">
                <a:latin typeface="Arial" panose="020B0604020202020204" pitchFamily="34" charset="0"/>
                <a:cs typeface="Arial" panose="020B0604020202020204" pitchFamily="34" charset="0"/>
              </a:rPr>
              <a:t> (0.5/0.49), con </a:t>
            </a:r>
            <a:r>
              <a:rPr lang="en-US" sz="1000" dirty="0" err="1">
                <a:latin typeface="Arial" panose="020B0604020202020204" pitchFamily="34" charset="0"/>
                <a:cs typeface="Arial" panose="020B0604020202020204" pitchFamily="34" charset="0"/>
              </a:rPr>
              <a:t>unas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pérdidas</a:t>
            </a:r>
            <a:r>
              <a:rPr lang="en-US" sz="1000" dirty="0">
                <a:latin typeface="Arial" panose="020B0604020202020204" pitchFamily="34" charset="0"/>
                <a:cs typeface="Arial" panose="020B0604020202020204" pitchFamily="34" charset="0"/>
              </a:rPr>
              <a:t> de 0.33 </a:t>
            </a:r>
            <a:r>
              <a:rPr lang="en-US" sz="1000" dirty="0" err="1">
                <a:latin typeface="Arial" panose="020B0604020202020204" pitchFamily="34" charset="0"/>
                <a:cs typeface="Arial" panose="020B0604020202020204" pitchFamily="34" charset="0"/>
              </a:rPr>
              <a:t>dB.</a:t>
            </a:r>
            <a:r>
              <a:rPr lang="en-US" sz="1000" dirty="0">
                <a:latin typeface="Arial" panose="020B0604020202020204" pitchFamily="34" charset="0"/>
                <a:cs typeface="Arial" panose="020B0604020202020204" pitchFamily="34" charset="0"/>
              </a:rPr>
              <a:t> Este </a:t>
            </a:r>
            <a:r>
              <a:rPr lang="en-US" sz="1000" dirty="0" err="1">
                <a:latin typeface="Arial" panose="020B0604020202020204" pitchFamily="34" charset="0"/>
                <a:cs typeface="Arial" panose="020B0604020202020204" pitchFamily="34" charset="0"/>
              </a:rPr>
              <a:t>resultado</a:t>
            </a:r>
            <a:r>
              <a:rPr lang="en-US" sz="1000" dirty="0">
                <a:latin typeface="Arial" panose="020B0604020202020204" pitchFamily="34" charset="0"/>
                <a:cs typeface="Arial" panose="020B0604020202020204" pitchFamily="34" charset="0"/>
              </a:rPr>
              <a:t> se </a:t>
            </a:r>
            <a:r>
              <a:rPr lang="en-US" sz="1000" dirty="0" err="1">
                <a:latin typeface="Arial" panose="020B0604020202020204" pitchFamily="34" charset="0"/>
                <a:cs typeface="Arial" panose="020B0604020202020204" pitchFamily="34" charset="0"/>
              </a:rPr>
              <a:t>obtiene</a:t>
            </a:r>
            <a:r>
              <a:rPr lang="en-US" sz="1000" dirty="0">
                <a:latin typeface="Arial" panose="020B0604020202020204" pitchFamily="34" charset="0"/>
                <a:cs typeface="Arial" panose="020B0604020202020204" pitchFamily="34" charset="0"/>
              </a:rPr>
              <a:t> para </a:t>
            </a:r>
            <a:r>
              <a:rPr lang="en-US" sz="1000" dirty="0" err="1">
                <a:latin typeface="Arial" panose="020B0604020202020204" pitchFamily="34" charset="0"/>
                <a:cs typeface="Arial" panose="020B0604020202020204" pitchFamily="34" charset="0"/>
              </a:rPr>
              <a:t>valores</a:t>
            </a:r>
            <a:r>
              <a:rPr lang="en-US" sz="1000" dirty="0">
                <a:latin typeface="Arial" panose="020B0604020202020204" pitchFamily="34" charset="0"/>
                <a:cs typeface="Arial" panose="020B0604020202020204" pitchFamily="34" charset="0"/>
              </a:rPr>
              <a:t> de </a:t>
            </a:r>
            <a:r>
              <a:rPr lang="en-US" sz="1000" i="1" dirty="0" err="1">
                <a:latin typeface="Arial" panose="020B0604020202020204" pitchFamily="34" charset="0"/>
                <a:cs typeface="Arial" panose="020B0604020202020204" pitchFamily="34" charset="0"/>
              </a:rPr>
              <a:t>dy</a:t>
            </a:r>
            <a:r>
              <a:rPr lang="en-US" sz="1000" i="1" dirty="0">
                <a:latin typeface="Arial" panose="020B0604020202020204" pitchFamily="34" charset="0"/>
                <a:cs typeface="Arial" panose="020B0604020202020204" pitchFamily="34" charset="0"/>
              </a:rPr>
              <a:t> = 0.09 </a:t>
            </a:r>
            <a:r>
              <a:rPr lang="en-US" sz="1000" dirty="0">
                <a:latin typeface="Arial" panose="020B0604020202020204" pitchFamily="34" charset="0"/>
                <a:cs typeface="Arial" panose="020B0604020202020204" pitchFamily="34" charset="0"/>
              </a:rPr>
              <a:t>y </a:t>
            </a:r>
            <a:r>
              <a:rPr lang="en-US" sz="1000" i="1" dirty="0" err="1">
                <a:latin typeface="Arial" panose="020B0604020202020204" pitchFamily="34" charset="0"/>
                <a:cs typeface="Arial" panose="020B0604020202020204" pitchFamily="34" charset="0"/>
              </a:rPr>
              <a:t>dL_MMI</a:t>
            </a:r>
            <a:r>
              <a:rPr lang="en-US" sz="1000" i="1" dirty="0">
                <a:latin typeface="Arial" panose="020B0604020202020204" pitchFamily="34" charset="0"/>
                <a:cs typeface="Arial" panose="020B0604020202020204" pitchFamily="34" charset="0"/>
              </a:rPr>
              <a:t> = -0.8</a:t>
            </a:r>
            <a:r>
              <a:rPr lang="en-US" sz="1000" dirty="0">
                <a:latin typeface="Arial" panose="020B0604020202020204" pitchFamily="34" charset="0"/>
                <a:cs typeface="Arial" panose="020B0604020202020204" pitchFamily="34" charset="0"/>
              </a:rPr>
              <a:t>. Se </a:t>
            </a:r>
            <a:r>
              <a:rPr lang="en-US" sz="1000" dirty="0" err="1">
                <a:latin typeface="Arial" panose="020B0604020202020204" pitchFamily="34" charset="0"/>
                <a:cs typeface="Arial" panose="020B0604020202020204" pitchFamily="34" charset="0"/>
              </a:rPr>
              <a:t>observa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que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pequeños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ajustes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posición</a:t>
            </a:r>
            <a:r>
              <a:rPr lang="en-US" sz="1000" dirty="0">
                <a:latin typeface="Arial" panose="020B0604020202020204" pitchFamily="34" charset="0"/>
                <a:cs typeface="Arial" panose="020B0604020202020204" pitchFamily="34" charset="0"/>
              </a:rPr>
              <a:t> de las </a:t>
            </a:r>
            <a:r>
              <a:rPr lang="en-US" sz="1000" dirty="0" err="1">
                <a:latin typeface="Arial" panose="020B0604020202020204" pitchFamily="34" charset="0"/>
                <a:cs typeface="Arial" panose="020B0604020202020204" pitchFamily="34" charset="0"/>
              </a:rPr>
              <a:t>guías</a:t>
            </a:r>
            <a:r>
              <a:rPr lang="en-US" sz="1000" dirty="0">
                <a:latin typeface="Arial" panose="020B0604020202020204" pitchFamily="34" charset="0"/>
                <a:cs typeface="Arial" panose="020B0604020202020204" pitchFamily="34" charset="0"/>
              </a:rPr>
              <a:t> (</a:t>
            </a:r>
            <a:r>
              <a:rPr lang="en-US" sz="1000" i="1" dirty="0" err="1">
                <a:latin typeface="Arial" panose="020B0604020202020204" pitchFamily="34" charset="0"/>
                <a:cs typeface="Arial" panose="020B0604020202020204" pitchFamily="34" charset="0"/>
              </a:rPr>
              <a:t>dy</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permiten mejorar la simetría del acoplo, mientras que la longitud efectiva del MMI (</a:t>
            </a:r>
            <a:r>
              <a:rPr lang="es-ES" sz="1000" i="1" dirty="0" err="1">
                <a:latin typeface="Arial" panose="020B0604020202020204" pitchFamily="34" charset="0"/>
                <a:cs typeface="Arial" panose="020B0604020202020204" pitchFamily="34" charset="0"/>
              </a:rPr>
              <a:t>dL_MMI</a:t>
            </a:r>
            <a:r>
              <a:rPr lang="es-ES" sz="1000" dirty="0">
                <a:latin typeface="Arial" panose="020B0604020202020204" pitchFamily="34" charset="0"/>
                <a:cs typeface="Arial" panose="020B0604020202020204" pitchFamily="34" charset="0"/>
              </a:rPr>
              <a:t>) influye en la formación de las autoimágenes, afectando directamente al reparto de potencia en las salidas.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5215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8E93F285-4DE0-2EF7-F9F7-2C22D1DE2F05}"/>
              </a:ext>
            </a:extLst>
          </p:cNvPr>
          <p:cNvPicPr>
            <a:picLocks noChangeAspect="1"/>
          </p:cNvPicPr>
          <p:nvPr/>
        </p:nvPicPr>
        <p:blipFill>
          <a:blip r:embed="rId4"/>
          <a:stretch>
            <a:fillRect/>
          </a:stretch>
        </p:blipFill>
        <p:spPr>
          <a:xfrm>
            <a:off x="685800" y="1690317"/>
            <a:ext cx="6595538" cy="2708434"/>
          </a:xfrm>
          <a:prstGeom prst="rect">
            <a:avLst/>
          </a:prstGeom>
        </p:spPr>
      </p:pic>
      <p:pic>
        <p:nvPicPr>
          <p:cNvPr id="11" name="Imagen 10">
            <a:extLst>
              <a:ext uri="{FF2B5EF4-FFF2-40B4-BE49-F238E27FC236}">
                <a16:creationId xmlns:a16="http://schemas.microsoft.com/office/drawing/2014/main" id="{AD1442A2-C538-C78E-67BD-BFA8ED02BCF3}"/>
              </a:ext>
            </a:extLst>
          </p:cNvPr>
          <p:cNvPicPr>
            <a:picLocks noChangeAspect="1"/>
          </p:cNvPicPr>
          <p:nvPr/>
        </p:nvPicPr>
        <p:blipFill>
          <a:blip r:embed="rId5"/>
          <a:stretch>
            <a:fillRect/>
          </a:stretch>
        </p:blipFill>
        <p:spPr>
          <a:xfrm>
            <a:off x="7455299" y="1524000"/>
            <a:ext cx="3999282" cy="2966680"/>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77A80-5995-D3B8-FF2C-04D20FE0191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7EA34DB-0764-B541-6F66-40D9F7EF3865}"/>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9116F70E-1098-61AE-7259-907D2AF7A3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50473D3-9CAA-B3AF-A9AC-7AB62C34A511}"/>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9AEFF23A-FF19-6810-786A-9A11FB44615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6D190916-6718-03F4-1610-7EC3D7407CD6}"/>
              </a:ext>
            </a:extLst>
          </p:cNvPr>
          <p:cNvSpPr txBox="1"/>
          <p:nvPr/>
        </p:nvSpPr>
        <p:spPr>
          <a:xfrm>
            <a:off x="496014" y="1371600"/>
            <a:ext cx="11199971" cy="200054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a:t>
            </a:r>
          </a:p>
          <a:p>
            <a:pPr algn="just"/>
            <a:endParaRPr lang="en-US" sz="1200" b="1" i="1"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En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último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apartado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llevado</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cabo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optimización</a:t>
            </a:r>
            <a:r>
              <a:rPr lang="en-US" sz="1000" dirty="0">
                <a:latin typeface="Arial" panose="020B0604020202020204" pitchFamily="34" charset="0"/>
                <a:cs typeface="Arial" panose="020B0604020202020204" pitchFamily="34" charset="0"/>
              </a:rPr>
              <a:t> mas </a:t>
            </a:r>
            <a:r>
              <a:rPr lang="en-US" sz="1000" dirty="0" err="1">
                <a:latin typeface="Arial" panose="020B0604020202020204" pitchFamily="34" charset="0"/>
                <a:cs typeface="Arial" panose="020B0604020202020204" pitchFamily="34" charset="0"/>
              </a:rPr>
              <a:t>avanzada</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acoplador</a:t>
            </a:r>
            <a:r>
              <a:rPr lang="en-US" sz="1000" dirty="0">
                <a:latin typeface="Arial" panose="020B0604020202020204" pitchFamily="34" charset="0"/>
                <a:cs typeface="Arial" panose="020B0604020202020204" pitchFamily="34" charset="0"/>
              </a:rPr>
              <a:t> MMI, </a:t>
            </a:r>
            <a:r>
              <a:rPr lang="en-US" sz="1000" dirty="0" err="1">
                <a:latin typeface="Arial" panose="020B0604020202020204" pitchFamily="34" charset="0"/>
                <a:cs typeface="Arial" panose="020B0604020202020204" pitchFamily="34" charset="0"/>
              </a:rPr>
              <a:t>combinando</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optimización</a:t>
            </a:r>
            <a:r>
              <a:rPr lang="en-US" sz="1000" dirty="0">
                <a:latin typeface="Arial" panose="020B0604020202020204" pitchFamily="34" charset="0"/>
                <a:cs typeface="Arial" panose="020B0604020202020204" pitchFamily="34" charset="0"/>
              </a:rPr>
              <a:t> manual del </a:t>
            </a:r>
            <a:r>
              <a:rPr lang="en-US" sz="1000" dirty="0" err="1">
                <a:latin typeface="Arial" panose="020B0604020202020204" pitchFamily="34" charset="0"/>
                <a:cs typeface="Arial" panose="020B0604020202020204" pitchFamily="34" charset="0"/>
              </a:rPr>
              <a:t>parámetros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geométricos</a:t>
            </a:r>
            <a:r>
              <a:rPr lang="en-US" sz="1000" dirty="0">
                <a:latin typeface="Arial" panose="020B0604020202020204" pitchFamily="34" charset="0"/>
                <a:cs typeface="Arial" panose="020B0604020202020204" pitchFamily="34" charset="0"/>
              </a:rPr>
              <a:t> con </a:t>
            </a:r>
            <a:r>
              <a:rPr lang="es-ES" sz="1000" dirty="0">
                <a:latin typeface="Arial" panose="020B0604020202020204" pitchFamily="34" charset="0"/>
                <a:cs typeface="Arial" panose="020B0604020202020204" pitchFamily="34" charset="0"/>
              </a:rPr>
              <a:t>la modificación del ancho de las guías de entrada y salida.</a:t>
            </a:r>
            <a:r>
              <a:rPr lang="en-US" sz="1000" dirty="0">
                <a:latin typeface="Arial" panose="020B0604020202020204" pitchFamily="34" charset="0"/>
                <a:cs typeface="Arial" panose="020B0604020202020204" pitchFamily="34" charset="0"/>
              </a:rPr>
              <a:t> En </a:t>
            </a:r>
            <a:r>
              <a:rPr lang="en-US" sz="1000" dirty="0" err="1">
                <a:latin typeface="Arial" panose="020B0604020202020204" pitchFamily="34" charset="0"/>
                <a:cs typeface="Arial" panose="020B0604020202020204" pitchFamily="34" charset="0"/>
              </a:rPr>
              <a:t>concreto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usado</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incremento</a:t>
            </a:r>
            <a:r>
              <a:rPr lang="en-US" sz="1000" dirty="0">
                <a:latin typeface="Arial" panose="020B0604020202020204" pitchFamily="34" charset="0"/>
                <a:cs typeface="Arial" panose="020B0604020202020204" pitchFamily="34" charset="0"/>
              </a:rPr>
              <a:t> de ancho de 1.2 um, junto con </a:t>
            </a:r>
            <a:r>
              <a:rPr lang="en-US" sz="1000" dirty="0" err="1">
                <a:latin typeface="Arial" panose="020B0604020202020204" pitchFamily="34" charset="0"/>
                <a:cs typeface="Arial" panose="020B0604020202020204" pitchFamily="34" charset="0"/>
              </a:rPr>
              <a:t>valores</a:t>
            </a:r>
            <a:r>
              <a:rPr lang="en-US" sz="1000" dirty="0">
                <a:latin typeface="Arial" panose="020B0604020202020204" pitchFamily="34" charset="0"/>
                <a:cs typeface="Arial" panose="020B0604020202020204" pitchFamily="34" charset="0"/>
              </a:rPr>
              <a:t> de </a:t>
            </a:r>
            <a:r>
              <a:rPr lang="en-US" sz="1000" i="1" dirty="0" err="1">
                <a:latin typeface="Arial" panose="020B0604020202020204" pitchFamily="34" charset="0"/>
                <a:cs typeface="Arial" panose="020B0604020202020204" pitchFamily="34" charset="0"/>
              </a:rPr>
              <a:t>dy</a:t>
            </a:r>
            <a:r>
              <a:rPr lang="en-US" sz="1000" i="1" dirty="0">
                <a:latin typeface="Arial" panose="020B0604020202020204" pitchFamily="34" charset="0"/>
                <a:cs typeface="Arial" panose="020B0604020202020204" pitchFamily="34" charset="0"/>
              </a:rPr>
              <a:t> = 0.15</a:t>
            </a:r>
            <a:r>
              <a:rPr lang="en-US" sz="1000" dirty="0">
                <a:latin typeface="Arial" panose="020B0604020202020204" pitchFamily="34" charset="0"/>
                <a:cs typeface="Arial" panose="020B0604020202020204" pitchFamily="34" charset="0"/>
              </a:rPr>
              <a:t>, y </a:t>
            </a:r>
            <a:r>
              <a:rPr lang="en-US" sz="1000" i="1" dirty="0" err="1">
                <a:latin typeface="Arial" panose="020B0604020202020204" pitchFamily="34" charset="0"/>
                <a:cs typeface="Arial" panose="020B0604020202020204" pitchFamily="34" charset="0"/>
              </a:rPr>
              <a:t>dL_MMI</a:t>
            </a:r>
            <a:r>
              <a:rPr lang="en-US" sz="1000" i="1" dirty="0">
                <a:latin typeface="Arial" panose="020B0604020202020204" pitchFamily="34" charset="0"/>
                <a:cs typeface="Arial" panose="020B0604020202020204" pitchFamily="34" charset="0"/>
              </a:rPr>
              <a:t> = 0.1</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Este cambio en el ancho de las guías y del ajuste de los parámetros geométricos implica una modificación de los modos propagados en la estructura, lo que permite mejorar el acoplo y optimizar la interferencia dentro del MMI. Como resultado, se ha obtenido una distribución de potencia prácticamente equitativa entre las salidas (0.5 / 0.5) y unas pérdidas reducidas de aproximadamente 0.08 dB, cumpliendo así con las especificaciones requeridas.</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último, se observa que el aumento del ancho de las guías contribuye principalmente a la reducción de las pérdidas del dispositivo, mientras que el reparto de potencia entre las salidas depende en mayor medida de los parámetros </a:t>
            </a:r>
            <a:r>
              <a:rPr lang="es-ES" sz="1000" i="1" dirty="0" err="1">
                <a:latin typeface="Arial" panose="020B0604020202020204" pitchFamily="34" charset="0"/>
                <a:cs typeface="Arial" panose="020B0604020202020204" pitchFamily="34" charset="0"/>
              </a:rPr>
              <a:t>dy</a:t>
            </a:r>
            <a:r>
              <a:rPr lang="es-ES" sz="1000" dirty="0">
                <a:latin typeface="Arial" panose="020B0604020202020204" pitchFamily="34" charset="0"/>
                <a:cs typeface="Arial" panose="020B0604020202020204" pitchFamily="34" charset="0"/>
              </a:rPr>
              <a:t> y </a:t>
            </a:r>
            <a:r>
              <a:rPr lang="es-ES" sz="1000" i="1" dirty="0" err="1">
                <a:latin typeface="Arial" panose="020B0604020202020204" pitchFamily="34" charset="0"/>
                <a:cs typeface="Arial" panose="020B0604020202020204" pitchFamily="34" charset="0"/>
              </a:rPr>
              <a:t>dL_MMI</a:t>
            </a:r>
            <a:r>
              <a:rPr lang="es-ES" sz="1000" dirty="0">
                <a:latin typeface="Arial" panose="020B0604020202020204" pitchFamily="34" charset="0"/>
                <a:cs typeface="Arial" panose="020B0604020202020204" pitchFamily="34" charset="0"/>
              </a:rPr>
              <a:t>, siendo especialmente sensible al valor de </a:t>
            </a:r>
            <a:r>
              <a:rPr lang="es-ES" sz="1000" i="1" dirty="0" err="1">
                <a:latin typeface="Arial" panose="020B0604020202020204" pitchFamily="34" charset="0"/>
                <a:cs typeface="Arial" panose="020B0604020202020204" pitchFamily="34" charset="0"/>
              </a:rPr>
              <a:t>dy</a:t>
            </a:r>
            <a:r>
              <a:rPr lang="es-ES" sz="1000" dirty="0">
                <a:latin typeface="Arial" panose="020B0604020202020204" pitchFamily="34" charset="0"/>
                <a:cs typeface="Arial" panose="020B0604020202020204" pitchFamily="34" charset="0"/>
              </a:rPr>
              <a:t>.</a:t>
            </a:r>
            <a:endParaRPr lang="en-US" sz="1000" dirty="0">
              <a:latin typeface="Arial" panose="020B0604020202020204" pitchFamily="34" charset="0"/>
              <a:cs typeface="Arial" panose="020B0604020202020204" pitchFamily="34" charset="0"/>
            </a:endParaRPr>
          </a:p>
          <a:p>
            <a:pPr algn="just"/>
            <a:endParaRPr lang="en-US" sz="10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2464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dirty="0" err="1">
                <a:solidFill>
                  <a:srgbClr val="00B050"/>
                </a:solidFill>
              </a:rPr>
              <a:t>wMMI</a:t>
            </a:r>
            <a:r>
              <a:rPr lang="en-US" dirty="0">
                <a:solidFill>
                  <a:srgbClr val="00B050"/>
                </a:solidFill>
              </a:rPr>
              <a:t> = 6.2 µm</a:t>
            </a:r>
            <a:endParaRPr lang="en-US" sz="2500" dirty="0">
              <a:solidFill>
                <a:srgbClr val="00B050"/>
              </a:solidFill>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AFB86587-21D4-5A33-7D00-DDF170C919BA}"/>
              </a:ext>
            </a:extLst>
          </p:cNvPr>
          <p:cNvSpPr/>
          <p:nvPr/>
        </p:nvSpPr>
        <p:spPr>
          <a:xfrm>
            <a:off x="914400" y="1377510"/>
            <a:ext cx="104394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C001F98-F39C-6E09-FB93-AF7A466D2476}"/>
              </a:ext>
            </a:extLst>
          </p:cNvPr>
          <p:cNvPicPr>
            <a:picLocks noChangeAspect="1"/>
          </p:cNvPicPr>
          <p:nvPr/>
        </p:nvPicPr>
        <p:blipFill>
          <a:blip r:embed="rId4"/>
          <a:stretch>
            <a:fillRect/>
          </a:stretch>
        </p:blipFill>
        <p:spPr>
          <a:xfrm>
            <a:off x="1108650" y="1450461"/>
            <a:ext cx="4800600" cy="3147934"/>
          </a:xfrm>
          <a:prstGeom prst="rect">
            <a:avLst/>
          </a:prstGeom>
        </p:spPr>
      </p:pic>
      <p:pic>
        <p:nvPicPr>
          <p:cNvPr id="9" name="Imagen 8">
            <a:extLst>
              <a:ext uri="{FF2B5EF4-FFF2-40B4-BE49-F238E27FC236}">
                <a16:creationId xmlns:a16="http://schemas.microsoft.com/office/drawing/2014/main" id="{30159A58-0B80-D939-378C-E7585B8C55B8}"/>
              </a:ext>
            </a:extLst>
          </p:cNvPr>
          <p:cNvPicPr>
            <a:picLocks noChangeAspect="1"/>
          </p:cNvPicPr>
          <p:nvPr/>
        </p:nvPicPr>
        <p:blipFill>
          <a:blip r:embed="rId5"/>
          <a:stretch>
            <a:fillRect/>
          </a:stretch>
        </p:blipFill>
        <p:spPr>
          <a:xfrm>
            <a:off x="6282752" y="1831949"/>
            <a:ext cx="4632198" cy="2269777"/>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FA4A2-B106-65AB-3B19-59A1AC84B7A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CF9E29E-1A15-80D1-9D3A-34EA0165324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dirty="0" err="1">
                <a:solidFill>
                  <a:srgbClr val="00B050"/>
                </a:solidFill>
              </a:rPr>
              <a:t>wMMI</a:t>
            </a:r>
            <a:r>
              <a:rPr lang="en-US" dirty="0">
                <a:solidFill>
                  <a:srgbClr val="00B050"/>
                </a:solidFill>
              </a:rPr>
              <a:t> = 6.2 µm</a:t>
            </a:r>
            <a:endParaRPr lang="en-US" sz="2500" dirty="0">
              <a:solidFill>
                <a:srgbClr val="00B050"/>
              </a:solidFill>
              <a:latin typeface="+mj-lt"/>
              <a:cs typeface="Lucida Sans"/>
            </a:endParaRPr>
          </a:p>
        </p:txBody>
      </p:sp>
      <p:pic>
        <p:nvPicPr>
          <p:cNvPr id="83" name="Gráfico 82">
            <a:extLst>
              <a:ext uri="{FF2B5EF4-FFF2-40B4-BE49-F238E27FC236}">
                <a16:creationId xmlns:a16="http://schemas.microsoft.com/office/drawing/2014/main" id="{27533CA7-AB46-E8A2-DE9E-0C6186BB2A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FA5AB7-648D-C061-881F-625CAE6892E0}"/>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1E67F8A6-95D9-CD79-AFFA-5BFCF3302BF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ACD60CE4-B0C1-29D7-CE40-DA4CA185A038}"/>
                  </a:ext>
                </a:extLst>
              </p:cNvPr>
              <p:cNvSpPr txBox="1"/>
              <p:nvPr/>
            </p:nvSpPr>
            <p:spPr>
              <a:xfrm>
                <a:off x="583019" y="1447800"/>
                <a:ext cx="11199971" cy="240380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Repeat all the design process for a 1x4 MMI Coupler.  </a:t>
                </a:r>
              </a:p>
              <a:p>
                <a:pPr algn="just"/>
                <a:endParaRPr lang="en-US" sz="1200" b="1" dirty="0">
                  <a:latin typeface="Arial" panose="020B0604020202020204" pitchFamily="34" charset="0"/>
                  <a:cs typeface="Arial" panose="020B0604020202020204" pitchFamily="34" charset="0"/>
                </a:endParaRPr>
              </a:p>
              <a:p>
                <a:pPr algn="just"/>
                <a:r>
                  <a:rPr lang="en-US" sz="1000" dirty="0">
                    <a:latin typeface="Arial" panose="020B0604020202020204" pitchFamily="34" charset="0"/>
                    <a:cs typeface="Arial" panose="020B0604020202020204" pitchFamily="34" charset="0"/>
                  </a:rPr>
                  <a:t>En </a:t>
                </a:r>
                <a:r>
                  <a:rPr lang="en-US" sz="1000" dirty="0" err="1">
                    <a:latin typeface="Arial" panose="020B0604020202020204" pitchFamily="34" charset="0"/>
                    <a:cs typeface="Arial" panose="020B0604020202020204" pitchFamily="34" charset="0"/>
                  </a:rPr>
                  <a:t>este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ejercicio</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simulado</a:t>
                </a:r>
                <a:r>
                  <a:rPr lang="en-US" sz="1000" dirty="0">
                    <a:latin typeface="Arial" panose="020B0604020202020204" pitchFamily="34" charset="0"/>
                    <a:cs typeface="Arial" panose="020B0604020202020204" pitchFamily="34" charset="0"/>
                  </a:rPr>
                  <a:t> un </a:t>
                </a:r>
                <a:r>
                  <a:rPr lang="en-US" sz="1000" dirty="0" err="1">
                    <a:latin typeface="Arial" panose="020B0604020202020204" pitchFamily="34" charset="0"/>
                    <a:cs typeface="Arial" panose="020B0604020202020204" pitchFamily="34" charset="0"/>
                  </a:rPr>
                  <a:t>acoplador</a:t>
                </a:r>
                <a:r>
                  <a:rPr lang="en-US" sz="1000" dirty="0">
                    <a:latin typeface="Arial" panose="020B0604020202020204" pitchFamily="34" charset="0"/>
                    <a:cs typeface="Arial" panose="020B0604020202020204" pitchFamily="34" charset="0"/>
                  </a:rPr>
                  <a:t> MMI 1x4 </a:t>
                </a:r>
                <a:r>
                  <a:rPr lang="en-US" sz="1000" dirty="0" err="1">
                    <a:latin typeface="Arial" panose="020B0604020202020204" pitchFamily="34" charset="0"/>
                    <a:cs typeface="Arial" panose="020B0604020202020204" pitchFamily="34" charset="0"/>
                  </a:rPr>
                  <a:t>basado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réplica</a:t>
                </a:r>
                <a:r>
                  <a:rPr lang="en-US" sz="1000" dirty="0">
                    <a:latin typeface="Arial" panose="020B0604020202020204" pitchFamily="34" charset="0"/>
                    <a:cs typeface="Arial" panose="020B0604020202020204" pitchFamily="34" charset="0"/>
                  </a:rPr>
                  <a:t> de </a:t>
                </a:r>
                <a:r>
                  <a:rPr lang="en-US" sz="1000" dirty="0" err="1">
                    <a:latin typeface="Arial" panose="020B0604020202020204" pitchFamily="34" charset="0"/>
                    <a:cs typeface="Arial" panose="020B0604020202020204" pitchFamily="34" charset="0"/>
                  </a:rPr>
                  <a:t>imágenes</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donde</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una</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única</a:t>
                </a:r>
                <a:r>
                  <a:rPr lang="en-US" sz="1000" dirty="0">
                    <a:latin typeface="Arial" panose="020B0604020202020204" pitchFamily="34" charset="0"/>
                    <a:cs typeface="Arial" panose="020B0604020202020204" pitchFamily="34" charset="0"/>
                  </a:rPr>
                  <a:t> entrada genera cuatro replicas del campo </a:t>
                </a:r>
                <a:r>
                  <a:rPr lang="en-US" sz="1000" dirty="0" err="1">
                    <a:latin typeface="Arial" panose="020B0604020202020204" pitchFamily="34" charset="0"/>
                    <a:cs typeface="Arial" panose="020B0604020202020204" pitchFamily="34" charset="0"/>
                  </a:rPr>
                  <a:t>en</a:t>
                </a:r>
                <a:r>
                  <a:rPr lang="en-US" sz="1000" dirty="0">
                    <a:latin typeface="Arial" panose="020B0604020202020204" pitchFamily="34" charset="0"/>
                    <a:cs typeface="Arial" panose="020B0604020202020204" pitchFamily="34" charset="0"/>
                  </a:rPr>
                  <a:t> las </a:t>
                </a:r>
                <a:r>
                  <a:rPr lang="en-US" sz="1000" dirty="0" err="1">
                    <a:latin typeface="Arial" panose="020B0604020202020204" pitchFamily="34" charset="0"/>
                    <a:cs typeface="Arial" panose="020B0604020202020204" pitchFamily="34" charset="0"/>
                  </a:rPr>
                  <a:t>salidas</a:t>
                </a:r>
                <a:r>
                  <a:rPr lang="en-US" sz="1000" dirty="0">
                    <a:latin typeface="Arial" panose="020B0604020202020204" pitchFamily="34" charset="0"/>
                    <a:cs typeface="Arial" panose="020B0604020202020204" pitchFamily="34" charset="0"/>
                  </a:rPr>
                  <a:t>. En primer </a:t>
                </a:r>
                <a:r>
                  <a:rPr lang="en-US" sz="1000" dirty="0" err="1">
                    <a:latin typeface="Arial" panose="020B0604020202020204" pitchFamily="34" charset="0"/>
                    <a:cs typeface="Arial" panose="020B0604020202020204" pitchFamily="34" charset="0"/>
                  </a:rPr>
                  <a:t>lugar</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fijado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parámetro</a:t>
                </a:r>
                <a:r>
                  <a:rPr lang="en-US" sz="1000" dirty="0">
                    <a:latin typeface="Arial" panose="020B0604020202020204" pitchFamily="34" charset="0"/>
                    <a:cs typeface="Arial" panose="020B0604020202020204" pitchFamily="34" charset="0"/>
                  </a:rPr>
                  <a:t> </a:t>
                </a:r>
                <a:r>
                  <a:rPr lang="en-US" sz="1000" i="1" dirty="0" err="1">
                    <a:latin typeface="Arial" panose="020B0604020202020204" pitchFamily="34" charset="0"/>
                    <a:cs typeface="Arial" panose="020B0604020202020204" pitchFamily="34" charset="0"/>
                  </a:rPr>
                  <a:t>wg_width_dw</a:t>
                </a:r>
                <a:r>
                  <a:rPr lang="en-US" sz="1000" i="1" dirty="0">
                    <a:latin typeface="Arial" panose="020B0604020202020204" pitchFamily="34" charset="0"/>
                    <a:cs typeface="Arial" panose="020B0604020202020204" pitchFamily="34" charset="0"/>
                  </a:rPr>
                  <a:t> = 0.2</a:t>
                </a:r>
                <a:r>
                  <a:rPr lang="en-US" sz="1000" dirty="0">
                    <a:latin typeface="Arial" panose="020B0604020202020204" pitchFamily="34" charset="0"/>
                    <a:cs typeface="Arial" panose="020B0604020202020204" pitchFamily="34" charset="0"/>
                  </a:rPr>
                  <a:t> y se ha </a:t>
                </a:r>
                <a:r>
                  <a:rPr lang="en-US" sz="1000" dirty="0" err="1">
                    <a:latin typeface="Arial" panose="020B0604020202020204" pitchFamily="34" charset="0"/>
                    <a:cs typeface="Arial" panose="020B0604020202020204" pitchFamily="34" charset="0"/>
                  </a:rPr>
                  <a:t>procedido</a:t>
                </a:r>
                <a:r>
                  <a:rPr lang="en-US" sz="1000" dirty="0">
                    <a:latin typeface="Arial" panose="020B0604020202020204" pitchFamily="34" charset="0"/>
                    <a:cs typeface="Arial" panose="020B0604020202020204" pitchFamily="34" charset="0"/>
                  </a:rPr>
                  <a:t> a </a:t>
                </a:r>
                <a:r>
                  <a:rPr lang="en-US" sz="1000" dirty="0" err="1">
                    <a:latin typeface="Arial" panose="020B0604020202020204" pitchFamily="34" charset="0"/>
                    <a:cs typeface="Arial" panose="020B0604020202020204" pitchFamily="34" charset="0"/>
                  </a:rPr>
                  <a:t>optimizar</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ancho del MMI (</a:t>
                </a:r>
                <a:r>
                  <a:rPr lang="en-US" sz="1000" dirty="0" err="1">
                    <a:latin typeface="Arial" panose="020B0604020202020204" pitchFamily="34" charset="0"/>
                    <a:cs typeface="Arial" panose="020B0604020202020204" pitchFamily="34" charset="0"/>
                  </a:rPr>
                  <a:t>obteniendo</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como</a:t>
                </a:r>
                <a:r>
                  <a:rPr lang="en-US" sz="1000" dirty="0">
                    <a:latin typeface="Arial" panose="020B0604020202020204" pitchFamily="34" charset="0"/>
                    <a:cs typeface="Arial" panose="020B0604020202020204" pitchFamily="34" charset="0"/>
                  </a:rPr>
                  <a:t> valor </a:t>
                </a:r>
                <a:r>
                  <a:rPr lang="en-US" sz="1000" dirty="0" err="1">
                    <a:latin typeface="Arial" panose="020B0604020202020204" pitchFamily="34" charset="0"/>
                    <a:cs typeface="Arial" panose="020B0604020202020204" pitchFamily="34" charset="0"/>
                  </a:rPr>
                  <a:t>óptimo</a:t>
                </a:r>
                <a:r>
                  <a:rPr lang="en-US" sz="1000" dirty="0">
                    <a:latin typeface="Arial" panose="020B0604020202020204" pitchFamily="34" charset="0"/>
                    <a:cs typeface="Arial" panose="020B0604020202020204" pitchFamily="34" charset="0"/>
                  </a:rPr>
                  <a:t> </a:t>
                </a:r>
                <a:r>
                  <a:rPr lang="en-US" sz="1000" i="1" dirty="0" err="1">
                    <a:latin typeface="Arial" panose="020B0604020202020204" pitchFamily="34" charset="0"/>
                    <a:cs typeface="Arial" panose="020B0604020202020204" pitchFamily="34" charset="0"/>
                  </a:rPr>
                  <a:t>wMMI</a:t>
                </a:r>
                <a:r>
                  <a:rPr lang="en-US" sz="1000" i="1" dirty="0">
                    <a:latin typeface="Arial" panose="020B0604020202020204" pitchFamily="34" charset="0"/>
                    <a:cs typeface="Arial" panose="020B0604020202020204" pitchFamily="34" charset="0"/>
                  </a:rPr>
                  <a:t> = 6.2 um</a:t>
                </a:r>
                <a:r>
                  <a:rPr lang="en-US" sz="1000" dirty="0">
                    <a:latin typeface="Arial" panose="020B0604020202020204" pitchFamily="34" charset="0"/>
                    <a:cs typeface="Arial" panose="020B0604020202020204" pitchFamily="34" charset="0"/>
                  </a:rPr>
                  <a:t>) para </a:t>
                </a:r>
                <a:r>
                  <a:rPr lang="en-US" sz="1000" dirty="0" err="1">
                    <a:latin typeface="Arial" panose="020B0604020202020204" pitchFamily="34" charset="0"/>
                    <a:cs typeface="Arial" panose="020B0604020202020204" pitchFamily="34" charset="0"/>
                  </a:rPr>
                  <a:t>reducir</a:t>
                </a:r>
                <a:r>
                  <a:rPr lang="en-US" sz="1000" dirty="0">
                    <a:latin typeface="Arial" panose="020B0604020202020204" pitchFamily="34" charset="0"/>
                    <a:cs typeface="Arial" panose="020B0604020202020204" pitchFamily="34" charset="0"/>
                  </a:rPr>
                  <a:t> las </a:t>
                </a:r>
                <a:r>
                  <a:rPr lang="en-US" sz="1000" dirty="0" err="1">
                    <a:latin typeface="Arial" panose="020B0604020202020204" pitchFamily="34" charset="0"/>
                    <a:cs typeface="Arial" panose="020B0604020202020204" pitchFamily="34" charset="0"/>
                  </a:rPr>
                  <a:t>pérdidas</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dispositivo</a:t>
                </a:r>
                <a:r>
                  <a:rPr lang="en-US" sz="1000" dirty="0">
                    <a:latin typeface="Arial" panose="020B0604020202020204" pitchFamily="34" charset="0"/>
                    <a:cs typeface="Arial" panose="020B0604020202020204" pitchFamily="34" charset="0"/>
                  </a:rPr>
                  <a:t>.</a:t>
                </a: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 continuación, se ha recalculado </a:t>
                </a:r>
                <a14:m>
                  <m:oMath xmlns:m="http://schemas.openxmlformats.org/officeDocument/2006/math">
                    <m:sSub>
                      <m:sSubPr>
                        <m:ctrlPr>
                          <a:rPr lang="ar-AE" sz="1000" i="1">
                            <a:latin typeface="Cambria Math" panose="02040503050406030204" pitchFamily="18" charset="0"/>
                          </a:rPr>
                        </m:ctrlPr>
                      </m:sSubPr>
                      <m:e>
                        <m:r>
                          <m:rPr>
                            <m:sty m:val="p"/>
                          </m:rPr>
                          <a:rPr lang="ar-AE" sz="1000" b="0" i="0" smtClean="0">
                            <a:latin typeface="Cambria Math" panose="02040503050406030204" pitchFamily="18" charset="0"/>
                          </a:rPr>
                          <m:t>L</m:t>
                        </m:r>
                      </m:e>
                      <m:sub>
                        <m:r>
                          <m:rPr>
                            <m:sty m:val="p"/>
                          </m:rPr>
                          <a:rPr lang="ar-AE" sz="1000" b="0" i="0" smtClean="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teniendo en cuenta la configuración con cuatro imágenes, utilizándose la relación correspondiente para estructuras 1×N simétricas. En este caso, la longitud del MMI se ha definido según </a:t>
                </a:r>
                <a14:m>
                  <m:oMath xmlns:m="http://schemas.openxmlformats.org/officeDocument/2006/math">
                    <m:r>
                      <m:rPr>
                        <m:sty m:val="p"/>
                      </m:rPr>
                      <a:rPr lang="es-ES" sz="1000" b="0" i="0" smtClean="0">
                        <a:latin typeface="Cambria Math" panose="02040503050406030204" pitchFamily="18" charset="0"/>
                      </a:rPr>
                      <m:t>L</m:t>
                    </m:r>
                    <m:r>
                      <a:rPr lang="es-ES" sz="1000" b="0" i="0" smtClean="0">
                        <a:latin typeface="Cambria Math" panose="02040503050406030204" pitchFamily="18" charset="0"/>
                      </a:rPr>
                      <m:t>=</m:t>
                    </m:r>
                    <m:f>
                      <m:fPr>
                        <m:ctrlPr>
                          <a:rPr lang="ar-AE" sz="1000" i="1">
                            <a:latin typeface="Cambria Math" panose="02040503050406030204" pitchFamily="18" charset="0"/>
                          </a:rPr>
                        </m:ctrlPr>
                      </m:fPr>
                      <m:num>
                        <m:r>
                          <a:rPr lang="ar-AE" sz="1000" b="0" i="0" smtClean="0">
                            <a:latin typeface="Cambria Math" panose="02040503050406030204" pitchFamily="18" charset="0"/>
                          </a:rPr>
                          <m:t>3</m:t>
                        </m:r>
                      </m:num>
                      <m:den>
                        <m:r>
                          <a:rPr lang="ar-AE" sz="1000" b="0" i="0" smtClean="0">
                            <a:latin typeface="Cambria Math" panose="02040503050406030204" pitchFamily="18" charset="0"/>
                          </a:rPr>
                          <m:t>16</m:t>
                        </m:r>
                      </m:den>
                    </m:f>
                    <m:sSub>
                      <m:sSubPr>
                        <m:ctrlPr>
                          <a:rPr lang="ar-AE" sz="1000" i="1">
                            <a:latin typeface="Cambria Math" panose="02040503050406030204" pitchFamily="18" charset="0"/>
                          </a:rPr>
                        </m:ctrlPr>
                      </m:sSubPr>
                      <m:e>
                        <m:r>
                          <a:rPr lang="es-ES" sz="1000" b="0" i="0" smtClean="0">
                            <a:latin typeface="Cambria Math" panose="02040503050406030204" pitchFamily="18" charset="0"/>
                          </a:rPr>
                          <m:t>∗</m:t>
                        </m:r>
                        <m:r>
                          <m:rPr>
                            <m:sty m:val="p"/>
                          </m:rPr>
                          <a:rPr lang="ar-AE" sz="1000" b="0" i="0" smtClean="0">
                            <a:latin typeface="Cambria Math" panose="02040503050406030204" pitchFamily="18" charset="0"/>
                          </a:rPr>
                          <m:t>L</m:t>
                        </m:r>
                      </m:e>
                      <m:sub>
                        <m:r>
                          <m:rPr>
                            <m:sty m:val="p"/>
                          </m:rPr>
                          <a:rPr lang="ar-AE" sz="1000" b="0" i="0" smtClean="0">
                            <a:latin typeface="Cambria Math" panose="02040503050406030204" pitchFamily="18" charset="0"/>
                          </a:rPr>
                          <m:t>π</m:t>
                        </m:r>
                      </m:sub>
                    </m:sSub>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 obteniendo la formación de las autoimágenes en las posiciones deseadas.</a:t>
                </a:r>
                <a:endParaRPr lang="en-US"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n-US" sz="1000" dirty="0" err="1">
                    <a:latin typeface="Arial" panose="020B0604020202020204" pitchFamily="34" charset="0"/>
                    <a:cs typeface="Arial" panose="020B0604020202020204" pitchFamily="34" charset="0"/>
                  </a:rPr>
                  <a:t>Posteriormente</a:t>
                </a:r>
                <a:r>
                  <a:rPr lang="en-US" sz="1000" dirty="0">
                    <a:latin typeface="Arial" panose="020B0604020202020204" pitchFamily="34" charset="0"/>
                    <a:cs typeface="Arial" panose="020B0604020202020204" pitchFamily="34" charset="0"/>
                  </a:rPr>
                  <a:t>, se ha </a:t>
                </a:r>
                <a:r>
                  <a:rPr lang="en-US" sz="1000" dirty="0" err="1">
                    <a:latin typeface="Arial" panose="020B0604020202020204" pitchFamily="34" charset="0"/>
                    <a:cs typeface="Arial" panose="020B0604020202020204" pitchFamily="34" charset="0"/>
                  </a:rPr>
                  <a:t>ajustado</a:t>
                </a:r>
                <a:r>
                  <a:rPr lang="en-US" sz="1000" dirty="0">
                    <a:latin typeface="Arial" panose="020B0604020202020204" pitchFamily="34" charset="0"/>
                    <a:cs typeface="Arial" panose="020B0604020202020204" pitchFamily="34" charset="0"/>
                  </a:rPr>
                  <a:t> la </a:t>
                </a:r>
                <a:r>
                  <a:rPr lang="en-US" sz="1000" dirty="0" err="1">
                    <a:latin typeface="Arial" panose="020B0604020202020204" pitchFamily="34" charset="0"/>
                    <a:cs typeface="Arial" panose="020B0604020202020204" pitchFamily="34" charset="0"/>
                  </a:rPr>
                  <a:t>longitud</a:t>
                </a:r>
                <a:r>
                  <a:rPr lang="en-US" sz="1000" dirty="0">
                    <a:latin typeface="Arial" panose="020B0604020202020204" pitchFamily="34" charset="0"/>
                    <a:cs typeface="Arial" panose="020B0604020202020204" pitchFamily="34" charset="0"/>
                  </a:rPr>
                  <a:t> del </a:t>
                </a:r>
                <a:r>
                  <a:rPr lang="en-US" sz="1000" dirty="0" err="1">
                    <a:latin typeface="Arial" panose="020B0604020202020204" pitchFamily="34" charset="0"/>
                    <a:cs typeface="Arial" panose="020B0604020202020204" pitchFamily="34" charset="0"/>
                  </a:rPr>
                  <a:t>dispositivo</a:t>
                </a:r>
                <a:r>
                  <a:rPr lang="en-US" sz="1000" dirty="0">
                    <a:latin typeface="Arial" panose="020B0604020202020204" pitchFamily="34" charset="0"/>
                    <a:cs typeface="Arial" panose="020B0604020202020204" pitchFamily="34" charset="0"/>
                  </a:rPr>
                  <a:t> con </a:t>
                </a:r>
                <a:r>
                  <a:rPr lang="en-US" sz="1000" dirty="0" err="1">
                    <a:latin typeface="Arial" panose="020B0604020202020204" pitchFamily="34" charset="0"/>
                    <a:cs typeface="Arial" panose="020B0604020202020204" pitchFamily="34" charset="0"/>
                  </a:rPr>
                  <a:t>el</a:t>
                </a:r>
                <a:r>
                  <a:rPr lang="en-US" sz="1000" dirty="0">
                    <a:latin typeface="Arial" panose="020B0604020202020204" pitchFamily="34" charset="0"/>
                    <a:cs typeface="Arial" panose="020B0604020202020204" pitchFamily="34" charset="0"/>
                  </a:rPr>
                  <a:t> </a:t>
                </a:r>
                <a:r>
                  <a:rPr lang="en-US" sz="1000" dirty="0" err="1">
                    <a:latin typeface="Arial" panose="020B0604020202020204" pitchFamily="34" charset="0"/>
                    <a:cs typeface="Arial" panose="020B0604020202020204" pitchFamily="34" charset="0"/>
                  </a:rPr>
                  <a:t>parámetro</a:t>
                </a:r>
                <a:r>
                  <a:rPr lang="en-US" sz="1000" dirty="0">
                    <a:latin typeface="Arial" panose="020B0604020202020204" pitchFamily="34" charset="0"/>
                    <a:cs typeface="Arial" panose="020B0604020202020204" pitchFamily="34" charset="0"/>
                  </a:rPr>
                  <a:t> </a:t>
                </a:r>
                <a:r>
                  <a:rPr lang="en-US" sz="1000" i="1" dirty="0" err="1">
                    <a:latin typeface="Arial" panose="020B0604020202020204" pitchFamily="34" charset="0"/>
                    <a:cs typeface="Arial" panose="020B0604020202020204" pitchFamily="34" charset="0"/>
                  </a:rPr>
                  <a:t>dL_MMI</a:t>
                </a:r>
                <a:r>
                  <a:rPr lang="en-US"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obteniendo un valor óptimo de </a:t>
                </a:r>
                <a:r>
                  <a:rPr lang="es-ES" sz="1000" i="1" dirty="0" err="1">
                    <a:latin typeface="Arial" panose="020B0604020202020204" pitchFamily="34" charset="0"/>
                    <a:cs typeface="Arial" panose="020B0604020202020204" pitchFamily="34" charset="0"/>
                  </a:rPr>
                  <a:t>dL_MMI</a:t>
                </a:r>
                <a:r>
                  <a:rPr lang="es-ES" sz="1000" i="1" dirty="0">
                    <a:latin typeface="Arial" panose="020B0604020202020204" pitchFamily="34" charset="0"/>
                    <a:cs typeface="Arial" panose="020B0604020202020204" pitchFamily="34" charset="0"/>
                  </a:rPr>
                  <a:t> = 0.8</a:t>
                </a:r>
                <a:r>
                  <a:rPr lang="es-ES" sz="1000" dirty="0">
                    <a:latin typeface="Arial" panose="020B0604020202020204" pitchFamily="34" charset="0"/>
                    <a:cs typeface="Arial" panose="020B0604020202020204" pitchFamily="34" charset="0"/>
                  </a:rPr>
                  <a:t>, el cual actúa como una corrección sobre la longitud teórica, afinando la posición de las autoimágenes dentro del MMI. </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Como resultado, se ha obtenido una distribución de potencia prácticamente uniforme en las cuatro salidas (aproximadamente 0.25 en cada una), cumpliendo así el objetivo de diseño. Además, las pérdidas obtenidas son de aproximadamente 0.07 dB, lo que indica un funcionamiento eficiente del dispositivo, al ser inferiores a 0.1 dB.</a:t>
                </a:r>
                <a:endParaRPr lang="en-US" sz="10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ACD60CE4-B0C1-29D7-CE40-DA4CA185A038}"/>
                  </a:ext>
                </a:extLst>
              </p:cNvPr>
              <p:cNvSpPr txBox="1">
                <a:spLocks noRot="1" noChangeAspect="1" noMove="1" noResize="1" noEditPoints="1" noAdjustHandles="1" noChangeArrowheads="1" noChangeShapeType="1" noTextEdit="1"/>
              </p:cNvSpPr>
              <p:nvPr/>
            </p:nvSpPr>
            <p:spPr>
              <a:xfrm>
                <a:off x="583019" y="1447800"/>
                <a:ext cx="11199971" cy="2403800"/>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2733029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D444DF02-553D-6164-452D-E3D39F2922C5}"/>
              </a:ext>
            </a:extLst>
          </p:cNvPr>
          <p:cNvPicPr>
            <a:picLocks noChangeAspect="1"/>
          </p:cNvPicPr>
          <p:nvPr/>
        </p:nvPicPr>
        <p:blipFill>
          <a:blip r:embed="rId7"/>
          <a:stretch>
            <a:fillRect/>
          </a:stretch>
        </p:blipFill>
        <p:spPr>
          <a:xfrm>
            <a:off x="1337901" y="1567298"/>
            <a:ext cx="4029637" cy="3096057"/>
          </a:xfrm>
          <a:prstGeom prst="rect">
            <a:avLst/>
          </a:prstGeom>
        </p:spPr>
      </p:pic>
      <p:pic>
        <p:nvPicPr>
          <p:cNvPr id="11" name="Imagen 10">
            <a:extLst>
              <a:ext uri="{FF2B5EF4-FFF2-40B4-BE49-F238E27FC236}">
                <a16:creationId xmlns:a16="http://schemas.microsoft.com/office/drawing/2014/main" id="{81C24103-1DBE-E3FF-B7F0-4FE51C9D4C6D}"/>
              </a:ext>
            </a:extLst>
          </p:cNvPr>
          <p:cNvPicPr>
            <a:picLocks noChangeAspect="1"/>
          </p:cNvPicPr>
          <p:nvPr/>
        </p:nvPicPr>
        <p:blipFill>
          <a:blip r:embed="rId8"/>
          <a:stretch>
            <a:fillRect/>
          </a:stretch>
        </p:blipFill>
        <p:spPr>
          <a:xfrm>
            <a:off x="6983200" y="1622732"/>
            <a:ext cx="4163006" cy="3096057"/>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2D1A9-CD98-8B8E-6121-7F6EC000F95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7745D7B-7629-1578-718C-26F2AD549FEB}"/>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E206F50A-2EBF-E614-FA80-DC9DD4809F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B52DFDD-C90B-8310-C025-E0ECE8C0B9E2}"/>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6DC26FAC-847F-CF6D-E736-C19DBE61E21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79C670B6-5DD9-B08F-DDF1-A71B39764366}"/>
                  </a:ext>
                </a:extLst>
              </p:cNvPr>
              <p:cNvSpPr txBox="1"/>
              <p:nvPr/>
            </p:nvSpPr>
            <p:spPr>
              <a:xfrm>
                <a:off x="496014" y="1447800"/>
                <a:ext cx="11199971" cy="264687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Make conclusions and observations from your results</a:t>
                </a:r>
              </a:p>
              <a:p>
                <a:pPr algn="just"/>
                <a:endParaRPr lang="en-US" sz="1200" b="1" i="1"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ejercicio, se ha diseñado un acoplador direccional y se ha realizado un barrido de su gap, es decir, la distancia entre sus dos guías. Posteriormente, se ha simulado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r>
                          <a:rPr lang="es-ES" sz="1000" b="0" i="0" smtClean="0">
                            <a:latin typeface="Cambria Math" panose="02040503050406030204" pitchFamily="18" charset="0"/>
                          </a:rPr>
                          <m:t> </m:t>
                        </m:r>
                      </m:sub>
                    </m:sSub>
                  </m:oMath>
                </a14:m>
                <a:r>
                  <a:rPr lang="es-ES" sz="1000" dirty="0">
                    <a:latin typeface="Arial" panose="020B0604020202020204" pitchFamily="34" charset="0"/>
                    <a:cs typeface="Arial" panose="020B0604020202020204" pitchFamily="34" charset="0"/>
                  </a:rPr>
                  <a:t>en función de dicho gap.</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Se observa que al aumentar el gap,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aumenta significativamente porque al separar más las guías, el solapamiento de los campos evanescentes disminuye, al igual que la diferencia entre los índices efectivos, reduciendo el acoplo entre ellas.</a:t>
                </a:r>
              </a:p>
              <a:p>
                <a:pPr algn="just"/>
                <a:r>
                  <a:rPr lang="es-ES" sz="1000" dirty="0">
                    <a:latin typeface="Arial" panose="020B0604020202020204" pitchFamily="34" charset="0"/>
                    <a:cs typeface="Arial" panose="020B0604020202020204" pitchFamily="34" charset="0"/>
                  </a:rPr>
                  <a:t>Como consecuencia, la transferencia de potencia entre las guías es más lenta, por lo que se necesita una mayor longitud de propagación para completar el acoplo. Por tanto, al aumentar el gap, el acoplo disminuye y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aumenta.</a:t>
                </a:r>
                <a:endParaRPr lang="ar-AE" sz="1000" dirty="0">
                  <a:latin typeface="Arial" panose="020B0604020202020204" pitchFamily="34" charset="0"/>
                  <a:cs typeface="Arial" panose="020B0604020202020204" pitchFamily="34" charset="0"/>
                </a:endParaRPr>
              </a:p>
              <a:p>
                <a:pPr algn="just"/>
                <a:endParaRPr lang="en-U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Además, tal y como se ve en las gráficas este aumento no es lineal, sino que presenta un crecimiento aproximadamente exponencial, debido a la naturaleza exponencial de la disminución de los campos evanescentes.</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último, comparando los casos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y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se observa que el acoplo es mayor en el caso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presenta menor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r>
                      <a:rPr lang="es-ES" sz="1000" b="0" i="0" smtClean="0">
                        <a:latin typeface="Cambria Math" panose="02040503050406030204" pitchFamily="18" charset="0"/>
                      </a:rPr>
                      <m:t>, </m:t>
                    </m:r>
                  </m:oMath>
                </a14:m>
                <a:r>
                  <a:rPr lang="es-ES" sz="1000" dirty="0">
                    <a:latin typeface="Arial" panose="020B0604020202020204" pitchFamily="34" charset="0"/>
                    <a:cs typeface="Arial" panose="020B0604020202020204" pitchFamily="34" charset="0"/>
                  </a:rPr>
                  <a:t>ya que el campo se extiende más fuera del núcleo por la menor confinación, aumentando el solapamiento entre las guías. En cambio, en el caso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el confinamiento es mayor y el acoplo es más débil, dando lugar a valores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más altos.</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79C670B6-5DD9-B08F-DDF1-A71B39764366}"/>
                  </a:ext>
                </a:extLst>
              </p:cNvPr>
              <p:cNvSpPr txBox="1">
                <a:spLocks noRot="1" noChangeAspect="1" noMove="1" noResize="1" noEditPoints="1" noAdjustHandles="1" noChangeArrowheads="1" noChangeShapeType="1" noTextEdit="1"/>
              </p:cNvSpPr>
              <p:nvPr/>
            </p:nvSpPr>
            <p:spPr>
              <a:xfrm>
                <a:off x="496014" y="1447800"/>
                <a:ext cx="11199971" cy="2646878"/>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2452912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4" name="Imagen 3">
            <a:extLst>
              <a:ext uri="{FF2B5EF4-FFF2-40B4-BE49-F238E27FC236}">
                <a16:creationId xmlns:a16="http://schemas.microsoft.com/office/drawing/2014/main" id="{6E7410B8-4593-BFE3-2A43-912107C6065B}"/>
              </a:ext>
            </a:extLst>
          </p:cNvPr>
          <p:cNvPicPr>
            <a:picLocks noChangeAspect="1"/>
          </p:cNvPicPr>
          <p:nvPr/>
        </p:nvPicPr>
        <p:blipFill>
          <a:blip r:embed="rId7"/>
          <a:stretch>
            <a:fillRect/>
          </a:stretch>
        </p:blipFill>
        <p:spPr>
          <a:xfrm>
            <a:off x="942558" y="1709970"/>
            <a:ext cx="4820323" cy="2781688"/>
          </a:xfrm>
          <a:prstGeom prst="rect">
            <a:avLst/>
          </a:prstGeom>
        </p:spPr>
      </p:pic>
      <p:pic>
        <p:nvPicPr>
          <p:cNvPr id="11" name="Imagen 10">
            <a:extLst>
              <a:ext uri="{FF2B5EF4-FFF2-40B4-BE49-F238E27FC236}">
                <a16:creationId xmlns:a16="http://schemas.microsoft.com/office/drawing/2014/main" id="{20D3D7C2-1665-E3AB-C42A-EBA4C9944CB1}"/>
              </a:ext>
            </a:extLst>
          </p:cNvPr>
          <p:cNvPicPr>
            <a:picLocks noChangeAspect="1"/>
          </p:cNvPicPr>
          <p:nvPr/>
        </p:nvPicPr>
        <p:blipFill>
          <a:blip r:embed="rId8"/>
          <a:stretch>
            <a:fillRect/>
          </a:stretch>
        </p:blipFill>
        <p:spPr>
          <a:xfrm>
            <a:off x="6672963" y="1784680"/>
            <a:ext cx="4791744" cy="2772162"/>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521D-8936-E7A3-655B-652E55EBA3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06D48DC-8D36-C44C-67D5-BFEF6524C62E}"/>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E295E5C-0B9E-4B28-7F9C-9CE69CE625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1A4E98-EBBD-C1CF-7FDF-3AA0AC7B09F8}"/>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95B93DC7-CE29-91CD-1114-DE7A04C91D1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7F423D6-BF49-F16B-9504-5EEC1CA0F576}"/>
                  </a:ext>
                </a:extLst>
              </p:cNvPr>
              <p:cNvSpPr txBox="1"/>
              <p:nvPr/>
            </p:nvSpPr>
            <p:spPr>
              <a:xfrm>
                <a:off x="583019" y="1524000"/>
                <a:ext cx="11199971" cy="2800767"/>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caso, se ha vuelto a diseñar un acoplador direccional, con la diferencia de que ahora se ha llevado a cabo un barrido con la longitud de onda. Después se ha realizado una simulación de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en función de dichas longitudes de onda.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Se observa que, al aumentar la longitud de onda,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disminuye porque el campo óptico se extiende más fuera del núcleo, incrementando el solapamiento de los campos evanescentes entre las guías. Como consecuencia, el acoplo entre ellas se vuelve más fuerte.</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Además, la diferencia entre los índices efectivos de los modos acoplados aumenta, lo que implica, según la expresión de </a:t>
                </a:r>
                <a14:m>
                  <m:oMath xmlns:m="http://schemas.openxmlformats.org/officeDocument/2006/math">
                    <m:sSub>
                      <m:sSubPr>
                        <m:ctrlPr>
                          <a:rPr lang="ar-AE" sz="1000" i="1" smtClean="0">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que se necesita una menor longitud de propagación para transferir completamente la potencia de una guía a la otra.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tanto, la transferencia de potencia es más rápida y la longitud de acoplo disminuye al aumentar la longitud de onda.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último, comparando los casos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y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se observa que el acoplo es mayor en el caso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ya que presenta menor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debido a que el campo se extiende más fuera del núcleo por la menor confinación, aumentando el solapamiento entre las guías. En el caso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el confinamiento es mayor, el acoplo es más débil y los valores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son más altos. Además, el caso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presenta una respuesta más suave frente a variaciones de longitud de onda, lo que lo hace más robusto que la Deep frente a cambios en dicho parámetro.</a:t>
                </a:r>
                <a:endParaRPr lang="en-US" sz="10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47F423D6-BF49-F16B-9504-5EEC1CA0F576}"/>
                  </a:ext>
                </a:extLst>
              </p:cNvPr>
              <p:cNvSpPr txBox="1">
                <a:spLocks noRot="1" noChangeAspect="1" noMove="1" noResize="1" noEditPoints="1" noAdjustHandles="1" noChangeArrowheads="1" noChangeShapeType="1" noTextEdit="1"/>
              </p:cNvSpPr>
              <p:nvPr/>
            </p:nvSpPr>
            <p:spPr>
              <a:xfrm>
                <a:off x="583019" y="1524000"/>
                <a:ext cx="11199971" cy="2800767"/>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5043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6" name="Imagen 5">
            <a:extLst>
              <a:ext uri="{FF2B5EF4-FFF2-40B4-BE49-F238E27FC236}">
                <a16:creationId xmlns:a16="http://schemas.microsoft.com/office/drawing/2014/main" id="{77375747-A98F-E23D-7DBE-C10FD59B1B53}"/>
              </a:ext>
            </a:extLst>
          </p:cNvPr>
          <p:cNvPicPr>
            <a:picLocks noChangeAspect="1"/>
          </p:cNvPicPr>
          <p:nvPr/>
        </p:nvPicPr>
        <p:blipFill>
          <a:blip r:embed="rId7"/>
          <a:stretch>
            <a:fillRect/>
          </a:stretch>
        </p:blipFill>
        <p:spPr>
          <a:xfrm>
            <a:off x="947322" y="1705206"/>
            <a:ext cx="4810796" cy="2791215"/>
          </a:xfrm>
          <a:prstGeom prst="rect">
            <a:avLst/>
          </a:prstGeom>
        </p:spPr>
      </p:pic>
      <p:pic>
        <p:nvPicPr>
          <p:cNvPr id="11" name="Imagen 10">
            <a:extLst>
              <a:ext uri="{FF2B5EF4-FFF2-40B4-BE49-F238E27FC236}">
                <a16:creationId xmlns:a16="http://schemas.microsoft.com/office/drawing/2014/main" id="{9CF134C2-795B-140D-5765-0AED63C5A301}"/>
              </a:ext>
            </a:extLst>
          </p:cNvPr>
          <p:cNvPicPr>
            <a:picLocks noChangeAspect="1"/>
          </p:cNvPicPr>
          <p:nvPr/>
        </p:nvPicPr>
        <p:blipFill>
          <a:blip r:embed="rId8"/>
          <a:stretch>
            <a:fillRect/>
          </a:stretch>
        </p:blipFill>
        <p:spPr>
          <a:xfrm>
            <a:off x="6769862" y="1779917"/>
            <a:ext cx="4782217" cy="2781688"/>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9D7B-5298-CA1F-39AC-FA5C5CB2629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A317342-DDC2-8330-FF61-961B3B54FA83}"/>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C2CE5BF-292D-5F87-CBF6-C4E1DF0F92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3A463DB-6857-1D5A-184E-D821DDAD435F}"/>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620551E9-49A3-B7D5-09A1-3033375961A0}"/>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EF19EADB-54F2-D747-B597-94834008F2F7}"/>
                  </a:ext>
                </a:extLst>
              </p:cNvPr>
              <p:cNvSpPr txBox="1"/>
              <p:nvPr/>
            </p:nvSpPr>
            <p:spPr>
              <a:xfrm>
                <a:off x="496014" y="1447800"/>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ejercicio, se ha diseñado un acoplador MMI y se ha realizado un barrido de la longitud de onda y posteriormente, se ha simulado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en función de dicha longitud de onda.</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Se observa que, al aumentar la longitud de onda,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disminuye. Esto es similar a lo que ocurría en el acoplador direccional y se debe a que, al aumentar la longitud de onda, el campo se extiende más fuera del núcleo, aumentando la interacción entre los modos dentro de la región multimodo. Como consecuencia, el acoplo entre modos es mayor.</a:t>
                </a:r>
              </a:p>
              <a:p>
                <a:pPr algn="just"/>
                <a:r>
                  <a:rPr lang="es-ES" sz="1000" dirty="0">
                    <a:latin typeface="Arial" panose="020B0604020202020204" pitchFamily="34" charset="0"/>
                    <a:cs typeface="Arial" panose="020B0604020202020204" pitchFamily="34" charset="0"/>
                  </a:rPr>
                  <a:t>Además, la diferencia entre los índices efectivos de los modos aumenta, por lo que según la expresión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ar-AE" sz="1000" dirty="0">
                    <a:latin typeface="Arial" panose="020B0604020202020204" pitchFamily="34" charset="0"/>
                    <a:cs typeface="Arial" panose="020B0604020202020204" pitchFamily="34" charset="0"/>
                  </a:rPr>
                  <a:t>, </a:t>
                </a:r>
                <a:r>
                  <a:rPr lang="es-ES" sz="1000" dirty="0">
                    <a:latin typeface="Arial" panose="020B0604020202020204" pitchFamily="34" charset="0"/>
                    <a:cs typeface="Arial" panose="020B0604020202020204" pitchFamily="34" charset="0"/>
                  </a:rPr>
                  <a:t> se necesita menos longitud para que la señal pase de una guía a otra. Por tanto, el acoplo se produce más rápido y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r>
                          <a:rPr lang="es-ES" sz="1000" b="0" i="0" smtClean="0">
                            <a:latin typeface="Cambria Math" panose="02040503050406030204" pitchFamily="18" charset="0"/>
                          </a:rPr>
                          <m:t> </m:t>
                        </m:r>
                      </m:sub>
                    </m:sSub>
                  </m:oMath>
                </a14:m>
                <a:r>
                  <a:rPr lang="es-ES" sz="1000" dirty="0">
                    <a:latin typeface="Arial" panose="020B0604020202020204" pitchFamily="34" charset="0"/>
                    <a:cs typeface="Arial" panose="020B0604020202020204" pitchFamily="34" charset="0"/>
                  </a:rPr>
                  <a:t>disminuye.</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A diferencia del acoplador direccional, en el MMI intervienen varios modos, por lo que la respuesta es algo más irregular y aparecen pequeñas variaciones en la gráfica.</a:t>
                </a:r>
              </a:p>
              <a:p>
                <a:pPr algn="just"/>
                <a:r>
                  <a:rPr lang="es-ES" sz="1000" dirty="0">
                    <a:latin typeface="Arial" panose="020B0604020202020204" pitchFamily="34" charset="0"/>
                    <a:cs typeface="Arial" panose="020B0604020202020204" pitchFamily="34" charset="0"/>
                  </a:rPr>
                  <a:t>En resumen, comparando los casos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y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se observa que el acoplo es mayor en el caso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ya que tiene valores ligeramente más bajos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debido a que el campo está menos confinado y se extiende más, aumentando la interacción entre modos. Además, esta varía de forma más suave con la longitud de onda, por lo que es más estable frente a cambios en este parámetro.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último, en el caso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el campo está más confinado, el acoplo es menor y los valores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son más altos. </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Como análisis final, podemos decir que tras haber simulado tanto las guías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como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para los dos tipos de acopladores, el mejor es el acoplador MMI </a:t>
                </a:r>
                <a:r>
                  <a:rPr lang="es-ES" sz="1000" dirty="0" err="1">
                    <a:latin typeface="Arial" panose="020B0604020202020204" pitchFamily="34" charset="0"/>
                    <a:cs typeface="Arial" panose="020B0604020202020204" pitchFamily="34" charset="0"/>
                  </a:rPr>
                  <a:t>shallow</a:t>
                </a:r>
                <a:r>
                  <a:rPr lang="es-ES" sz="1000" dirty="0">
                    <a:latin typeface="Arial" panose="020B0604020202020204" pitchFamily="34" charset="0"/>
                    <a:cs typeface="Arial" panose="020B0604020202020204" pitchFamily="34" charset="0"/>
                  </a:rPr>
                  <a:t>, ya que es el que presenta la menor variación de </a:t>
                </a:r>
                <a14:m>
                  <m:oMath xmlns:m="http://schemas.openxmlformats.org/officeDocument/2006/math">
                    <m:sSub>
                      <m:sSubPr>
                        <m:ctrlPr>
                          <a:rPr lang="ar-AE" sz="1000" i="1">
                            <a:latin typeface="Cambria Math" panose="02040503050406030204" pitchFamily="18" charset="0"/>
                          </a:rPr>
                        </m:ctrlPr>
                      </m:sSubPr>
                      <m:e>
                        <m:r>
                          <m:rPr>
                            <m:sty m:val="p"/>
                          </m:rPr>
                          <a:rPr lang="ar-AE" sz="1000">
                            <a:latin typeface="Cambria Math" panose="02040503050406030204" pitchFamily="18" charset="0"/>
                          </a:rPr>
                          <m:t>L</m:t>
                        </m:r>
                      </m:e>
                      <m:sub>
                        <m:r>
                          <m:rPr>
                            <m:sty m:val="p"/>
                          </m:rPr>
                          <a:rPr lang="ar-AE" sz="100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en función de la longitud de onda, a pesar de que dicha mejora no sea muy notable, con respecto al resto de acopladores.  El único peor es el acoplador direccional </a:t>
                </a:r>
                <a:r>
                  <a:rPr lang="es-ES" sz="1000" dirty="0" err="1">
                    <a:latin typeface="Arial" panose="020B0604020202020204" pitchFamily="34" charset="0"/>
                    <a:cs typeface="Arial" panose="020B0604020202020204" pitchFamily="34" charset="0"/>
                  </a:rPr>
                  <a:t>deep</a:t>
                </a:r>
                <a:r>
                  <a:rPr lang="es-ES" sz="1000" dirty="0">
                    <a:latin typeface="Arial" panose="020B0604020202020204" pitchFamily="34" charset="0"/>
                    <a:cs typeface="Arial" panose="020B0604020202020204" pitchFamily="34" charset="0"/>
                  </a:rPr>
                  <a:t>, ya que presenta el cuádruple de variación de </a:t>
                </a:r>
                <a14:m>
                  <m:oMath xmlns:m="http://schemas.openxmlformats.org/officeDocument/2006/math">
                    <m:sSub>
                      <m:sSubPr>
                        <m:ctrlPr>
                          <a:rPr lang="ar-AE" sz="1000" i="1">
                            <a:latin typeface="Cambria Math" panose="02040503050406030204" pitchFamily="18" charset="0"/>
                          </a:rPr>
                        </m:ctrlPr>
                      </m:sSubPr>
                      <m:e>
                        <m:r>
                          <m:rPr>
                            <m:sty m:val="p"/>
                          </m:rPr>
                          <a:rPr lang="ar-AE" sz="1000">
                            <a:latin typeface="Cambria Math" panose="02040503050406030204" pitchFamily="18" charset="0"/>
                          </a:rPr>
                          <m:t>L</m:t>
                        </m:r>
                      </m:e>
                      <m:sub>
                        <m:r>
                          <m:rPr>
                            <m:sty m:val="p"/>
                          </m:rPr>
                          <a:rPr lang="ar-AE" sz="100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que el resto.</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EF19EADB-54F2-D747-B597-94834008F2F7}"/>
                  </a:ext>
                </a:extLst>
              </p:cNvPr>
              <p:cNvSpPr txBox="1">
                <a:spLocks noRot="1" noChangeAspect="1" noMove="1" noResize="1" noEditPoints="1" noAdjustHandles="1" noChangeArrowheads="1" noChangeShapeType="1" noTextEdit="1"/>
              </p:cNvSpPr>
              <p:nvPr/>
            </p:nvSpPr>
            <p:spPr>
              <a:xfrm>
                <a:off x="496014" y="1447800"/>
                <a:ext cx="11199971" cy="3416320"/>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2303490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30</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6" name="Imagen 5">
            <a:extLst>
              <a:ext uri="{FF2B5EF4-FFF2-40B4-BE49-F238E27FC236}">
                <a16:creationId xmlns:a16="http://schemas.microsoft.com/office/drawing/2014/main" id="{07533929-779D-C958-DF3B-B11C1BDBAF0C}"/>
              </a:ext>
            </a:extLst>
          </p:cNvPr>
          <p:cNvPicPr>
            <a:picLocks noChangeAspect="1"/>
          </p:cNvPicPr>
          <p:nvPr/>
        </p:nvPicPr>
        <p:blipFill>
          <a:blip r:embed="rId7"/>
          <a:stretch>
            <a:fillRect/>
          </a:stretch>
        </p:blipFill>
        <p:spPr>
          <a:xfrm>
            <a:off x="808213" y="1666864"/>
            <a:ext cx="4919260" cy="2907462"/>
          </a:xfrm>
          <a:prstGeom prst="rect">
            <a:avLst/>
          </a:prstGeom>
        </p:spPr>
      </p:pic>
      <p:pic>
        <p:nvPicPr>
          <p:cNvPr id="11" name="Imagen 10">
            <a:extLst>
              <a:ext uri="{FF2B5EF4-FFF2-40B4-BE49-F238E27FC236}">
                <a16:creationId xmlns:a16="http://schemas.microsoft.com/office/drawing/2014/main" id="{983C3DFB-A789-2A10-C43F-6BBBCBAAD239}"/>
              </a:ext>
            </a:extLst>
          </p:cNvPr>
          <p:cNvPicPr>
            <a:picLocks noChangeAspect="1"/>
          </p:cNvPicPr>
          <p:nvPr/>
        </p:nvPicPr>
        <p:blipFill>
          <a:blip r:embed="rId8"/>
          <a:stretch>
            <a:fillRect/>
          </a:stretch>
        </p:blipFill>
        <p:spPr>
          <a:xfrm>
            <a:off x="6730519" y="1666863"/>
            <a:ext cx="4852328" cy="2867902"/>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6706-1D7A-2E22-80A9-EC578358A97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34685FC-B3CD-C675-7151-DA7AA93B309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86C3E4B-3346-C85F-08F6-5901D18FE3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DC7DE75-49A0-7526-39B8-7B13ABC3772B}"/>
              </a:ext>
            </a:extLst>
          </p:cNvPr>
          <p:cNvSpPr>
            <a:spLocks noGrp="1"/>
          </p:cNvSpPr>
          <p:nvPr>
            <p:ph type="sldNum" sz="quarter" idx="7"/>
          </p:nvPr>
        </p:nvSpPr>
        <p:spPr/>
        <p:txBody>
          <a:bodyPr/>
          <a:lstStyle/>
          <a:p>
            <a:fld id="{B6F15528-21DE-4FAA-801E-634DDDAF4B2B}" type="slidenum">
              <a:rPr lang="es-ES" smtClean="0"/>
              <a:t>31</a:t>
            </a:fld>
            <a:endParaRPr lang="es-ES"/>
          </a:p>
        </p:txBody>
      </p:sp>
      <p:sp>
        <p:nvSpPr>
          <p:cNvPr id="3" name="Marcador de pie de página 2">
            <a:extLst>
              <a:ext uri="{FF2B5EF4-FFF2-40B4-BE49-F238E27FC236}">
                <a16:creationId xmlns:a16="http://schemas.microsoft.com/office/drawing/2014/main" id="{5CF184EC-608D-C71D-D377-804A9FE5E66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BF610AD5-2FAD-F5B2-CAFF-F97AE942BAF4}"/>
                  </a:ext>
                </a:extLst>
              </p:cNvPr>
              <p:cNvSpPr txBox="1"/>
              <p:nvPr/>
            </p:nvSpPr>
            <p:spPr>
              <a:xfrm>
                <a:off x="502010" y="1447800"/>
                <a:ext cx="11199971" cy="2185214"/>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i="1"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En este ejercicio, se ha diseñado un acoplador MMI y se ha realizado un barrido del ancho de la región multimodo, manteniendo fija la longitud de onda y después se ha simulado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en función de dicho ancho.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Se observa que al aumentar el ancho del MMI, la longitud de acoplo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aumenta tanto para TE como para TM. Esto se debe a que al ser más ancho, los modos están más separados dentro de la estructura y el acoplo entre ellos es menor, por lo que se necesita más longitud para completar la transferencia de potencia.</a:t>
                </a:r>
              </a:p>
              <a:p>
                <a:pPr algn="just"/>
                <a:r>
                  <a:rPr lang="es-ES" sz="1000" dirty="0">
                    <a:latin typeface="Arial" panose="020B0604020202020204" pitchFamily="34" charset="0"/>
                    <a:cs typeface="Arial" panose="020B0604020202020204" pitchFamily="34" charset="0"/>
                  </a:rPr>
                  <a:t>Además, se puede ver que los valores de TE y TM son similares pero no iguales, ya que cada uno tiene distintos índices efectivos. En general, TM presenta valores ligeramente mayores que TE en este caso.</a:t>
                </a:r>
              </a:p>
              <a:p>
                <a:pPr algn="just"/>
                <a:endParaRPr lang="es-ES" sz="1000" dirty="0">
                  <a:latin typeface="Arial" panose="020B0604020202020204" pitchFamily="34" charset="0"/>
                  <a:cs typeface="Arial" panose="020B0604020202020204" pitchFamily="34" charset="0"/>
                </a:endParaRPr>
              </a:p>
              <a:p>
                <a:pPr algn="just"/>
                <a:r>
                  <a:rPr lang="es-ES" sz="1000" dirty="0">
                    <a:latin typeface="Arial" panose="020B0604020202020204" pitchFamily="34" charset="0"/>
                    <a:cs typeface="Arial" panose="020B0604020202020204" pitchFamily="34" charset="0"/>
                  </a:rPr>
                  <a:t>Por otro lado, no existe un punto en el que el acoplador MMI funcione exactamente igual para TE y TM, ya que ambos modos tienen comportamientos diferentes. Sin embargo, sí hay anchos donde los valores de </a:t>
                </a:r>
                <a14:m>
                  <m:oMath xmlns:m="http://schemas.openxmlformats.org/officeDocument/2006/math">
                    <m:sSub>
                      <m:sSubPr>
                        <m:ctrlPr>
                          <a:rPr lang="ar-AE" sz="1000" i="1">
                            <a:latin typeface="Cambria Math" panose="02040503050406030204" pitchFamily="18" charset="0"/>
                          </a:rPr>
                        </m:ctrlPr>
                      </m:sSubPr>
                      <m:e>
                        <m:r>
                          <m:rPr>
                            <m:sty m:val="p"/>
                          </m:rPr>
                          <a:rPr lang="ar-AE" sz="1000" b="0" i="0">
                            <a:latin typeface="Cambria Math" panose="02040503050406030204" pitchFamily="18" charset="0"/>
                          </a:rPr>
                          <m:t>L</m:t>
                        </m:r>
                      </m:e>
                      <m:sub>
                        <m:r>
                          <m:rPr>
                            <m:sty m:val="p"/>
                          </m:rPr>
                          <a:rPr lang="ar-AE" sz="1000" b="0" i="0">
                            <a:latin typeface="Cambria Math" panose="02040503050406030204" pitchFamily="18" charset="0"/>
                          </a:rPr>
                          <m:t>π</m:t>
                        </m:r>
                      </m:sub>
                    </m:sSub>
                  </m:oMath>
                </a14:m>
                <a:r>
                  <a:rPr lang="es-ES" sz="1000" dirty="0">
                    <a:latin typeface="Arial" panose="020B0604020202020204" pitchFamily="34" charset="0"/>
                    <a:cs typeface="Arial" panose="020B0604020202020204" pitchFamily="34" charset="0"/>
                  </a:rPr>
                  <a:t> son bastante cercanos, por lo que el dispositivo puede considerarse aproximadamente independiente de la polarización en esas condiciones.</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BF610AD5-2FAD-F5B2-CAFF-F97AE942BAF4}"/>
                  </a:ext>
                </a:extLst>
              </p:cNvPr>
              <p:cNvSpPr txBox="1">
                <a:spLocks noRot="1" noChangeAspect="1" noMove="1" noResize="1" noEditPoints="1" noAdjustHandles="1" noChangeArrowheads="1" noChangeShapeType="1" noTextEdit="1"/>
              </p:cNvSpPr>
              <p:nvPr/>
            </p:nvSpPr>
            <p:spPr>
              <a:xfrm>
                <a:off x="502010" y="1447800"/>
                <a:ext cx="11199971" cy="2185214"/>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3044308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1781</TotalTime>
  <Words>5172</Words>
  <Application>Microsoft Office PowerPoint</Application>
  <PresentationFormat>Panorámica</PresentationFormat>
  <Paragraphs>327</Paragraphs>
  <Slides>32</Slides>
  <Notes>27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32</vt:i4>
      </vt:variant>
    </vt:vector>
  </HeadingPairs>
  <TitlesOfParts>
    <vt:vector size="40"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Learning outcome #1 – Directional coupler cross-section in GDSFactory </vt:lpstr>
      <vt:lpstr>Learning outcome #1 – Directional coupler cross-section in GDSFactory </vt:lpstr>
      <vt:lpstr>Learning outcome #2 – Directional coupler length and coupling coefficient Wavelength 1.5 µm – width 1.2 µm – gap 0.6 µm – thickness 300 nm</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Learning outcome #5 – Multimode Interference (MMI) Coupler cross-section</vt:lpstr>
      <vt:lpstr>Learning outcome #5 – Multimode Interference (MMI) Coupler cross-section</vt:lpstr>
      <vt:lpstr>Learning outcome #6 – 6.1 2x2 Multimode Interference Coupler  Wavelength 1.55 µm, wMMI = 6.6 µm</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#6.3 – 2x2 Multimode Interference Coupler – Optimization (II) Wavelength 1.55 µm, wMMI = 6.6 µm</vt:lpstr>
      <vt:lpstr>Learning outcome #7 – 1x4 Multimode Interference Coupler  Wavelength 1.55 µm, wMMI = 6.2 µm</vt:lpstr>
      <vt:lpstr>Learning outcome #7 – 1x4 Multimode Interference Coupler  Wavelength 1.55 µm, wMMI = 6.2 µm</vt:lpstr>
      <vt:lpstr>Extra #1 – Directional coupler gap dependence Wavelength 1.55 µm, width 1.0 µm, gap 0.2-2.4 µm (step 0.2 µm) </vt:lpstr>
      <vt:lpstr>Extra #1 – Directional coupler gap dependence Wavelength 1.55 µm, width 1.0 µm, gap 0.2-2.4 µm (step 0.2 µm) </vt:lpstr>
      <vt:lpstr>Extra #2 – Directional wavelength dependence Wavelengths from 1.5 to 1.7 µm, gap = 0.6 µm, width 1.0 µm  </vt:lpstr>
      <vt:lpstr>Extra #2 – Directional wavelength dependence Wavelengths from 1.5 to 1.7 µm, gap = 0.6 µm, width 1.0 µm  </vt:lpstr>
      <vt:lpstr>Extra #3 – MMI coupler wavelength dependence Wavelengths from 1.5 to 1.7 µm, wMMI = 6.6 µm</vt:lpstr>
      <vt:lpstr>Extra #3 – MMI coupler wavelength dependence Wavelengths from 1.5 to 1.7 µm, wMMI = 6.6 µm</vt:lpstr>
      <vt:lpstr>Extra #4 – MMI coupler body width dependence Wavelength 1.55 µm, wMMI = 5-10 µm (steps 0.5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Lidia Tortola Juan</cp:lastModifiedBy>
  <cp:revision>44</cp:revision>
  <dcterms:created xsi:type="dcterms:W3CDTF">2025-01-27T02:46:57Z</dcterms:created>
  <dcterms:modified xsi:type="dcterms:W3CDTF">2026-04-30T15:33:18Z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