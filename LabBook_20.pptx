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7"/>
  </p:notesMasterIdLst>
  <p:handoutMasterIdLst>
    <p:handoutMasterId r:id="rId28"/>
  </p:handoutMasterIdLst>
  <p:sldIdLst>
    <p:sldId id="256" r:id="rId2"/>
    <p:sldId id="289" r:id="rId3"/>
    <p:sldId id="295" r:id="rId4"/>
    <p:sldId id="304" r:id="rId5"/>
    <p:sldId id="305" r:id="rId6"/>
    <p:sldId id="306" r:id="rId7"/>
    <p:sldId id="302" r:id="rId8"/>
    <p:sldId id="307" r:id="rId9"/>
    <p:sldId id="303" r:id="rId10"/>
    <p:sldId id="308" r:id="rId11"/>
    <p:sldId id="309" r:id="rId12"/>
    <p:sldId id="310" r:id="rId13"/>
    <p:sldId id="296" r:id="rId14"/>
    <p:sldId id="293" r:id="rId15"/>
    <p:sldId id="311" r:id="rId16"/>
    <p:sldId id="312" r:id="rId17"/>
    <p:sldId id="294" r:id="rId18"/>
    <p:sldId id="299" r:id="rId19"/>
    <p:sldId id="300" r:id="rId20"/>
    <p:sldId id="301" r:id="rId21"/>
    <p:sldId id="290" r:id="rId22"/>
    <p:sldId id="297" r:id="rId23"/>
    <p:sldId id="292" r:id="rId24"/>
    <p:sldId id="298" r:id="rId25"/>
    <p:sldId id="288" r:id="rId26"/>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99" autoAdjust="0"/>
    <p:restoredTop sz="95033" autoAdjust="0"/>
  </p:normalViewPr>
  <p:slideViewPr>
    <p:cSldViewPr>
      <p:cViewPr varScale="1">
        <p:scale>
          <a:sx n="82" d="100"/>
          <a:sy n="82" d="100"/>
        </p:scale>
        <p:origin x="114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26/04/2026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26/04/2026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05FA0-8310-95D9-F59F-8F42EEDA245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3AABB8C-A6AF-3BA6-45D2-74E49192B4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F13E16-C481-3712-5627-1CB01BC0AFB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134307B-A280-388B-6938-077D670A8B36}"/>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43326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7D5F6-EE4B-DBF5-46B6-DC091AA222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459E7-E42C-AEC7-7988-1258D54457C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1866CC-E4A1-2661-5B36-0258987A20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F177EBE-7AF8-0B33-4A0A-46D7104890D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33223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438A7-7899-A307-6C90-D3A73AD2D3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849CA7-6569-7BE9-9AB5-25077A5726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60DF00-DBEB-4907-1E26-441FD826D2E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E1E232A-8911-AE01-BEB9-1EF0BF46163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7235977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54F-0878-7CEE-CF50-A103ECC9DB7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B21B1E-FB90-688E-B9DC-156F8C3BBD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3EECF7-7299-5BEE-9B9B-8B98CAB5566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77DAB8-DEF1-B663-EBFF-A0753DD70E55}"/>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40733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D805F-3063-79EC-543B-DFAB71AF86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03078E-B50C-DD8F-FA26-10E656F7D1E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DC5F04-0E58-8BD1-33B6-FDFCC87B89B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8218579-8C14-7CD7-75C8-569C35426792}"/>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082529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2324-A32F-B9AC-50E7-65FCF8A26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8AF1A7-42C7-2BAD-44D5-4D27F8929E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5EB82A0-D9DE-365C-CBB6-1F3940C609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1D0CC7-4111-5D63-5F06-052D2A5B706F}"/>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744524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30BA2-3EDD-C00F-1E9F-1C4C3354F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E2A370-C424-5C10-028D-1182022ED8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834D9E3-B30F-FFB7-ECE8-CE697EC06B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3F2DBD-61A4-84B1-285D-6176746E67E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09498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0C1D0-1D56-98AC-F808-3E50A2E18D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015224-D113-BB46-5A26-5EED4760F2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C43180-97F8-438D-38DE-ABCC148565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1FC060C-8016-8F5A-1B40-21ECBDF327ED}"/>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43384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914400"/>
                <a:ext cx="11048999" cy="5339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914400"/>
                <a:ext cx="11048999" cy="5339137"/>
              </a:xfrm>
              <a:prstGeom prst="rect">
                <a:avLst/>
              </a:prstGeom>
              <a:blipFill>
                <a:blip r:embed="rId4"/>
                <a:stretch>
                  <a:fillRect l="-607" t="-571" r="-552"/>
                </a:stretch>
              </a:blipFill>
            </p:spPr>
            <p:txBody>
              <a:bodyPr/>
              <a:lstStyle/>
              <a:p>
                <a:r>
                  <a:rPr lang="es-ES">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E5FB7-679F-9236-EFA5-8116C168EE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20478D-90D9-694D-4EA3-EFE80BF036F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0118739-26AC-C210-6730-157922FFED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AE30E4E-B78E-19DD-C84C-EAA8F630743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0B4D3F1-CD3C-CC85-9A87-5D07D41685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0DB3E0E-A522-21B2-DDBD-754E3CB15760}"/>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3BC5BF70-E113-8DE7-7A88-D8E96A4F4219}"/>
              </a:ext>
            </a:extLst>
          </p:cNvPr>
          <p:cNvSpPr txBox="1"/>
          <p:nvPr/>
        </p:nvSpPr>
        <p:spPr>
          <a:xfrm>
            <a:off x="418305" y="4507405"/>
            <a:ext cx="11428412"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se ha </a:t>
            </a:r>
            <a:r>
              <a:rPr lang="en-US" sz="900" dirty="0" err="1">
                <a:latin typeface="Arial" panose="020B0604020202020204" pitchFamily="34" charset="0"/>
                <a:cs typeface="Arial" panose="020B0604020202020204" pitchFamily="34" charset="0"/>
              </a:rPr>
              <a:t>estudiado</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sección</a:t>
            </a:r>
            <a:r>
              <a:rPr lang="en-US" sz="900" dirty="0">
                <a:latin typeface="Arial" panose="020B0604020202020204" pitchFamily="34" charset="0"/>
                <a:cs typeface="Arial" panose="020B0604020202020204" pitchFamily="34" charset="0"/>
              </a:rPr>
              <a:t> transversal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En primer lugar, se han definido los materiales: para el núcleo de las guías se ha usado nitruro de silicio, mientras que para la cubierta se ha usado óxido de silicio.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Al </a:t>
            </a:r>
            <a:r>
              <a:rPr lang="en-US" sz="900" dirty="0" err="1">
                <a:latin typeface="Arial" panose="020B0604020202020204" pitchFamily="34" charset="0"/>
                <a:cs typeface="Arial" panose="020B0604020202020204" pitchFamily="34" charset="0"/>
              </a:rPr>
              <a:t>tratarse</a:t>
            </a:r>
            <a:r>
              <a:rPr lang="en-US" sz="900" dirty="0">
                <a:latin typeface="Arial" panose="020B0604020202020204" pitchFamily="34" charset="0"/>
                <a:cs typeface="Arial" panose="020B0604020202020204" pitchFamily="34" charset="0"/>
              </a:rPr>
              <a:t>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estará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formado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2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paralelas</a:t>
            </a:r>
            <a:r>
              <a:rPr lang="en-US" sz="900" dirty="0">
                <a:latin typeface="Arial" panose="020B0604020202020204" pitchFamily="34" charset="0"/>
                <a:cs typeface="Arial" panose="020B0604020202020204" pitchFamily="34" charset="0"/>
              </a:rPr>
              <a:t> (con </a:t>
            </a:r>
            <a:r>
              <a:rPr lang="es-ES" sz="900" dirty="0">
                <a:latin typeface="Arial" panose="020B0604020202020204" pitchFamily="34" charset="0"/>
                <a:cs typeface="Arial" panose="020B0604020202020204" pitchFamily="34" charset="0"/>
              </a:rPr>
              <a:t>una anchura de 1200 nm y una altura de 300 nm</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situadas</a:t>
            </a:r>
            <a:r>
              <a:rPr lang="en-US" sz="900" dirty="0">
                <a:latin typeface="Arial" panose="020B0604020202020204" pitchFamily="34" charset="0"/>
                <a:cs typeface="Arial" panose="020B0604020202020204" pitchFamily="34" charset="0"/>
              </a:rPr>
              <a:t> a </a:t>
            </a:r>
            <a:r>
              <a:rPr lang="en-US" sz="900" dirty="0" err="1">
                <a:latin typeface="Arial" panose="020B0604020202020204" pitchFamily="34" charset="0"/>
                <a:cs typeface="Arial" panose="020B0604020202020204" pitchFamily="34" charset="0"/>
              </a:rPr>
              <a:t>cierta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distancia</a:t>
            </a:r>
            <a:r>
              <a:rPr lang="en-US" sz="900" dirty="0">
                <a:latin typeface="Arial" panose="020B0604020202020204" pitchFamily="34" charset="0"/>
                <a:cs typeface="Arial" panose="020B0604020202020204" pitchFamily="34" charset="0"/>
              </a:rPr>
              <a:t> entre </a:t>
            </a:r>
            <a:r>
              <a:rPr lang="en-US" sz="900" dirty="0" err="1">
                <a:latin typeface="Arial" panose="020B0604020202020204" pitchFamily="34" charset="0"/>
                <a:cs typeface="Arial" panose="020B0604020202020204" pitchFamily="34" charset="0"/>
              </a:rPr>
              <a:t>ellas</a:t>
            </a:r>
            <a:r>
              <a:rPr lang="en-US" sz="900" dirty="0">
                <a:latin typeface="Arial" panose="020B0604020202020204" pitchFamily="34" charset="0"/>
                <a:cs typeface="Arial" panose="020B0604020202020204" pitchFamily="34" charset="0"/>
              </a:rPr>
              <a:t>, es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también se ha </a:t>
            </a:r>
            <a:r>
              <a:rPr lang="en-US" sz="900" dirty="0" err="1">
                <a:latin typeface="Arial" panose="020B0604020202020204" pitchFamily="34" charset="0"/>
                <a:cs typeface="Arial" panose="020B0604020202020204" pitchFamily="34" charset="0"/>
              </a:rPr>
              <a:t>definido</a:t>
            </a:r>
            <a:r>
              <a:rPr lang="en-US" sz="900" dirty="0">
                <a:latin typeface="Arial" panose="020B0604020202020204" pitchFamily="34" charset="0"/>
                <a:cs typeface="Arial" panose="020B0604020202020204" pitchFamily="34" charset="0"/>
              </a:rPr>
              <a:t> un gap de 600 nm,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será</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separación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Dicho</a:t>
            </a:r>
            <a:r>
              <a:rPr lang="en-US" sz="900" dirty="0">
                <a:latin typeface="Arial" panose="020B0604020202020204" pitchFamily="34" charset="0"/>
                <a:cs typeface="Arial" panose="020B0604020202020204" pitchFamily="34" charset="0"/>
              </a:rPr>
              <a:t> gap </a:t>
            </a:r>
            <a:r>
              <a:rPr lang="en-US" sz="900" dirty="0" err="1">
                <a:latin typeface="Arial" panose="020B0604020202020204" pitchFamily="34" charset="0"/>
                <a:cs typeface="Arial" panose="020B0604020202020204" pitchFamily="34" charset="0"/>
              </a:rPr>
              <a:t>determinará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grado</a:t>
            </a:r>
            <a:r>
              <a:rPr lang="en-US" sz="900" dirty="0">
                <a:latin typeface="Arial" panose="020B0604020202020204" pitchFamily="34" charset="0"/>
                <a:cs typeface="Arial" panose="020B0604020202020204" pitchFamily="34" charset="0"/>
              </a:rPr>
              <a:t> de </a:t>
            </a:r>
            <a:r>
              <a:rPr lang="en-US" sz="900" dirty="0" err="1">
                <a:latin typeface="Arial" panose="020B0604020202020204" pitchFamily="34" charset="0"/>
                <a:cs typeface="Arial" panose="020B0604020202020204" pitchFamily="34" charset="0"/>
              </a:rPr>
              <a:t>acoplo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estudia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x).</a:t>
            </a:r>
          </a:p>
          <a:p>
            <a:pPr algn="just"/>
            <a:endParaRPr lang="en-US" sz="900" dirty="0">
              <a:latin typeface="Arial" panose="020B0604020202020204" pitchFamily="34" charset="0"/>
              <a:cs typeface="Arial" panose="020B0604020202020204" pitchFamily="34" charset="0"/>
            </a:endParaRPr>
          </a:p>
          <a:p>
            <a:pPr algn="just"/>
            <a:r>
              <a:rPr lang="en-US" sz="900" dirty="0" err="1">
                <a:latin typeface="Arial" panose="020B0604020202020204" pitchFamily="34" charset="0"/>
                <a:cs typeface="Arial" panose="020B0604020202020204" pitchFamily="34" charset="0"/>
              </a:rPr>
              <a:t>Además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usado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deep,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lo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su</a:t>
            </a:r>
            <a:r>
              <a:rPr lang="en-US" sz="900" dirty="0">
                <a:latin typeface="Arial" panose="020B0604020202020204" pitchFamily="34" charset="0"/>
                <a:cs typeface="Arial" panose="020B0604020202020204" pitchFamily="34" charset="0"/>
              </a:rPr>
              <a:t> slab thickness es de 0 nm.</a:t>
            </a: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59141B15-8551-99D6-E4D1-59A47D3554F5}"/>
              </a:ext>
            </a:extLst>
          </p:cNvPr>
          <p:cNvPicPr>
            <a:picLocks noChangeAspect="1"/>
          </p:cNvPicPr>
          <p:nvPr/>
        </p:nvPicPr>
        <p:blipFill>
          <a:blip r:embed="rId4"/>
          <a:srcRect l="1283" t="3639" r="1613" b="3352"/>
          <a:stretch>
            <a:fillRect/>
          </a:stretch>
        </p:blipFill>
        <p:spPr>
          <a:xfrm>
            <a:off x="3232698" y="957318"/>
            <a:ext cx="4992213" cy="3373615"/>
          </a:xfrm>
          <a:prstGeom prst="rect">
            <a:avLst/>
          </a:prstGeom>
        </p:spPr>
      </p:pic>
    </p:spTree>
    <p:extLst>
      <p:ext uri="{BB962C8B-B14F-4D97-AF65-F5344CB8AC3E}">
        <p14:creationId xmlns:p14="http://schemas.microsoft.com/office/powerpoint/2010/main" val="350061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1ECB-54A7-CD32-E901-1DE76599A0F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7F6DB5-0035-3F87-53D3-5A772C36FBE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6A97CEF-DDB5-5FE0-9CC7-3EEFB33A54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BCE179A-9458-E55C-F478-16CB37E84CF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46F1AA5F-CD88-674C-B9D7-83301368A11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81A0744-12CB-A4CC-F67D-C11E9E829C43}"/>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25D166AB-2064-687C-51FC-01FB8AB452D0}"/>
                  </a:ext>
                </a:extLst>
              </p:cNvPr>
              <p:cNvSpPr txBox="1"/>
              <p:nvPr/>
            </p:nvSpPr>
            <p:spPr>
              <a:xfrm>
                <a:off x="231571" y="3665670"/>
                <a:ext cx="11223010" cy="2452851"/>
              </a:xfrm>
              <a:prstGeom prst="rect">
                <a:avLst/>
              </a:prstGeom>
              <a:solidFill>
                <a:schemeClr val="bg1">
                  <a:lumMod val="95000"/>
                </a:schemeClr>
              </a:solidFill>
              <a:ln w="28575">
                <a:solidFill>
                  <a:srgbClr val="E0700D"/>
                </a:solidFill>
              </a:ln>
            </p:spPr>
            <p:txBody>
              <a:bodyPr wrap="square" rtlCol="0">
                <a:spAutoFit/>
              </a:bodyPr>
              <a:lstStyle/>
              <a:p>
                <a:pPr algn="just"/>
                <a:r>
                  <a:rPr lang="en-US" sz="9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En segundo lugar, se han calculado los cuatro primeros modos del acoplador direccional. Los dos primeros corresponden a modos TE, ya que están asociados principalmente a la componente Ex</a:t>
                </a:r>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los otros dos corresponden a modos TM, asociados principalmente a la componente </a:t>
                </a:r>
                <a:r>
                  <a:rPr lang="es-ES" sz="900" dirty="0" err="1">
                    <a:latin typeface="Arial" panose="020B0604020202020204" pitchFamily="34" charset="0"/>
                    <a:cs typeface="Arial" panose="020B0604020202020204" pitchFamily="34" charset="0"/>
                  </a:rPr>
                  <a:t>Ey</a:t>
                </a:r>
                <a:r>
                  <a:rPr lang="es-ES" sz="900" dirty="0">
                    <a:latin typeface="Arial" panose="020B0604020202020204" pitchFamily="34" charset="0"/>
                    <a:cs typeface="Arial" panose="020B0604020202020204" pitchFamily="34" charset="0"/>
                  </a:rPr>
                  <a:t>.</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caso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las </a:t>
                </a:r>
                <a:r>
                  <a:rPr lang="en-US" sz="900" dirty="0" err="1">
                    <a:latin typeface="Arial" panose="020B0604020202020204" pitchFamily="34" charset="0"/>
                    <a:cs typeface="Arial" panose="020B0604020202020204" pitchFamily="34" charset="0"/>
                  </a:rPr>
                  <a:t>imágenes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representado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los</a:t>
                </a:r>
                <a:r>
                  <a:rPr lang="en-US" sz="900" dirty="0">
                    <a:latin typeface="Arial" panose="020B0604020202020204" pitchFamily="34" charset="0"/>
                    <a:cs typeface="Arial" panose="020B0604020202020204" pitchFamily="34" charset="0"/>
                  </a:rPr>
                  <a:t> dos primeros </a:t>
                </a:r>
                <a:r>
                  <a:rPr lang="en-US" sz="900" dirty="0" err="1">
                    <a:latin typeface="Arial" panose="020B0604020202020204" pitchFamily="34" charset="0"/>
                    <a:cs typeface="Arial" panose="020B0604020202020204" pitchFamily="34" charset="0"/>
                  </a:rPr>
                  <a:t>modos</a:t>
                </a:r>
                <a:r>
                  <a:rPr lang="en-US" sz="900" dirty="0">
                    <a:latin typeface="Arial" panose="020B0604020202020204" pitchFamily="34" charset="0"/>
                    <a:cs typeface="Arial" panose="020B0604020202020204" pitchFamily="34" charset="0"/>
                  </a:rPr>
                  <a:t> TE. La imagen de la </a:t>
                </a:r>
                <a:r>
                  <a:rPr lang="en-US" sz="900" dirty="0" err="1">
                    <a:latin typeface="Arial" panose="020B0604020202020204" pitchFamily="34" charset="0"/>
                    <a:cs typeface="Arial" panose="020B0604020202020204" pitchFamily="34" charset="0"/>
                  </a:rPr>
                  <a:t>izquierda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corresponde</a:t>
                </a:r>
                <a:r>
                  <a:rPr lang="en-US" sz="900" dirty="0">
                    <a:latin typeface="Arial" panose="020B0604020202020204" pitchFamily="34" charset="0"/>
                    <a:cs typeface="Arial" panose="020B0604020202020204" pitchFamily="34" charset="0"/>
                  </a:rPr>
                  <a:t> al primer modo (TE0),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trata</a:t>
                </a:r>
                <a:r>
                  <a:rPr lang="en-US" sz="900" dirty="0">
                    <a:latin typeface="Arial" panose="020B0604020202020204" pitchFamily="34" charset="0"/>
                    <a:cs typeface="Arial" panose="020B0604020202020204" pitchFamily="34" charset="0"/>
                  </a:rPr>
                  <a:t> de un modo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primer modo </a:t>
                </a:r>
                <a:r>
                  <a:rPr lang="en-US" sz="900" dirty="0" err="1">
                    <a:latin typeface="Arial" panose="020B0604020202020204" pitchFamily="34" charset="0"/>
                    <a:cs typeface="Arial" panose="020B0604020202020204" pitchFamily="34" charset="0"/>
                  </a:rPr>
                  <a:t>siempre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va</a:t>
                </a:r>
                <a:r>
                  <a:rPr lang="en-US" sz="900" dirty="0">
                    <a:latin typeface="Arial" panose="020B0604020202020204" pitchFamily="34" charset="0"/>
                    <a:cs typeface="Arial" panose="020B0604020202020204" pitchFamily="34" charset="0"/>
                  </a:rPr>
                  <a:t> a ser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a:t>
                </a:r>
                <a:r>
                  <a:rPr lang="es-ES" sz="900" dirty="0">
                    <a:latin typeface="Arial" panose="020B0604020202020204" pitchFamily="34" charset="0"/>
                    <a:cs typeface="Arial" panose="020B0604020202020204" pitchFamily="34" charset="0"/>
                  </a:rPr>
                  <a:t>, ya que el campo tiene el mismo signo en ambas guías y aparecen dos lóbulos positivos.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otro lado, la imagen de la derecha corresponde al segundo modo (TE1), el cual es un modo antisimétrico, ya que el campo cambia de signo entre una guía y la otra, apareciendo un lóbulo positivo y otro negativo.</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Esta diferencia entre el modo simétrico y el antisimétrico es la base del acoplo direccional: ambos modos se propagan con índices efectivos distintos y producen una transferencia periódica de potencia entre las dos guías. A partir de estos índices efectivos se calcula 𝐿𝜋, que representa la distancia necesaria para transferir completamente la potencia de una guía a la otra.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Para los modos TE, usando los modos 0 y 1, se obtiene </a:t>
                </a:r>
                <a14:m>
                  <m:oMath xmlns:m="http://schemas.openxmlformats.org/officeDocument/2006/math">
                    <m:sSub>
                      <m:sSubPr>
                        <m:ctrlPr>
                          <a:rPr lang="ar-AE" sz="900"/>
                        </m:ctrlPr>
                      </m:sSubPr>
                      <m:e>
                        <m:r>
                          <a:rPr lang="ar-AE" sz="900" b="0" i="1"/>
                          <m:t>𝐿</m:t>
                        </m:r>
                      </m:e>
                      <m:sub>
                        <m:r>
                          <a:rPr lang="ar-AE" sz="900" b="0" i="1"/>
                          <m:t>𝜋</m:t>
                        </m:r>
                        <m:r>
                          <a:rPr lang="ar-AE" sz="900" b="0"/>
                          <m:t>,</m:t>
                        </m:r>
                        <m:r>
                          <a:rPr lang="ar-AE" sz="900" b="0" i="1"/>
                          <m:t>𝑇𝐸</m:t>
                        </m:r>
                      </m:sub>
                    </m:sSub>
                    <m:r>
                      <a:rPr lang="ar-AE" sz="900" b="0"/>
                      <m:t>=</m:t>
                    </m:r>
                    <m:r>
                      <a:rPr lang="ar-AE" sz="900" b="0" i="1"/>
                      <m:t>93</m:t>
                    </m:r>
                    <m:r>
                      <a:rPr lang="ar-AE" sz="900" b="0"/>
                      <m:t>.</m:t>
                    </m:r>
                    <m:r>
                      <a:rPr lang="ar-AE" sz="900" b="0" i="1"/>
                      <m:t>84</m:t>
                    </m:r>
                    <m:r>
                      <m:rPr>
                        <m:nor/>
                      </m:rPr>
                      <a:rPr lang="ar-AE" sz="900" i="1">
                        <a:latin typeface="Arial" panose="020B0604020202020204" pitchFamily="34" charset="0"/>
                        <a:cs typeface="Arial" panose="020B0604020202020204" pitchFamily="34" charset="0"/>
                      </a:rPr>
                      <m:t> </m:t>
                    </m:r>
                    <m:r>
                      <a:rPr lang="ar-AE" sz="900" b="0" i="1"/>
                      <m:t>𝜇</m:t>
                    </m:r>
                    <m:r>
                      <a:rPr lang="ar-AE" sz="900" b="0" i="1"/>
                      <m:t>𝑚</m:t>
                    </m:r>
                  </m:oMath>
                </a14:m>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para los modos TM, usando los modos 2 y 3, se obtiene </a:t>
                </a:r>
                <a14:m>
                  <m:oMath xmlns:m="http://schemas.openxmlformats.org/officeDocument/2006/math">
                    <m:sSub>
                      <m:sSubPr>
                        <m:ctrlPr>
                          <a:rPr lang="ar-AE" sz="900"/>
                        </m:ctrlPr>
                      </m:sSubPr>
                      <m:e>
                        <m:r>
                          <a:rPr lang="ar-AE" sz="900" b="0" i="1"/>
                          <m:t>𝐿</m:t>
                        </m:r>
                      </m:e>
                      <m:sub>
                        <m:r>
                          <a:rPr lang="ar-AE" sz="900" b="0" i="1"/>
                          <m:t>𝜋</m:t>
                        </m:r>
                        <m:r>
                          <a:rPr lang="ar-AE" sz="900" b="0"/>
                          <m:t>,</m:t>
                        </m:r>
                        <m:r>
                          <a:rPr lang="ar-AE" sz="900" b="0" i="1"/>
                          <m:t>𝑇𝑀</m:t>
                        </m:r>
                      </m:sub>
                    </m:sSub>
                    <m:r>
                      <a:rPr lang="ar-AE" sz="900" b="0"/>
                      <m:t>=</m:t>
                    </m:r>
                    <m:r>
                      <a:rPr lang="ar-AE" sz="900" b="0" i="1"/>
                      <m:t>52</m:t>
                    </m:r>
                    <m:r>
                      <a:rPr lang="ar-AE" sz="900" b="0"/>
                      <m:t>.</m:t>
                    </m:r>
                    <m:r>
                      <a:rPr lang="ar-AE" sz="900" b="0" i="1"/>
                      <m:t>26</m:t>
                    </m:r>
                    <m:r>
                      <m:rPr>
                        <m:nor/>
                      </m:rPr>
                      <a:rPr lang="ar-AE" sz="900" i="1">
                        <a:latin typeface="Arial" panose="020B0604020202020204" pitchFamily="34" charset="0"/>
                        <a:cs typeface="Arial" panose="020B0604020202020204" pitchFamily="34" charset="0"/>
                      </a:rPr>
                      <m:t> </m:t>
                    </m:r>
                    <m:r>
                      <a:rPr lang="ar-AE" sz="900" b="0" i="1"/>
                      <m:t>𝜇</m:t>
                    </m:r>
                    <m:r>
                      <a:rPr lang="ar-AE" sz="900" b="0" i="1"/>
                      <m:t>𝑚</m:t>
                    </m:r>
                    <m:r>
                      <a:rPr lang="es-ES" sz="900" b="0" i="0" smtClean="0">
                        <a:latin typeface="Cambria Math" panose="02040503050406030204" pitchFamily="18" charset="0"/>
                      </a:rPr>
                      <m:t>. </m:t>
                    </m:r>
                  </m:oMath>
                </a14:m>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tanto, vemos que se requiere una distancia mayor para los modos TE. Esto no se debe simplemente a que estén más confinados, sino a que la diferencia entre los índices efectivos del modo TE simétrico y el modo TE antisimétrico es menor. Al ser menor esta diferencia, necesitan más distancia de propagación para acumular un desfase de 180º entre ellos. Por otro lado, en los modos TM dicha distancia es menor, porque la diferencia entre sus índices efectivos es mayor. Por tanto, los modos TM acumulan el desfase de 180º en una distancia más corta.</a:t>
                </a:r>
                <a:endParaRPr lang="en-US" sz="9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25D166AB-2064-687C-51FC-01FB8AB452D0}"/>
                  </a:ext>
                </a:extLst>
              </p:cNvPr>
              <p:cNvSpPr txBox="1">
                <a:spLocks noRot="1" noChangeAspect="1" noMove="1" noResize="1" noEditPoints="1" noAdjustHandles="1" noChangeArrowheads="1" noChangeShapeType="1" noTextEdit="1"/>
              </p:cNvSpPr>
              <p:nvPr/>
            </p:nvSpPr>
            <p:spPr>
              <a:xfrm>
                <a:off x="231571" y="3665670"/>
                <a:ext cx="11223010" cy="245285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7" name="Imagen 6">
            <a:extLst>
              <a:ext uri="{FF2B5EF4-FFF2-40B4-BE49-F238E27FC236}">
                <a16:creationId xmlns:a16="http://schemas.microsoft.com/office/drawing/2014/main" id="{10B2241D-7FF2-1E4A-6EBE-A4ED4B60569D}"/>
              </a:ext>
            </a:extLst>
          </p:cNvPr>
          <p:cNvPicPr>
            <a:picLocks noChangeAspect="1"/>
          </p:cNvPicPr>
          <p:nvPr/>
        </p:nvPicPr>
        <p:blipFill>
          <a:blip r:embed="rId5"/>
          <a:stretch>
            <a:fillRect/>
          </a:stretch>
        </p:blipFill>
        <p:spPr>
          <a:xfrm>
            <a:off x="1676400" y="941928"/>
            <a:ext cx="3914873" cy="2668506"/>
          </a:xfrm>
          <a:prstGeom prst="rect">
            <a:avLst/>
          </a:prstGeom>
        </p:spPr>
      </p:pic>
      <p:pic>
        <p:nvPicPr>
          <p:cNvPr id="9" name="Imagen 8">
            <a:extLst>
              <a:ext uri="{FF2B5EF4-FFF2-40B4-BE49-F238E27FC236}">
                <a16:creationId xmlns:a16="http://schemas.microsoft.com/office/drawing/2014/main" id="{CEB22B8A-119E-DB99-7BE5-D46EEEF57377}"/>
              </a:ext>
            </a:extLst>
          </p:cNvPr>
          <p:cNvPicPr>
            <a:picLocks noChangeAspect="1"/>
          </p:cNvPicPr>
          <p:nvPr/>
        </p:nvPicPr>
        <p:blipFill>
          <a:blip r:embed="rId6"/>
          <a:stretch>
            <a:fillRect/>
          </a:stretch>
        </p:blipFill>
        <p:spPr>
          <a:xfrm>
            <a:off x="5838411" y="945038"/>
            <a:ext cx="3986875" cy="2668506"/>
          </a:xfrm>
          <a:prstGeom prst="rect">
            <a:avLst/>
          </a:prstGeom>
        </p:spPr>
      </p:pic>
    </p:spTree>
    <p:extLst>
      <p:ext uri="{BB962C8B-B14F-4D97-AF65-F5344CB8AC3E}">
        <p14:creationId xmlns:p14="http://schemas.microsoft.com/office/powerpoint/2010/main" val="3041194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8400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8853" y="678806"/>
            <a:ext cx="2057400" cy="598179"/>
          </a:xfrm>
          <a:prstGeom prst="rect">
            <a:avLst/>
          </a:prstGeom>
        </p:spPr>
      </p:pic>
      <p:pic>
        <p:nvPicPr>
          <p:cNvPr id="12" name="Imagen 11">
            <a:extLst>
              <a:ext uri="{FF2B5EF4-FFF2-40B4-BE49-F238E27FC236}">
                <a16:creationId xmlns:a16="http://schemas.microsoft.com/office/drawing/2014/main" id="{FE35E716-E84E-C89F-43EA-B2B64AC2D287}"/>
              </a:ext>
            </a:extLst>
          </p:cNvPr>
          <p:cNvPicPr>
            <a:picLocks noChangeAspect="1"/>
          </p:cNvPicPr>
          <p:nvPr/>
        </p:nvPicPr>
        <p:blipFill>
          <a:blip r:embed="rId5"/>
          <a:stretch>
            <a:fillRect/>
          </a:stretch>
        </p:blipFill>
        <p:spPr>
          <a:xfrm>
            <a:off x="1151489" y="1504186"/>
            <a:ext cx="4944511" cy="3735584"/>
          </a:xfrm>
          <a:prstGeom prst="rect">
            <a:avLst/>
          </a:prstGeom>
        </p:spPr>
      </p:pic>
      <p:pic>
        <p:nvPicPr>
          <p:cNvPr id="14" name="Imagen 13">
            <a:extLst>
              <a:ext uri="{FF2B5EF4-FFF2-40B4-BE49-F238E27FC236}">
                <a16:creationId xmlns:a16="http://schemas.microsoft.com/office/drawing/2014/main" id="{8D8A0744-B2C9-4111-319E-E9F2904E14CC}"/>
              </a:ext>
            </a:extLst>
          </p:cNvPr>
          <p:cNvPicPr>
            <a:picLocks noChangeAspect="1"/>
          </p:cNvPicPr>
          <p:nvPr/>
        </p:nvPicPr>
        <p:blipFill>
          <a:blip r:embed="rId6"/>
          <a:stretch>
            <a:fillRect/>
          </a:stretch>
        </p:blipFill>
        <p:spPr>
          <a:xfrm>
            <a:off x="6170564" y="1504186"/>
            <a:ext cx="4915774" cy="3744201"/>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0FE2-6E7C-58D0-03AA-8E130ECB96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043681D-C357-CBBF-7DB5-254E22D6C4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CEFBA4B-E9A5-1544-0B7D-72EAE2F3B4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402D09-73B8-4088-F546-604E86F2AC4D}"/>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F990604E-0B9D-5F58-E781-E34C469169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A74E8735-0FB2-5E94-5FCF-51BF0AC001AC}"/>
                  </a:ext>
                </a:extLst>
              </p:cNvPr>
              <p:cNvSpPr txBox="1"/>
              <p:nvPr/>
            </p:nvSpPr>
            <p:spPr>
              <a:xfrm>
                <a:off x="480239" y="1741764"/>
                <a:ext cx="11199971" cy="324524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tanto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TE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función</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física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s-ES" sz="1000" dirty="0">
                    <a:latin typeface="Arial" panose="020B0604020202020204" pitchFamily="34" charset="0"/>
                    <a:cs typeface="Arial" panose="020B0604020202020204" pitchFamily="34" charset="0"/>
                  </a:rPr>
                  <a:t>, siguiendo la fórmula mostrada arriba de las figuras.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Cuando el coeficiente de acoplo vale uno, significa que la longitud del acoplador es igual a 𝐿𝜋, por tanto, toda la potencia se transfiere a la otra guía al estar totalmente acopladas, mientras que cuando dicho coeficiente vale cero, significa que la potencia permanece en la guía inicial o vuelve a ella después de completar un ciclo de acoplo.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vemos que la forma de las dos gráficas es distinta: para un mismo rango de valores, para los dos modos TE se obtiene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𝑇𝐸</m:t>
                        </m:r>
                      </m:sub>
                    </m:sSub>
                    <m:r>
                      <a:rPr lang="ar-AE" sz="1000">
                        <a:latin typeface="Cambria Math" panose="02040503050406030204" pitchFamily="18" charset="0"/>
                      </a:rPr>
                      <m:t>=</m:t>
                    </m:r>
                    <m:r>
                      <a:rPr lang="ar-AE" sz="1000" i="1">
                        <a:latin typeface="Cambria Math" panose="02040503050406030204" pitchFamily="18" charset="0"/>
                      </a:rPr>
                      <m:t>93</m:t>
                    </m:r>
                    <m:r>
                      <a:rPr lang="ar-AE" sz="1000">
                        <a:latin typeface="Cambria Math" panose="02040503050406030204" pitchFamily="18" charset="0"/>
                      </a:rPr>
                      <m:t>.</m:t>
                    </m:r>
                    <m:r>
                      <a:rPr lang="ar-AE" sz="1000" i="1">
                        <a:latin typeface="Cambria Math" panose="02040503050406030204" pitchFamily="18" charset="0"/>
                      </a:rPr>
                      <m:t>84</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es 1 y se produce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máxima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mientras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los modos vuelven a estar en una condición equivalente a la inicial, por lo que la potencia vuelve a la guía de entrada y el coeficiente de acoplo vuelve a 0.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los dos modos TM sucede lo mismo, con la diferencia de que ahora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𝑇𝑀</m:t>
                        </m:r>
                      </m:sub>
                    </m:sSub>
                    <m:r>
                      <a:rPr lang="ar-AE" sz="1000">
                        <a:latin typeface="Cambria Math" panose="02040503050406030204" pitchFamily="18" charset="0"/>
                      </a:rPr>
                      <m:t>=</m:t>
                    </m:r>
                    <m:r>
                      <a:rPr lang="ar-AE" sz="1000" i="1">
                        <a:latin typeface="Cambria Math" panose="02040503050406030204" pitchFamily="18" charset="0"/>
                      </a:rPr>
                      <m:t>52</m:t>
                    </m:r>
                    <m:r>
                      <a:rPr lang="ar-AE" sz="1000">
                        <a:latin typeface="Cambria Math" panose="02040503050406030204" pitchFamily="18" charset="0"/>
                      </a:rPr>
                      <m:t>.</m:t>
                    </m:r>
                    <m:r>
                      <a:rPr lang="ar-AE" sz="1000" i="1">
                        <a:latin typeface="Cambria Math" panose="02040503050406030204" pitchFamily="18" charset="0"/>
                      </a:rPr>
                      <m:t>26</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tanto </a:t>
                </a:r>
                <a:r>
                  <a:rPr lang="en-US" sz="1000" dirty="0" err="1">
                    <a:latin typeface="Arial" panose="020B0604020202020204" pitchFamily="34" charset="0"/>
                    <a:cs typeface="Arial" panose="020B0604020202020204" pitchFamily="34" charset="0"/>
                  </a:rPr>
                  <a:t>vemos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ocurre</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diferencia</a:t>
                </a:r>
                <a:r>
                  <a:rPr lang="en-US" sz="1000" dirty="0">
                    <a:latin typeface="Arial" panose="020B0604020202020204" pitchFamily="34" charset="0"/>
                    <a:cs typeface="Arial" panose="020B0604020202020204" pitchFamily="34" charset="0"/>
                  </a:rPr>
                  <a:t> entre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índices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efectivos</a:t>
                </a:r>
                <a:r>
                  <a:rPr lang="en-US" sz="1000" dirty="0">
                    <a:latin typeface="Arial" panose="020B0604020202020204" pitchFamily="34" charset="0"/>
                    <a:cs typeface="Arial" panose="020B0604020202020204" pitchFamily="34" charset="0"/>
                  </a:rPr>
                  <a:t> es mayor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TE.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acumulan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desfase</a:t>
                </a:r>
                <a:r>
                  <a:rPr lang="en-US" sz="1000" dirty="0">
                    <a:latin typeface="Arial" panose="020B0604020202020204" pitchFamily="34" charset="0"/>
                    <a:cs typeface="Arial" panose="020B0604020202020204" pitchFamily="34" charset="0"/>
                  </a:rPr>
                  <a:t> de 180º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 </a:t>
                </a:r>
              </a:p>
              <a:p>
                <a:pPr algn="just"/>
                <a:r>
                  <a:rPr lang="en-US" sz="1000" dirty="0">
                    <a:latin typeface="Arial" panose="020B0604020202020204" pitchFamily="34" charset="0"/>
                    <a:cs typeface="Arial" panose="020B0604020202020204" pitchFamily="34" charset="0"/>
                  </a:rPr>
                  <a:t>Es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gráfica</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derecha</a:t>
                </a:r>
                <a:r>
                  <a:rPr lang="en-US" sz="1000" dirty="0">
                    <a:latin typeface="Arial" panose="020B0604020202020204" pitchFamily="34" charset="0"/>
                    <a:cs typeface="Arial" panose="020B0604020202020204" pitchFamily="34" charset="0"/>
                  </a:rPr>
                  <a:t> (la de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sí</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llega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apreciar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cómo</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llega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el coeficiente de acoplo vuelve a 0, y posteriormente la potencia se vuelve a acoplar en la otra guía.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para conseguir un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es decir el reparto de potencia al 50%, se debe de usar </a:t>
                </a:r>
                <a14:m>
                  <m:oMath xmlns:m="http://schemas.openxmlformats.org/officeDocument/2006/math">
                    <m:r>
                      <a:rPr lang="es-ES" sz="1000" b="0" i="1"/>
                      <m:t>𝐾</m:t>
                    </m:r>
                    <m:r>
                      <a:rPr lang="es-ES" sz="1000" b="0"/>
                      <m:t>=</m:t>
                    </m:r>
                    <m:r>
                      <a:rPr lang="es-ES" sz="1000" b="0" i="1"/>
                      <m:t>0</m:t>
                    </m:r>
                    <m:r>
                      <a:rPr lang="es-ES" sz="1000" b="0"/>
                      <m:t>.</m:t>
                    </m:r>
                    <m:r>
                      <a:rPr lang="es-ES" sz="1000" b="0" i="1"/>
                      <m:t>5</m:t>
                    </m:r>
                  </m:oMath>
                </a14:m>
                <a:r>
                  <a:rPr lang="es-ES" sz="1000" dirty="0">
                    <a:latin typeface="Arial" panose="020B0604020202020204" pitchFamily="34" charset="0"/>
                    <a:cs typeface="Arial" panose="020B0604020202020204" pitchFamily="34" charset="0"/>
                  </a:rPr>
                  <a:t>, que corresponde aproximadamente a L=</a:t>
                </a:r>
                <a14:m>
                  <m:oMath xmlns:m="http://schemas.openxmlformats.org/officeDocument/2006/math">
                    <m:sSub>
                      <m:sSubPr>
                        <m:ctrlPr>
                          <a:rPr lang="ar-AE" sz="1000"/>
                        </m:ctrlPr>
                      </m:sSubPr>
                      <m:e>
                        <m:r>
                          <a:rPr lang="ar-AE" sz="1000" b="0" i="1"/>
                          <m:t>𝐿</m:t>
                        </m:r>
                      </m:e>
                      <m:sub>
                        <m:r>
                          <a:rPr lang="ar-AE" sz="1000" b="0" i="1"/>
                          <m:t>𝜋</m:t>
                        </m:r>
                      </m:sub>
                    </m:sSub>
                    <m:r>
                      <a:rPr lang="ar-AE" sz="1000" b="0"/>
                      <m:t>/</m:t>
                    </m:r>
                    <m:r>
                      <a:rPr lang="ar-AE" sz="1000" b="0" i="1"/>
                      <m:t>2</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Por tanto, para TE la longitud necesaria para dividir la potencia en partes iguales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𝑇𝐸</m:t>
                        </m:r>
                      </m:sub>
                    </m:sSub>
                    <m:r>
                      <a:rPr lang="es-ES" sz="1000" b="0" i="1" smtClean="0">
                        <a:latin typeface="Cambria Math" panose="02040503050406030204" pitchFamily="18" charset="0"/>
                      </a:rPr>
                      <m:t>=</m:t>
                    </m:r>
                    <m:r>
                      <a:rPr lang="es-ES" sz="1000" b="0" i="1"/>
                      <m:t>46</m:t>
                    </m:r>
                    <m:r>
                      <a:rPr lang="es-ES" sz="1000" b="0"/>
                      <m:t>.</m:t>
                    </m:r>
                    <m:r>
                      <a:rPr lang="es-ES" sz="1000" b="0" i="1"/>
                      <m:t>92</m:t>
                    </m:r>
                    <m:r>
                      <m:rPr>
                        <m:nor/>
                      </m:rPr>
                      <a:rPr lang="es-ES" sz="1000" i="1">
                        <a:latin typeface="Arial" panose="020B0604020202020204" pitchFamily="34" charset="0"/>
                        <a:cs typeface="Arial" panose="020B0604020202020204" pitchFamily="34" charset="0"/>
                      </a:rPr>
                      <m:t> </m:t>
                    </m:r>
                    <m:r>
                      <a:rPr lang="es-ES" sz="1000" b="0" i="1"/>
                      <m:t>𝜇</m:t>
                    </m:r>
                    <m:r>
                      <a:rPr lang="es-ES" sz="1000" b="0" i="1"/>
                      <m:t>𝑚</m:t>
                    </m:r>
                  </m:oMath>
                </a14:m>
                <a:r>
                  <a:rPr lang="es-ES" sz="1000" dirty="0">
                    <a:latin typeface="Arial" panose="020B0604020202020204" pitchFamily="34" charset="0"/>
                    <a:cs typeface="Arial" panose="020B0604020202020204" pitchFamily="34" charset="0"/>
                  </a:rPr>
                  <a:t>, mientras que para TM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𝑇𝑀</m:t>
                        </m:r>
                      </m:sub>
                    </m:sSub>
                    <m:r>
                      <a:rPr lang="es-ES" sz="1000" b="0" i="1" smtClean="0">
                        <a:latin typeface="Cambria Math" panose="02040503050406030204" pitchFamily="18" charset="0"/>
                      </a:rPr>
                      <m:t>=</m:t>
                    </m:r>
                    <m:r>
                      <a:rPr lang="es-ES" sz="1000" b="0" i="1"/>
                      <m:t>26</m:t>
                    </m:r>
                    <m:r>
                      <a:rPr lang="es-ES" sz="1000" b="0"/>
                      <m:t>.</m:t>
                    </m:r>
                    <m:r>
                      <a:rPr lang="es-ES" sz="1000" b="0" i="1"/>
                      <m:t>13</m:t>
                    </m:r>
                    <m:r>
                      <m:rPr>
                        <m:nor/>
                      </m:rPr>
                      <a:rPr lang="es-ES" sz="1000" i="1">
                        <a:latin typeface="Arial" panose="020B0604020202020204" pitchFamily="34" charset="0"/>
                        <a:cs typeface="Arial" panose="020B0604020202020204" pitchFamily="34" charset="0"/>
                      </a:rPr>
                      <m:t> </m:t>
                    </m:r>
                    <m:r>
                      <a:rPr lang="es-ES" sz="1000" b="0" i="1"/>
                      <m:t>𝜇</m:t>
                    </m:r>
                    <m:r>
                      <a:rPr lang="es-ES" sz="1000" b="0" i="1"/>
                      <m:t>𝑚</m:t>
                    </m:r>
                  </m:oMath>
                </a14:m>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A74E8735-0FB2-5E94-5FCF-51BF0AC001AC}"/>
                  </a:ext>
                </a:extLst>
              </p:cNvPr>
              <p:cNvSpPr txBox="1">
                <a:spLocks noRot="1" noChangeAspect="1" noMove="1" noResize="1" noEditPoints="1" noAdjustHandles="1" noChangeArrowheads="1" noChangeShapeType="1" noTextEdit="1"/>
              </p:cNvSpPr>
              <p:nvPr/>
            </p:nvSpPr>
            <p:spPr>
              <a:xfrm>
                <a:off x="480239" y="1741764"/>
                <a:ext cx="11199971" cy="324524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6" name="Imagen 5" descr="Forma&#10;&#10;Descripción generada automáticamente con confianza media">
            <a:extLst>
              <a:ext uri="{FF2B5EF4-FFF2-40B4-BE49-F238E27FC236}">
                <a16:creationId xmlns:a16="http://schemas.microsoft.com/office/drawing/2014/main" id="{0DB5FD8C-2122-9F88-6212-9B140FF838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85020" y="761543"/>
            <a:ext cx="2057400" cy="598179"/>
          </a:xfrm>
          <a:prstGeom prst="rect">
            <a:avLst/>
          </a:prstGeom>
        </p:spPr>
      </p:pic>
    </p:spTree>
    <p:extLst>
      <p:ext uri="{BB962C8B-B14F-4D97-AF65-F5344CB8AC3E}">
        <p14:creationId xmlns:p14="http://schemas.microsoft.com/office/powerpoint/2010/main" val="2451903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EE9C704-B391-B131-1F5D-4DD8AD5DF363}"/>
              </a:ext>
            </a:extLst>
          </p:cNvPr>
          <p:cNvPicPr>
            <a:picLocks noChangeAspect="1"/>
          </p:cNvPicPr>
          <p:nvPr/>
        </p:nvPicPr>
        <p:blipFill>
          <a:blip r:embed="rId4"/>
          <a:stretch>
            <a:fillRect/>
          </a:stretch>
        </p:blipFill>
        <p:spPr>
          <a:xfrm>
            <a:off x="685800" y="2072953"/>
            <a:ext cx="3943900" cy="1000265"/>
          </a:xfrm>
          <a:prstGeom prst="rect">
            <a:avLst/>
          </a:prstGeom>
        </p:spPr>
      </p:pic>
      <p:pic>
        <p:nvPicPr>
          <p:cNvPr id="9" name="Imagen 8">
            <a:extLst>
              <a:ext uri="{FF2B5EF4-FFF2-40B4-BE49-F238E27FC236}">
                <a16:creationId xmlns:a16="http://schemas.microsoft.com/office/drawing/2014/main" id="{1C81A8C1-8E80-6811-58CB-205185D3AD83}"/>
              </a:ext>
            </a:extLst>
          </p:cNvPr>
          <p:cNvPicPr>
            <a:picLocks noChangeAspect="1"/>
          </p:cNvPicPr>
          <p:nvPr/>
        </p:nvPicPr>
        <p:blipFill>
          <a:blip r:embed="rId5"/>
          <a:stretch>
            <a:fillRect/>
          </a:stretch>
        </p:blipFill>
        <p:spPr>
          <a:xfrm>
            <a:off x="4785715" y="2104705"/>
            <a:ext cx="3229426" cy="1295581"/>
          </a:xfrm>
          <a:prstGeom prst="rect">
            <a:avLst/>
          </a:prstGeom>
        </p:spPr>
      </p:pic>
      <p:pic>
        <p:nvPicPr>
          <p:cNvPr id="11" name="Imagen 10">
            <a:extLst>
              <a:ext uri="{FF2B5EF4-FFF2-40B4-BE49-F238E27FC236}">
                <a16:creationId xmlns:a16="http://schemas.microsoft.com/office/drawing/2014/main" id="{7CD859A7-F320-FB4C-D944-EC3BEA7F8CCE}"/>
              </a:ext>
            </a:extLst>
          </p:cNvPr>
          <p:cNvPicPr>
            <a:picLocks noChangeAspect="1"/>
          </p:cNvPicPr>
          <p:nvPr/>
        </p:nvPicPr>
        <p:blipFill>
          <a:blip r:embed="rId6"/>
          <a:stretch>
            <a:fillRect/>
          </a:stretch>
        </p:blipFill>
        <p:spPr>
          <a:xfrm>
            <a:off x="8310134" y="2231265"/>
            <a:ext cx="3305636" cy="543001"/>
          </a:xfrm>
          <a:prstGeom prst="rect">
            <a:avLst/>
          </a:prstGeom>
        </p:spPr>
      </p:pic>
      <p:pic>
        <p:nvPicPr>
          <p:cNvPr id="13" name="Imagen 12">
            <a:extLst>
              <a:ext uri="{FF2B5EF4-FFF2-40B4-BE49-F238E27FC236}">
                <a16:creationId xmlns:a16="http://schemas.microsoft.com/office/drawing/2014/main" id="{7553E6A3-D014-F1D5-E621-BBEB4D72F82B}"/>
              </a:ext>
            </a:extLst>
          </p:cNvPr>
          <p:cNvPicPr>
            <a:picLocks noChangeAspect="1"/>
          </p:cNvPicPr>
          <p:nvPr/>
        </p:nvPicPr>
        <p:blipFill>
          <a:blip r:embed="rId7"/>
          <a:stretch>
            <a:fillRect/>
          </a:stretch>
        </p:blipFill>
        <p:spPr>
          <a:xfrm>
            <a:off x="1012550" y="3429610"/>
            <a:ext cx="3566356" cy="1804121"/>
          </a:xfrm>
          <a:prstGeom prst="rect">
            <a:avLst/>
          </a:prstGeom>
        </p:spPr>
      </p:pic>
      <p:pic>
        <p:nvPicPr>
          <p:cNvPr id="15" name="Imagen 14">
            <a:extLst>
              <a:ext uri="{FF2B5EF4-FFF2-40B4-BE49-F238E27FC236}">
                <a16:creationId xmlns:a16="http://schemas.microsoft.com/office/drawing/2014/main" id="{9413EF78-A4E1-A640-28AE-59A15A4553F3}"/>
              </a:ext>
            </a:extLst>
          </p:cNvPr>
          <p:cNvPicPr>
            <a:picLocks noChangeAspect="1"/>
          </p:cNvPicPr>
          <p:nvPr/>
        </p:nvPicPr>
        <p:blipFill>
          <a:blip r:embed="rId8"/>
          <a:stretch>
            <a:fillRect/>
          </a:stretch>
        </p:blipFill>
        <p:spPr>
          <a:xfrm>
            <a:off x="8504501" y="3423390"/>
            <a:ext cx="3150975" cy="1804121"/>
          </a:xfrm>
          <a:prstGeom prst="rect">
            <a:avLst/>
          </a:prstGeom>
        </p:spPr>
      </p:pic>
      <p:pic>
        <p:nvPicPr>
          <p:cNvPr id="18" name="Imagen 17">
            <a:extLst>
              <a:ext uri="{FF2B5EF4-FFF2-40B4-BE49-F238E27FC236}">
                <a16:creationId xmlns:a16="http://schemas.microsoft.com/office/drawing/2014/main" id="{42860E7A-B049-8202-BFB8-0F57448EC2BF}"/>
              </a:ext>
            </a:extLst>
          </p:cNvPr>
          <p:cNvPicPr>
            <a:picLocks noChangeAspect="1"/>
          </p:cNvPicPr>
          <p:nvPr/>
        </p:nvPicPr>
        <p:blipFill>
          <a:blip r:embed="rId9"/>
          <a:stretch>
            <a:fillRect/>
          </a:stretch>
        </p:blipFill>
        <p:spPr>
          <a:xfrm>
            <a:off x="4785715" y="3423390"/>
            <a:ext cx="3524419" cy="1804121"/>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B1280-098C-7B8C-B51D-DB3557C20F1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8234B5-5001-CCFB-11F6-19C8C5D76AE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2E1A214-CF83-731C-D96E-484909E64D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1A3A09A-4351-09EC-2B23-1F794F9870C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7D7AE817-D6C9-8213-C772-38BEF7166AB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43856910-DA26-80D4-8490-DFECDBE8142A}"/>
                  </a:ext>
                </a:extLst>
              </p:cNvPr>
              <p:cNvSpPr txBox="1"/>
              <p:nvPr/>
            </p:nvSpPr>
            <p:spPr>
              <a:xfrm>
                <a:off x="480239" y="1447800"/>
                <a:ext cx="11199971" cy="332398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 )</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simulado un acoplador direccional 2x2 diseñado para funcionar como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50:50. Para ello se ha realizado un barrido del gap entre las dos guías, desde 0.2 µm hasta 1.2 µm, y para cada caso se ha ajustado la longitud de la región de acoplo para obtener dos salidas con la misma potencia.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simulaciones se observa que, cuando el gap es menor, las guías están más próximas y el acoplo es más fuerte. Por tanto, la longitud necesaria para obtener el reparto 50:50 es menor. En cambio, cuando el gap aumenta, el solapamiento entre los campos de ambas guías disminuye, por lo que el coeficiente de acoplo es menor y se necesita una longitud de acoplo mucho mayor. Esto se ve en los resultados, donde aparecen longitudes muy diferentes, como 47.01 µm, 12.91 µm y 290.21 µm respectivamente, dependiendo del gap utilizado.</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todos los casos, el reparto entre las dos salidas es prácticamente equilibrado, con ratios cercanos a 0.5/0.5 (ratio </a:t>
                </a:r>
                <a:r>
                  <a:rPr lang="es-ES" sz="1000" dirty="0" err="1">
                    <a:latin typeface="Arial" panose="020B0604020202020204" pitchFamily="34" charset="0"/>
                    <a:cs typeface="Arial" panose="020B0604020202020204" pitchFamily="34" charset="0"/>
                  </a:rPr>
                  <a:t>over</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OUTs</a:t>
                </a:r>
                <a:r>
                  <a:rPr lang="es-ES" sz="1000" dirty="0">
                    <a:latin typeface="Arial" panose="020B0604020202020204" pitchFamily="34" charset="0"/>
                    <a:cs typeface="Arial" panose="020B0604020202020204" pitchFamily="34" charset="0"/>
                  </a:rPr>
                  <a:t>). Esto indica que el diseño está funcionando correctamente como acoplador 3 dB, pero las pérdidas no son iguales en todos los casos (se obtienen pérdidas de 0.19 dB, 1.20 dB y 0.55 dB respectivamente). Por tanto, además de conseguir un reparto 50:50, también hay que comparar las pérdidas para escoger el diseño más adecuado.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al aumentar el gap disminuye el acoplo entre las guías y aumenta la longitud necesaria para conseguir el mismo reparto de potencia. El mejor diseño será el que consiga una relación de salida cercana a 50:50 con la menor pérdida posible y una longitud para el dispositivo razonable.</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mejor caso es el del acoplador con una longitud de 87 µm, ya que mantiene una relación de salida cercana a 0.5/0.5, presenta pérdidas bajas y no requiere una longitud excesivamente grande. Los gaps más pequeños permiten acopladores más cortos porque el acoplo es más fuerte y </a:t>
                </a:r>
                <a14:m>
                  <m:oMath xmlns:m="http://schemas.openxmlformats.org/officeDocument/2006/math">
                    <m:sSub>
                      <m:sSubPr>
                        <m:ctrlPr>
                          <a:rPr lang="ar-AE" sz="1000"/>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es menor, pero en las simulaciones presentan más pérdidas. En cambio, los gaps más grandes reducen las pérdidas, pero necesitan longitudes mucho mayores porque el acoplo entre las guías es más débil. Por tanto, el diseño de 87 µm representa un compromiso adecuado entre longitud, pérdidas y reparto de potencia.</a:t>
                </a:r>
                <a:endParaRPr lang="en-US" sz="10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43856910-DA26-80D4-8490-DFECDBE8142A}"/>
                  </a:ext>
                </a:extLst>
              </p:cNvPr>
              <p:cNvSpPr txBox="1">
                <a:spLocks noRot="1" noChangeAspect="1" noMove="1" noResize="1" noEditPoints="1" noAdjustHandles="1" noChangeArrowheads="1" noChangeShapeType="1" noTextEdit="1"/>
              </p:cNvSpPr>
              <p:nvPr/>
            </p:nvSpPr>
            <p:spPr>
              <a:xfrm>
                <a:off x="480239" y="1447800"/>
                <a:ext cx="11199971" cy="332398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62609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014D3-D6A9-670F-844B-9B7F4B08595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8719923-04BA-05E4-A67E-F6AB6E46C3F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0B57D7C-2E28-993D-4CD6-20DC9ABEBD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BE3CB9-42ED-2B6F-078A-0A6932FB346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3CCB49B-A241-AEAA-BEC6-1B4FA3D84E1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C2F5DD9F-26F4-7A98-0433-9542E9E8403D}"/>
              </a:ext>
            </a:extLst>
          </p:cNvPr>
          <p:cNvSpPr/>
          <p:nvPr/>
        </p:nvSpPr>
        <p:spPr>
          <a:xfrm>
            <a:off x="456581"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FBDE452C-5712-1B41-8AA8-BAB66E2D77DF}"/>
              </a:ext>
            </a:extLst>
          </p:cNvPr>
          <p:cNvSpPr/>
          <p:nvPr/>
        </p:nvSpPr>
        <p:spPr>
          <a:xfrm>
            <a:off x="6168564"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CuadroTexto 8">
                <a:extLst>
                  <a:ext uri="{FF2B5EF4-FFF2-40B4-BE49-F238E27FC236}">
                    <a16:creationId xmlns:a16="http://schemas.microsoft.com/office/drawing/2014/main" id="{EADAAAC6-11F2-6A95-5F56-E9D8239C0183}"/>
                  </a:ext>
                </a:extLst>
              </p:cNvPr>
              <p:cNvSpPr txBox="1"/>
              <p:nvPr/>
            </p:nvSpPr>
            <p:spPr>
              <a:xfrm>
                <a:off x="1243947" y="2963480"/>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p:sp>
            <p:nvSpPr>
              <p:cNvPr id="9" name="CuadroTexto 8">
                <a:extLst>
                  <a:ext uri="{FF2B5EF4-FFF2-40B4-BE49-F238E27FC236}">
                    <a16:creationId xmlns:a16="http://schemas.microsoft.com/office/drawing/2014/main" id="{EADAAAC6-11F2-6A95-5F56-E9D8239C0183}"/>
                  </a:ext>
                </a:extLst>
              </p:cNvPr>
              <p:cNvSpPr txBox="1">
                <a:spLocks noRot="1" noChangeAspect="1" noMove="1" noResize="1" noEditPoints="1" noAdjustHandles="1" noChangeArrowheads="1" noChangeShapeType="1" noTextEdit="1"/>
              </p:cNvSpPr>
              <p:nvPr/>
            </p:nvSpPr>
            <p:spPr>
              <a:xfrm>
                <a:off x="1243947" y="2963480"/>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F9EF8FB0-EFB8-2457-5C44-4C20A63DCBBB}"/>
                  </a:ext>
                </a:extLst>
              </p:cNvPr>
              <p:cNvSpPr txBox="1"/>
              <p:nvPr/>
            </p:nvSpPr>
            <p:spPr>
              <a:xfrm>
                <a:off x="6730506" y="308375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p:sp>
            <p:nvSpPr>
              <p:cNvPr id="10" name="CuadroTexto 9">
                <a:extLst>
                  <a:ext uri="{FF2B5EF4-FFF2-40B4-BE49-F238E27FC236}">
                    <a16:creationId xmlns:a16="http://schemas.microsoft.com/office/drawing/2014/main" id="{F9EF8FB0-EFB8-2457-5C44-4C20A63DCBBB}"/>
                  </a:ext>
                </a:extLst>
              </p:cNvPr>
              <p:cNvSpPr txBox="1">
                <a:spLocks noRot="1" noChangeAspect="1" noMove="1" noResize="1" noEditPoints="1" noAdjustHandles="1" noChangeArrowheads="1" noChangeShapeType="1" noTextEdit="1"/>
              </p:cNvSpPr>
              <p:nvPr/>
            </p:nvSpPr>
            <p:spPr>
              <a:xfrm>
                <a:off x="6730506" y="3083756"/>
                <a:ext cx="4546634" cy="1477328"/>
              </a:xfrm>
              <a:prstGeom prst="rect">
                <a:avLst/>
              </a:prstGeom>
              <a:blipFill>
                <a:blip r:embed="rId5"/>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9FC82E3C-4C5C-707F-F65C-0DD50EE74889}"/>
              </a:ext>
            </a:extLst>
          </p:cNvPr>
          <p:cNvPicPr>
            <a:picLocks noChangeAspect="1"/>
          </p:cNvPicPr>
          <p:nvPr/>
        </p:nvPicPr>
        <p:blipFill>
          <a:blip r:embed="rId6"/>
          <a:stretch>
            <a:fillRect/>
          </a:stretch>
        </p:blipFill>
        <p:spPr>
          <a:xfrm>
            <a:off x="489652" y="1851090"/>
            <a:ext cx="5269827" cy="3235858"/>
          </a:xfrm>
          <a:prstGeom prst="rect">
            <a:avLst/>
          </a:prstGeom>
        </p:spPr>
      </p:pic>
      <p:pic>
        <p:nvPicPr>
          <p:cNvPr id="11" name="Imagen 10">
            <a:extLst>
              <a:ext uri="{FF2B5EF4-FFF2-40B4-BE49-F238E27FC236}">
                <a16:creationId xmlns:a16="http://schemas.microsoft.com/office/drawing/2014/main" id="{11BAB563-44C9-72A5-C01F-E20A35B08EF1}"/>
              </a:ext>
            </a:extLst>
          </p:cNvPr>
          <p:cNvPicPr>
            <a:picLocks noChangeAspect="1"/>
          </p:cNvPicPr>
          <p:nvPr/>
        </p:nvPicPr>
        <p:blipFill>
          <a:blip r:embed="rId7"/>
          <a:stretch>
            <a:fillRect/>
          </a:stretch>
        </p:blipFill>
        <p:spPr>
          <a:xfrm>
            <a:off x="6244867" y="1869393"/>
            <a:ext cx="5209714" cy="3197629"/>
          </a:xfrm>
          <a:prstGeom prst="rect">
            <a:avLst/>
          </a:prstGeom>
        </p:spPr>
      </p:pic>
    </p:spTree>
    <p:extLst>
      <p:ext uri="{BB962C8B-B14F-4D97-AF65-F5344CB8AC3E}">
        <p14:creationId xmlns:p14="http://schemas.microsoft.com/office/powerpoint/2010/main" val="5335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7FF6-20C6-306B-392F-B30B36DB5F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B5050EA-EA18-1061-9B65-D0E99195CE6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21F9B4C1-11FA-A69E-044B-6B05A03AAC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20F23B6-7ACA-9E95-81F4-FA1B2D3F037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A1A25F9-9773-2BBB-FDC4-1095A5EF704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220BAC5F-CBE4-F51D-1942-89C991D6883E}"/>
                  </a:ext>
                </a:extLst>
              </p:cNvPr>
              <p:cNvSpPr txBox="1"/>
              <p:nvPr/>
            </p:nvSpPr>
            <p:spPr>
              <a:xfrm>
                <a:off x="381000" y="1752600"/>
                <a:ext cx="11430000" cy="31700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Hints:</a:t>
                </a:r>
              </a:p>
              <a:p>
                <a:pPr algn="just"/>
                <a:r>
                  <a:rPr lang="en-US" sz="1200" b="1" i="1"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b="1" i="1" dirty="0" err="1">
                    <a:latin typeface="Arial" panose="020B0604020202020204" pitchFamily="34" charset="0"/>
                    <a:cs typeface="Arial" panose="020B0604020202020204" pitchFamily="34" charset="0"/>
                  </a:rPr>
                  <a:t>wvl</a:t>
                </a:r>
                <a:r>
                  <a:rPr lang="en-US" sz="1200" b="1" i="1" dirty="0">
                    <a:latin typeface="Arial" panose="020B0604020202020204" pitchFamily="34" charset="0"/>
                    <a:cs typeface="Arial" panose="020B0604020202020204" pitchFamily="34" charset="0"/>
                  </a:rPr>
                  <a:t> 1.55 µm.</a:t>
                </a:r>
              </a:p>
              <a:p>
                <a:pPr algn="just"/>
                <a:endParaRPr lang="en-US" sz="10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la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teórica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necesaria</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conseguir</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 0.01, y para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de 10 mm, </a:t>
                </a:r>
                <a:r>
                  <a:rPr lang="en-US" sz="1000" dirty="0" err="1">
                    <a:latin typeface="Arial" panose="020B0604020202020204" pitchFamily="34" charset="0"/>
                    <a:cs typeface="Arial" panose="020B0604020202020204" pitchFamily="34" charset="0"/>
                  </a:rPr>
                  <a:t>consiguiendo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resultante</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156.81 mm</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Este criterio significa que menos del 1% de la potencia se transfiere a la otra guía, por lo que las guías pueden considerarse desacopladas. </a:t>
                </a: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deep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del gap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objetivo</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encontrar la separación mínima entre guías que permite alcanzar dicha </a:t>
                </a:r>
                <a14:m>
                  <m:oMath xmlns:m="http://schemas.openxmlformats.org/officeDocument/2006/math">
                    <m:sSub>
                      <m:sSubPr>
                        <m:ctrlPr>
                          <a:rPr lang="ar-AE" sz="1000"/>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teórica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este caso, se obtiene un gap mínimo de 3.39 µm, con una </a:t>
                </a:r>
                <a14:m>
                  <m:oMath xmlns:m="http://schemas.openxmlformats.org/officeDocument/2006/math">
                    <m:sSub>
                      <m:sSubPr>
                        <m:ctrlPr>
                          <a:rPr lang="ar-AE" sz="1000"/>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156.91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Por tanto, a partir de este gap, el acoplo entre guías es suficientemente bajo para considerar que están desacopladas en una longitud de 10 </a:t>
                </a:r>
                <a:r>
                  <a:rPr lang="es-ES" sz="1000" dirty="0" err="1">
                    <a:latin typeface="Arial" panose="020B0604020202020204" pitchFamily="34" charset="0"/>
                    <a:cs typeface="Arial" panose="020B0604020202020204" pitchFamily="34" charset="0"/>
                  </a:rPr>
                  <a:t>mm.</a:t>
                </a:r>
                <a:endParaRPr lang="es-E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mismo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procedimiento</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shallow y </a:t>
                </a:r>
                <a:r>
                  <a:rPr lang="en-US" sz="1000" dirty="0" err="1">
                    <a:latin typeface="Arial" panose="020B0604020202020204" pitchFamily="34" charset="0"/>
                    <a:cs typeface="Arial" panose="020B0604020202020204" pitchFamily="34" charset="0"/>
                  </a:rPr>
                  <a:t>definiendo</a:t>
                </a:r>
                <a:r>
                  <a:rPr lang="en-US" sz="1000" dirty="0">
                    <a:latin typeface="Arial" panose="020B0604020202020204" pitchFamily="34" charset="0"/>
                    <a:cs typeface="Arial" panose="020B0604020202020204" pitchFamily="34" charset="0"/>
                  </a:rPr>
                  <a:t> un slab de 150 nm. </a:t>
                </a:r>
                <a:r>
                  <a:rPr lang="es-ES" sz="1000" dirty="0">
                    <a:latin typeface="Arial" panose="020B0604020202020204" pitchFamily="34" charset="0"/>
                    <a:cs typeface="Arial" panose="020B0604020202020204" pitchFamily="34" charset="0"/>
                  </a:rPr>
                  <a:t>En este caso, el gap mínimo obtenido es mayor, de 4.49 µm, con una </a:t>
                </a:r>
                <a14:m>
                  <m:oMath xmlns:m="http://schemas.openxmlformats.org/officeDocument/2006/math">
                    <m:sSub>
                      <m:sSubPr>
                        <m:ctrlPr>
                          <a:rPr lang="ar-AE" sz="1000"/>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179.37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Esto ocurre porque en una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campo óptico está menos confinado y se extiende más por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aumentando el solapamiento con la guía vecina. Por tanto, se necesita una separación mayor para reducir el acoplo hasta </a:t>
                </a:r>
                <a14:m>
                  <m:oMath xmlns:m="http://schemas.openxmlformats.org/officeDocument/2006/math">
                    <m:r>
                      <a:rPr lang="es-ES" sz="1000" b="0" i="1" smtClean="0">
                        <a:latin typeface="Cambria Math" panose="02040503050406030204" pitchFamily="18" charset="0"/>
                      </a:rPr>
                      <m:t>𝐾</m:t>
                    </m:r>
                    <m:r>
                      <a:rPr lang="es-ES" sz="1000" b="0" smtClean="0">
                        <a:latin typeface="Cambria Math" panose="02040503050406030204" pitchFamily="18" charset="0"/>
                      </a:rPr>
                      <m:t>&lt;</m:t>
                    </m:r>
                    <m:r>
                      <a:rPr lang="es-ES" sz="1000" b="0" i="1" smtClean="0">
                        <a:latin typeface="Cambria Math" panose="02040503050406030204" pitchFamily="18" charset="0"/>
                      </a:rPr>
                      <m:t>0</m:t>
                    </m:r>
                    <m:r>
                      <a:rPr lang="es-ES" sz="1000" b="0" smtClean="0">
                        <a:latin typeface="Cambria Math" panose="02040503050406030204" pitchFamily="18" charset="0"/>
                      </a:rPr>
                      <m:t>.</m:t>
                    </m:r>
                    <m:r>
                      <a:rPr lang="es-ES" sz="1000" b="0" i="1" smtClean="0">
                        <a:latin typeface="Cambria Math" panose="02040503050406030204" pitchFamily="18" charset="0"/>
                      </a:rPr>
                      <m:t>01</m:t>
                    </m:r>
                  </m:oMath>
                </a14:m>
                <a:r>
                  <a:rPr lang="es-ES" sz="1000" dirty="0">
                    <a:latin typeface="Arial" panose="020B0604020202020204" pitchFamily="34" charset="0"/>
                    <a:cs typeface="Arial" panose="020B0604020202020204" pitchFamily="34" charset="0"/>
                  </a:rPr>
                  <a:t>.</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la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permite usar un gap menor porque el modo está más confinado en el núcleo, mientras que la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requiere un gap mayor debido a que el campo se extiende más lateralmente.</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220BAC5F-CBE4-F51D-1942-89C991D6883E}"/>
                  </a:ext>
                </a:extLst>
              </p:cNvPr>
              <p:cNvSpPr txBox="1">
                <a:spLocks noRot="1" noChangeAspect="1" noMove="1" noResize="1" noEditPoints="1" noAdjustHandles="1" noChangeArrowheads="1" noChangeShapeType="1" noTextEdit="1"/>
              </p:cNvSpPr>
              <p:nvPr/>
            </p:nvSpPr>
            <p:spPr>
              <a:xfrm>
                <a:off x="381000" y="1752600"/>
                <a:ext cx="11430000" cy="317009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43339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Tree>
    <p:extLst>
      <p:ext uri="{BB962C8B-B14F-4D97-AF65-F5344CB8AC3E}">
        <p14:creationId xmlns:p14="http://schemas.microsoft.com/office/powerpoint/2010/main" val="1802451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D39F-8E35-E515-5985-5DC0F0DF5B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4E52CA-7A26-9B97-5DD9-ECAAFB80216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79C13F5-93F1-63B4-3EFE-3570D4635C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40C3E3-1D24-F349-5861-CA6E338D03C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1D0770C-BBA8-F3AA-5BA3-EFD9FA31CC4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475AF3A-324C-316C-4247-F6B699D89F62}"/>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p:pic>
        <p:nvPicPr>
          <p:cNvPr id="6" name="Imagen 5">
            <a:extLst>
              <a:ext uri="{FF2B5EF4-FFF2-40B4-BE49-F238E27FC236}">
                <a16:creationId xmlns:a16="http://schemas.microsoft.com/office/drawing/2014/main" id="{812E9FA3-F3CC-CFC8-06B6-9F7031F4DB4D}"/>
              </a:ext>
            </a:extLst>
          </p:cNvPr>
          <p:cNvPicPr>
            <a:picLocks noChangeAspect="1"/>
          </p:cNvPicPr>
          <p:nvPr/>
        </p:nvPicPr>
        <p:blipFill>
          <a:blip r:embed="rId4"/>
          <a:stretch>
            <a:fillRect/>
          </a:stretch>
        </p:blipFill>
        <p:spPr>
          <a:xfrm>
            <a:off x="990601" y="1833465"/>
            <a:ext cx="4191000" cy="2982058"/>
          </a:xfrm>
          <a:prstGeom prst="rect">
            <a:avLst/>
          </a:prstGeom>
        </p:spPr>
      </p:pic>
      <p:pic>
        <p:nvPicPr>
          <p:cNvPr id="8" name="Imagen 7">
            <a:extLst>
              <a:ext uri="{FF2B5EF4-FFF2-40B4-BE49-F238E27FC236}">
                <a16:creationId xmlns:a16="http://schemas.microsoft.com/office/drawing/2014/main" id="{A07D9B81-857E-DAD5-AE0C-10C559D262A7}"/>
              </a:ext>
            </a:extLst>
          </p:cNvPr>
          <p:cNvPicPr>
            <a:picLocks noChangeAspect="1"/>
          </p:cNvPicPr>
          <p:nvPr/>
        </p:nvPicPr>
        <p:blipFill>
          <a:blip r:embed="rId5"/>
          <a:stretch>
            <a:fillRect/>
          </a:stretch>
        </p:blipFill>
        <p:spPr>
          <a:xfrm>
            <a:off x="5791200" y="1844351"/>
            <a:ext cx="4252156" cy="2971172"/>
          </a:xfrm>
          <a:prstGeom prst="rect">
            <a:avLst/>
          </a:prstGeom>
        </p:spPr>
      </p:pic>
    </p:spTree>
    <p:extLst>
      <p:ext uri="{BB962C8B-B14F-4D97-AF65-F5344CB8AC3E}">
        <p14:creationId xmlns:p14="http://schemas.microsoft.com/office/powerpoint/2010/main" val="3957791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DDEA-6C22-D6BE-A111-47CCB5EFDC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5E5BEC8-4FC6-6F66-C7A7-07628D2DB6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5E32DD65-6E81-4E67-9CA0-51358BA992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DF9E22-DF47-584B-513C-39932253DE6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95B1817-6642-879F-1A4B-3A615069800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A9E5C68-0EB3-D16B-0845-3B78FBAC58E5}"/>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C79C9142-6057-26BD-DF47-70CCF3F3D226}"/>
                  </a:ext>
                </a:extLst>
              </p:cNvPr>
              <p:cNvSpPr txBox="1"/>
              <p:nvPr/>
            </p:nvSpPr>
            <p:spPr>
              <a:xfrm>
                <a:off x="534989" y="1293791"/>
                <a:ext cx="11199971" cy="263136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estudiado la sección transversal del cuerpo de un acoplador MMI. A diferencia del acoplador direccional, donde había dos guías próximas, en este caso se define una única guía multimodo mucho más ancha. Concretamente, se ha usado un ancho de </a:t>
                </a:r>
                <a14:m>
                  <m:oMath xmlns:m="http://schemas.openxmlformats.org/officeDocument/2006/math">
                    <m:r>
                      <a:rPr lang="es-ES" sz="1000"/>
                      <m:t>12</m:t>
                    </m:r>
                    <m:r>
                      <m:rPr>
                        <m:nor/>
                      </m:rPr>
                      <a:rPr lang="es-ES" sz="1000" i="1">
                        <a:latin typeface="Arial" panose="020B0604020202020204" pitchFamily="34" charset="0"/>
                        <a:cs typeface="Arial" panose="020B0604020202020204" pitchFamily="34" charset="0"/>
                      </a:rPr>
                      <m:t> </m:t>
                    </m:r>
                    <m:r>
                      <a:rPr lang="es-ES" sz="1000" i="1"/>
                      <m:t>𝜇</m:t>
                    </m:r>
                    <m:r>
                      <a:rPr lang="es-ES" sz="1000" i="1"/>
                      <m:t>𝑚</m:t>
                    </m:r>
                  </m:oMath>
                </a14:m>
                <a:r>
                  <a:rPr lang="es-ES" sz="1000" dirty="0">
                    <a:latin typeface="Arial" panose="020B0604020202020204" pitchFamily="34" charset="0"/>
                    <a:cs typeface="Arial" panose="020B0604020202020204" pitchFamily="34" charset="0"/>
                  </a:rPr>
                  <a:t>, una altura de 300 nm y una longitud de onda de </a:t>
                </a:r>
                <a14:m>
                  <m:oMath xmlns:m="http://schemas.openxmlformats.org/officeDocument/2006/math">
                    <m:r>
                      <a:rPr lang="es-ES" sz="1000"/>
                      <m:t>1</m:t>
                    </m:r>
                    <m:r>
                      <a:rPr lang="es-ES" sz="1000"/>
                      <m:t>.</m:t>
                    </m:r>
                    <m:r>
                      <a:rPr lang="es-ES" sz="1000"/>
                      <m:t>55</m:t>
                    </m:r>
                    <m:r>
                      <m:rPr>
                        <m:nor/>
                      </m:rPr>
                      <a:rPr lang="es-ES" sz="1000" i="1">
                        <a:latin typeface="Arial" panose="020B0604020202020204" pitchFamily="34" charset="0"/>
                        <a:cs typeface="Arial" panose="020B0604020202020204" pitchFamily="34" charset="0"/>
                      </a:rPr>
                      <m:t> </m:t>
                    </m:r>
                    <m:r>
                      <a:rPr lang="es-ES" sz="1000" i="1"/>
                      <m:t>𝜇</m:t>
                    </m:r>
                    <m:r>
                      <a:rPr lang="es-ES" sz="1000" i="1"/>
                      <m:t>𝑚</m:t>
                    </m:r>
                  </m:oMath>
                </a14:m>
                <a:r>
                  <a:rPr lang="es-ES" sz="1000" dirty="0">
                    <a:latin typeface="Arial" panose="020B0604020202020204" pitchFamily="34" charset="0"/>
                    <a:cs typeface="Arial" panose="020B0604020202020204" pitchFamily="34" charset="0"/>
                  </a:rPr>
                  <a:t>. Además, se ha definido como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thickness</a:t>
                </a:r>
                <a:r>
                  <a:rPr lang="es-ES" sz="1000" dirty="0">
                    <a:latin typeface="Arial" panose="020B0604020202020204" pitchFamily="34" charset="0"/>
                    <a:cs typeface="Arial" panose="020B0604020202020204" pitchFamily="34" charset="0"/>
                  </a:rPr>
                  <a:t> es 0 nm.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Al ser una guía ancha, esta estructura soporta la propagación de varios modos, en concreto se han calculado 20 modos. Los resultados muestran los índices efectivos </a:t>
                </a:r>
                <a14:m>
                  <m:oMath xmlns:m="http://schemas.openxmlformats.org/officeDocument/2006/math">
                    <m:sSub>
                      <m:sSubPr>
                        <m:ctrlPr>
                          <a:rPr lang="ar-AE" sz="1000"/>
                        </m:ctrlPr>
                      </m:sSubPr>
                      <m:e>
                        <m:r>
                          <a:rPr lang="ar-AE" sz="1000" i="1"/>
                          <m:t>𝑛</m:t>
                        </m:r>
                      </m:e>
                      <m:sub>
                        <m:r>
                          <m:rPr>
                            <m:nor/>
                          </m:rPr>
                          <a:rPr lang="es-ES" sz="1000" i="1">
                            <a:latin typeface="Arial" panose="020B0604020202020204" pitchFamily="34" charset="0"/>
                            <a:cs typeface="Arial" panose="020B0604020202020204" pitchFamily="34" charset="0"/>
                          </a:rPr>
                          <m:t>eff</m:t>
                        </m:r>
                      </m:sub>
                    </m:sSub>
                  </m:oMath>
                </a14:m>
                <a:r>
                  <a:rPr lang="es-ES" sz="1000" dirty="0">
                    <a:latin typeface="Arial" panose="020B0604020202020204" pitchFamily="34" charset="0"/>
                    <a:cs typeface="Arial" panose="020B0604020202020204" pitchFamily="34" charset="0"/>
                  </a:rPr>
                  <a:t> de esos modos y también la fracción TE, que permite identificar si cada modo es principalmente TE o TM. En este caso, los primeros modos presentan una fracción TE cercana a 1, por lo que corresponden principalmente a modos TE, mientras que los modos con fracción baja corresponden a modos TM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imágenes se muestran algunos campos modales de la componente </a:t>
                </a:r>
                <a14:m>
                  <m:oMath xmlns:m="http://schemas.openxmlformats.org/officeDocument/2006/math">
                    <m:sSub>
                      <m:sSubPr>
                        <m:ctrlPr>
                          <a:rPr lang="ar-AE" sz="1000"/>
                        </m:ctrlPr>
                      </m:sSubPr>
                      <m:e>
                        <m:r>
                          <a:rPr lang="ar-AE" sz="1000" i="1"/>
                          <m:t>𝐸</m:t>
                        </m:r>
                      </m:e>
                      <m:sub>
                        <m:r>
                          <a:rPr lang="ar-AE" sz="1000" i="1"/>
                          <m:t>𝑥</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modo 0 corresponde al modo fundamental, con un único máximo centrado y sin cambios de signo. El modo 1 presenta dos lóbulos con signo opuesto, por lo que corresponde a un modo de orden superior. También se ha representado el modo 7, donde aparecen varios lóbulos alternando signo positivo y negativo a lo largo del ancho del MMI, confirmando que el cuerpo del MMI es multimodo.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Finalmente, a partir de los dos primeros modos TE se calcula la longitud </a:t>
                </a:r>
                <a14:m>
                  <m:oMath xmlns:m="http://schemas.openxmlformats.org/officeDocument/2006/math">
                    <m:sSub>
                      <m:sSubPr>
                        <m:ctrlPr>
                          <a:rPr lang="ar-AE" sz="1000"/>
                        </m:ctrlPr>
                      </m:sSubPr>
                      <m:e>
                        <m:r>
                          <a:rPr lang="ar-AE" sz="1000" i="1"/>
                          <m:t>𝐿</m:t>
                        </m:r>
                      </m:e>
                      <m:sub>
                        <m:r>
                          <a:rPr lang="ar-AE" sz="1000" i="1"/>
                          <m:t>𝜋</m:t>
                        </m:r>
                      </m:sub>
                    </m:sSub>
                    <m:r>
                      <a:rPr lang="es-ES" sz="1000" b="0" i="0" smtClean="0">
                        <a:latin typeface="Cambria Math" panose="02040503050406030204" pitchFamily="18" charset="0"/>
                      </a:rPr>
                      <m:t>,</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usando la diferencia entre sus índices efectivos, obteniendo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ar-AE" sz="1000">
                        <a:latin typeface="Cambria Math" panose="02040503050406030204" pitchFamily="18" charset="0"/>
                      </a:rPr>
                      <m:t>=</m:t>
                    </m:r>
                    <m:r>
                      <a:rPr lang="ar-AE" sz="1000">
                        <a:latin typeface="Cambria Math" panose="02040503050406030204" pitchFamily="18" charset="0"/>
                      </a:rPr>
                      <m:t>219</m:t>
                    </m:r>
                    <m:r>
                      <a:rPr lang="ar-AE" sz="1000">
                        <a:latin typeface="Cambria Math" panose="02040503050406030204" pitchFamily="18" charset="0"/>
                      </a:rPr>
                      <m:t>.</m:t>
                    </m:r>
                    <m:r>
                      <a:rPr lang="ar-AE" sz="1000">
                        <a:latin typeface="Cambria Math" panose="02040503050406030204" pitchFamily="18" charset="0"/>
                      </a:rPr>
                      <m:t>41</m:t>
                    </m:r>
                    <m:r>
                      <m:rPr>
                        <m:nor/>
                      </m:rPr>
                      <a:rPr lang="ar-AE" sz="1000" i="1">
                        <a:latin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endParaRPr lang="es-ES" sz="10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C79C9142-6057-26BD-DF47-70CCF3F3D226}"/>
                  </a:ext>
                </a:extLst>
              </p:cNvPr>
              <p:cNvSpPr txBox="1">
                <a:spLocks noRot="1" noChangeAspect="1" noMove="1" noResize="1" noEditPoints="1" noAdjustHandles="1" noChangeArrowheads="1" noChangeShapeType="1" noTextEdit="1"/>
              </p:cNvSpPr>
              <p:nvPr/>
            </p:nvSpPr>
            <p:spPr>
              <a:xfrm>
                <a:off x="534989" y="1293791"/>
                <a:ext cx="11199971" cy="263136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16563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25</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1070</TotalTime>
  <Words>3265</Words>
  <Application>Microsoft Office PowerPoint</Application>
  <PresentationFormat>Panorámica</PresentationFormat>
  <Paragraphs>289</Paragraphs>
  <Slides>25</Slides>
  <Notes>20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25</vt:i4>
      </vt:variant>
    </vt:vector>
  </HeadingPairs>
  <TitlesOfParts>
    <vt:vector size="33"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25</cp:revision>
  <dcterms:created xsi:type="dcterms:W3CDTF">2025-01-27T02:46:57Z</dcterms:created>
  <dcterms:modified xsi:type="dcterms:W3CDTF">2026-04-26T18:14:52Z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