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2"/>
  </p:notesMasterIdLst>
  <p:handoutMasterIdLst>
    <p:handoutMasterId r:id="rId33"/>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315" r:id="rId24"/>
    <p:sldId id="290" r:id="rId25"/>
    <p:sldId id="316" r:id="rId26"/>
    <p:sldId id="297" r:id="rId27"/>
    <p:sldId id="317" r:id="rId28"/>
    <p:sldId id="292" r:id="rId29"/>
    <p:sldId id="298" r:id="rId30"/>
    <p:sldId id="288" r:id="rId3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p:scale>
          <a:sx n="100" d="100"/>
          <a:sy n="100" d="100"/>
        </p:scale>
        <p:origin x="437" y="-27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29/04/2026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29/04/2026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45F-146D-1B37-DA3A-EFBC8740DD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7DB63E4-A2EE-8E70-8D38-E4B3DC9917A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194DFE-C95A-3F0D-FB68-6AEC285D71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56D426-3AF8-8C2E-B9AA-6D06DC8839E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3720195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63820-3581-F8D2-8EFF-C97772868F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84D89D2-BECC-DD50-EC7D-5E64C468632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FE1EEC2-F2C0-404F-5D55-081E5B8612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B4FF7EE-D814-FD95-0985-1DD43576A390}"/>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580943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8689-919D-C6D1-23DB-9D443034FE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6EC498C-71FA-B367-1AF8-849444AB2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5AD165-93C6-0949-D5A3-47E7E7E96A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65B6FFD-F2B4-58A2-A274-518A8E06A7E0}"/>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4025047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29</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sv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svg"/><Relationship Id="rId7"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9.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3.svg"/><Relationship Id="rId7"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3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0.09 </a:t>
            </a:r>
            <a:r>
              <a:rPr lang="en-US" sz="1000" dirty="0">
                <a:latin typeface="Arial" panose="020B0604020202020204" pitchFamily="34" charset="0"/>
                <a:cs typeface="Arial" panose="020B0604020202020204" pitchFamily="34" charset="0"/>
              </a:rPr>
              <a:t>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-0.8</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0.15</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0.1</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parámetros geométricos 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914400" y="1377510"/>
            <a:ext cx="104394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C001F98-F39C-6E09-FB93-AF7A466D2476}"/>
              </a:ext>
            </a:extLst>
          </p:cNvPr>
          <p:cNvPicPr>
            <a:picLocks noChangeAspect="1"/>
          </p:cNvPicPr>
          <p:nvPr/>
        </p:nvPicPr>
        <p:blipFill>
          <a:blip r:embed="rId4"/>
          <a:stretch>
            <a:fillRect/>
          </a:stretch>
        </p:blipFill>
        <p:spPr>
          <a:xfrm>
            <a:off x="1108650" y="1450461"/>
            <a:ext cx="4800600" cy="3147934"/>
          </a:xfrm>
          <a:prstGeom prst="rect">
            <a:avLst/>
          </a:prstGeom>
        </p:spPr>
      </p:pic>
      <p:pic>
        <p:nvPicPr>
          <p:cNvPr id="9" name="Imagen 8">
            <a:extLst>
              <a:ext uri="{FF2B5EF4-FFF2-40B4-BE49-F238E27FC236}">
                <a16:creationId xmlns:a16="http://schemas.microsoft.com/office/drawing/2014/main" id="{30159A58-0B80-D939-378C-E7585B8C55B8}"/>
              </a:ext>
            </a:extLst>
          </p:cNvPr>
          <p:cNvPicPr>
            <a:picLocks noChangeAspect="1"/>
          </p:cNvPicPr>
          <p:nvPr/>
        </p:nvPicPr>
        <p:blipFill>
          <a:blip r:embed="rId5"/>
          <a:stretch>
            <a:fillRect/>
          </a:stretch>
        </p:blipFill>
        <p:spPr>
          <a:xfrm>
            <a:off x="6282752" y="1831949"/>
            <a:ext cx="4632198" cy="226977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A4A2-B106-65AB-3B19-59A1AC84B7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F9E29E-1A15-80D1-9D3A-34EA0165324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27533CA7-AB46-E8A2-DE9E-0C6186BB2A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FA5AB7-648D-C061-881F-625CAE6892E0}"/>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1E67F8A6-95D9-CD79-AFFA-5BFCF3302BF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CD60CE4-B0C1-29D7-CE40-DA4CA185A038}"/>
                  </a:ext>
                </a:extLst>
              </p:cNvPr>
              <p:cNvSpPr txBox="1"/>
              <p:nvPr/>
            </p:nvSpPr>
            <p:spPr>
              <a:xfrm>
                <a:off x="583019" y="1447800"/>
                <a:ext cx="11199971" cy="24038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Repeat all the design process for a 1x4 MMI Coupler.  </a:t>
                </a:r>
              </a:p>
              <a:p>
                <a:pPr algn="just"/>
                <a:endParaRPr lang="en-US" sz="12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1x4 </a:t>
                </a:r>
                <a:r>
                  <a:rPr lang="en-US" sz="1000" dirty="0" err="1">
                    <a:latin typeface="Arial" panose="020B0604020202020204" pitchFamily="34" charset="0"/>
                    <a:cs typeface="Arial" panose="020B0604020202020204" pitchFamily="34" charset="0"/>
                  </a:rPr>
                  <a:t>basado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réplica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imágenes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única</a:t>
                </a:r>
                <a:r>
                  <a:rPr lang="en-US" sz="1000" dirty="0">
                    <a:latin typeface="Arial" panose="020B0604020202020204" pitchFamily="34" charset="0"/>
                    <a:cs typeface="Arial" panose="020B0604020202020204" pitchFamily="34" charset="0"/>
                  </a:rPr>
                  <a:t> entrada genera cuatro replicas del campo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En primer </a:t>
                </a:r>
                <a:r>
                  <a:rPr lang="en-US" sz="1000" dirty="0" err="1">
                    <a:latin typeface="Arial" panose="020B0604020202020204" pitchFamily="34" charset="0"/>
                    <a:cs typeface="Arial" panose="020B0604020202020204" pitchFamily="34" charset="0"/>
                  </a:rPr>
                  <a:t>lugar</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fijado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wg_width_dw</a:t>
                </a:r>
                <a:r>
                  <a:rPr lang="en-US" sz="1000" i="1" dirty="0">
                    <a:latin typeface="Arial" panose="020B0604020202020204" pitchFamily="34" charset="0"/>
                    <a:cs typeface="Arial" panose="020B0604020202020204" pitchFamily="34" charset="0"/>
                  </a:rPr>
                  <a:t> = 0.2</a:t>
                </a:r>
                <a:r>
                  <a:rPr lang="en-US" sz="1000" dirty="0">
                    <a:latin typeface="Arial" panose="020B0604020202020204" pitchFamily="34" charset="0"/>
                    <a:cs typeface="Arial" panose="020B0604020202020204" pitchFamily="34" charset="0"/>
                  </a:rPr>
                  <a:t> y se ha </a:t>
                </a:r>
                <a:r>
                  <a:rPr lang="en-US" sz="1000" dirty="0" err="1">
                    <a:latin typeface="Arial" panose="020B0604020202020204" pitchFamily="34" charset="0"/>
                    <a:cs typeface="Arial" panose="020B0604020202020204" pitchFamily="34" charset="0"/>
                  </a:rPr>
                  <a:t>procedido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optimizar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ancho del MMI (</a:t>
                </a:r>
                <a:r>
                  <a:rPr lang="en-US" sz="1000" dirty="0" err="1">
                    <a:latin typeface="Arial" panose="020B0604020202020204" pitchFamily="34" charset="0"/>
                    <a:cs typeface="Arial" panose="020B0604020202020204" pitchFamily="34" charset="0"/>
                  </a:rPr>
                  <a:t>obteniendo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valor </a:t>
                </a:r>
                <a:r>
                  <a:rPr lang="en-US" sz="1000" dirty="0" err="1">
                    <a:latin typeface="Arial" panose="020B0604020202020204" pitchFamily="34" charset="0"/>
                    <a:cs typeface="Arial" panose="020B0604020202020204" pitchFamily="34" charset="0"/>
                  </a:rPr>
                  <a:t>óptimo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wMMI</a:t>
                </a:r>
                <a:r>
                  <a:rPr lang="en-US" sz="1000" i="1" dirty="0">
                    <a:latin typeface="Arial" panose="020B0604020202020204" pitchFamily="34" charset="0"/>
                    <a:cs typeface="Arial" panose="020B0604020202020204" pitchFamily="34" charset="0"/>
                  </a:rPr>
                  <a:t> = 6.2 um</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continuación, se ha recalculado </a:t>
                </a:r>
                <a14:m>
                  <m:oMath xmlns:m="http://schemas.openxmlformats.org/officeDocument/2006/math">
                    <m:sSub>
                      <m:sSubPr>
                        <m:ctrlPr>
                          <a:rPr lang="ar-AE" sz="1000" i="1">
                            <a:latin typeface="Cambria Math" panose="02040503050406030204" pitchFamily="18" charset="0"/>
                          </a:rPr>
                        </m:ctrlPr>
                      </m:sSubPr>
                      <m:e>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teniendo en cuenta la configuración con cuatro imágenes, utilizándose la relación correspondiente para estructuras 1×N simétricas. En este caso, la longitud del MMI se ha definido según </a:t>
                </a:r>
                <a14:m>
                  <m:oMath xmlns:m="http://schemas.openxmlformats.org/officeDocument/2006/math">
                    <m:r>
                      <m:rPr>
                        <m:sty m:val="p"/>
                      </m:rPr>
                      <a:rPr lang="es-ES" sz="1000" b="0" i="0" smtClean="0">
                        <a:latin typeface="Cambria Math" panose="02040503050406030204" pitchFamily="18" charset="0"/>
                      </a:rPr>
                      <m:t>L</m:t>
                    </m:r>
                    <m:r>
                      <a:rPr lang="es-ES" sz="1000" b="0" i="0" smtClean="0">
                        <a:latin typeface="Cambria Math" panose="02040503050406030204" pitchFamily="18" charset="0"/>
                      </a:rPr>
                      <m:t>=</m:t>
                    </m:r>
                    <m:f>
                      <m:fPr>
                        <m:ctrlPr>
                          <a:rPr lang="ar-AE" sz="1000" i="1">
                            <a:latin typeface="Cambria Math" panose="02040503050406030204" pitchFamily="18" charset="0"/>
                          </a:rPr>
                        </m:ctrlPr>
                      </m:fPr>
                      <m:num>
                        <m:r>
                          <a:rPr lang="ar-AE" sz="1000" b="0" i="0" smtClean="0">
                            <a:latin typeface="Cambria Math" panose="02040503050406030204" pitchFamily="18" charset="0"/>
                          </a:rPr>
                          <m:t>3</m:t>
                        </m:r>
                      </m:num>
                      <m:den>
                        <m:r>
                          <a:rPr lang="ar-AE" sz="1000" b="0" i="0" smtClean="0">
                            <a:latin typeface="Cambria Math" panose="02040503050406030204" pitchFamily="18" charset="0"/>
                          </a:rPr>
                          <m:t>16</m:t>
                        </m:r>
                      </m:den>
                    </m:f>
                    <m:sSub>
                      <m:sSubPr>
                        <m:ctrlPr>
                          <a:rPr lang="ar-AE" sz="1000" i="1">
                            <a:latin typeface="Cambria Math" panose="02040503050406030204" pitchFamily="18" charset="0"/>
                          </a:rPr>
                        </m:ctrlPr>
                      </m:sSubPr>
                      <m:e>
                        <m:r>
                          <a:rPr lang="es-ES" sz="1000" b="0" i="0" smtClean="0">
                            <a:latin typeface="Cambria Math" panose="02040503050406030204" pitchFamily="18" charset="0"/>
                          </a:rPr>
                          <m:t>∗</m:t>
                        </m:r>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obteniendo la formación de las autoimágenes en las posiciones deseadas.</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ajustado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obteniendo un valor óptimo de </a:t>
                </a:r>
                <a:r>
                  <a:rPr lang="es-ES" sz="1000" i="1" dirty="0" err="1">
                    <a:latin typeface="Arial" panose="020B0604020202020204" pitchFamily="34" charset="0"/>
                    <a:cs typeface="Arial" panose="020B0604020202020204" pitchFamily="34" charset="0"/>
                  </a:rPr>
                  <a:t>dL_MMI</a:t>
                </a:r>
                <a:r>
                  <a:rPr lang="es-ES" sz="1000" i="1" dirty="0">
                    <a:latin typeface="Arial" panose="020B0604020202020204" pitchFamily="34" charset="0"/>
                    <a:cs typeface="Arial" panose="020B0604020202020204" pitchFamily="34" charset="0"/>
                  </a:rPr>
                  <a:t> = 0.8</a:t>
                </a:r>
                <a:r>
                  <a:rPr lang="es-ES" sz="1000" dirty="0">
                    <a:latin typeface="Arial" panose="020B0604020202020204" pitchFamily="34" charset="0"/>
                    <a:cs typeface="Arial" panose="020B0604020202020204" pitchFamily="34" charset="0"/>
                  </a:rPr>
                  <a:t>, el cual actúa como una corrección sobre la longitud teórica, afinando la posición de las autoimágenes dentro del MMI.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resultado, se ha obtenido una distribución de potencia prácticamente uniforme en las cuatro salidas (aproximadamente 0.25 en cada una), cumpliendo así el objetivo de diseño. Además, las pérdidas obtenidas son de aproximadamente 0.07 dB, lo que indica un funcionamiento eficiente del dispositivo, al ser inferiores a 0.1 dB.</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CD60CE4-B0C1-29D7-CE40-DA4CA185A038}"/>
                  </a:ext>
                </a:extLst>
              </p:cNvPr>
              <p:cNvSpPr txBox="1">
                <a:spLocks noRot="1" noChangeAspect="1" noMove="1" noResize="1" noEditPoints="1" noAdjustHandles="1" noChangeArrowheads="1" noChangeShapeType="1" noTextEdit="1"/>
              </p:cNvSpPr>
              <p:nvPr/>
            </p:nvSpPr>
            <p:spPr>
              <a:xfrm>
                <a:off x="583019" y="1447800"/>
                <a:ext cx="11199971" cy="240380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73302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EDA44C1E-8688-AC34-01A5-54163625980D}"/>
              </a:ext>
            </a:extLst>
          </p:cNvPr>
          <p:cNvPicPr>
            <a:picLocks noChangeAspect="1"/>
          </p:cNvPicPr>
          <p:nvPr/>
        </p:nvPicPr>
        <p:blipFill>
          <a:blip r:embed="rId7"/>
          <a:stretch>
            <a:fillRect/>
          </a:stretch>
        </p:blipFill>
        <p:spPr>
          <a:xfrm>
            <a:off x="1310422" y="1538273"/>
            <a:ext cx="4084595" cy="3125082"/>
          </a:xfrm>
          <a:prstGeom prst="rect">
            <a:avLst/>
          </a:prstGeom>
        </p:spPr>
      </p:pic>
      <p:pic>
        <p:nvPicPr>
          <p:cNvPr id="12" name="Imagen 11">
            <a:extLst>
              <a:ext uri="{FF2B5EF4-FFF2-40B4-BE49-F238E27FC236}">
                <a16:creationId xmlns:a16="http://schemas.microsoft.com/office/drawing/2014/main" id="{95A741F0-2A7E-84DA-9167-F91851BF2E91}"/>
              </a:ext>
            </a:extLst>
          </p:cNvPr>
          <p:cNvPicPr>
            <a:picLocks noChangeAspect="1"/>
          </p:cNvPicPr>
          <p:nvPr/>
        </p:nvPicPr>
        <p:blipFill>
          <a:blip r:embed="rId8"/>
          <a:stretch>
            <a:fillRect/>
          </a:stretch>
        </p:blipFill>
        <p:spPr>
          <a:xfrm>
            <a:off x="7005571" y="1498925"/>
            <a:ext cx="4107026" cy="3164430"/>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2D1A9-CD98-8B8E-6121-7F6EC000F95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7745D7B-7629-1578-718C-26F2AD549FEB}"/>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206F50A-2EBF-E614-FA80-DC9DD4809F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B52DFDD-C90B-8310-C025-E0ECE8C0B9E2}"/>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6DC26FAC-847F-CF6D-E736-C19DBE61E21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79C670B6-5DD9-B08F-DDF1-A71B39764366}"/>
                  </a:ext>
                </a:extLst>
              </p:cNvPr>
              <p:cNvSpPr txBox="1"/>
              <p:nvPr/>
            </p:nvSpPr>
            <p:spPr>
              <a:xfrm>
                <a:off x="496014" y="14478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Make conclusions and observations from your results</a:t>
                </a:r>
              </a:p>
              <a:p>
                <a:pPr algn="just"/>
                <a:endParaRPr lang="en-US" sz="1200" b="1" i="1"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direccional y se ha realizado un barrido de su gap, es decir, la distancia entre sus dos guías. Posteriormente, se ha simulado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en función de dicho gap.</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gap,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aumenta significativamente porque al separar más las guías, el solapamiento de los campos evanescentes disminuye, al igual que la diferencia entre los índices efectivos, reduciendo el acoplo entre ellas.</a:t>
                </a:r>
              </a:p>
              <a:p>
                <a:pPr algn="just"/>
                <a:r>
                  <a:rPr lang="es-ES" sz="1000" dirty="0">
                    <a:latin typeface="Arial" panose="020B0604020202020204" pitchFamily="34" charset="0"/>
                    <a:cs typeface="Arial" panose="020B0604020202020204" pitchFamily="34" charset="0"/>
                  </a:rPr>
                  <a:t>Como consecuencia, la transferencia de potencia entre las guías es más lenta, por lo que se necesita una mayor longitud de propagación para completar el acoplo. Por tanto, al aumentar el gap, el acoplo disminuye y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aumenta.</a:t>
                </a:r>
                <a:endParaRPr lang="ar-AE"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tal y como se ve en las gráficas este aumento no es lineal, sino que presenta un crecimiento aproximadamente exponencial, debido a la naturaleza exponencial de la disminución de los campos evanescentes.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menor </a:t>
                </a:r>
                <a14:m>
                  <m:oMath xmlns:m="http://schemas.openxmlformats.org/officeDocument/2006/math">
                    <m:sSub>
                      <m:sSubPr>
                        <m:ctrlPr>
                          <a:rPr lang="ar-AE" sz="1000"/>
                        </m:ctrlPr>
                      </m:sSubPr>
                      <m:e>
                        <m:r>
                          <m:rPr>
                            <m:sty m:val="p"/>
                          </m:rPr>
                          <a:rPr lang="ar-AE" sz="1000" b="0" i="0"/>
                          <m:t>L</m:t>
                        </m:r>
                      </m:e>
                      <m:sub>
                        <m:r>
                          <m:rPr>
                            <m:sty m:val="p"/>
                          </m:rPr>
                          <a:rPr lang="ar-AE" sz="1000" b="0" i="0"/>
                          <m:t>π</m:t>
                        </m:r>
                      </m:sub>
                    </m:sSub>
                    <m:r>
                      <a:rPr lang="es-ES" sz="1000" b="0" i="0" smtClean="0">
                        <a:latin typeface="Cambria Math" panose="02040503050406030204" pitchFamily="18" charset="0"/>
                      </a:rPr>
                      <m:t>, </m:t>
                    </m:r>
                  </m:oMath>
                </a14:m>
                <a:r>
                  <a:rPr lang="es-ES" sz="1000" dirty="0">
                    <a:latin typeface="Arial" panose="020B0604020202020204" pitchFamily="34" charset="0"/>
                    <a:cs typeface="Arial" panose="020B0604020202020204" pitchFamily="34" charset="0"/>
                  </a:rPr>
                  <a:t>ya que el campo se extiende más fuera del núcleo por la menor confinación, aumentando el solapamiento entre las guías. En cambio,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y el acoplo es más débil, dando lugar a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más altos.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79C670B6-5DD9-B08F-DDF1-A71B39764366}"/>
                  </a:ext>
                </a:extLst>
              </p:cNvPr>
              <p:cNvSpPr txBox="1">
                <a:spLocks noRot="1" noChangeAspect="1" noMove="1" noResize="1" noEditPoints="1" noAdjustHandles="1" noChangeArrowheads="1" noChangeShapeType="1" noTextEdit="1"/>
              </p:cNvSpPr>
              <p:nvPr/>
            </p:nvSpPr>
            <p:spPr>
              <a:xfrm>
                <a:off x="496014" y="14478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452912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685AEF6D-BFCD-F741-9C2F-23439D1A2085}"/>
              </a:ext>
            </a:extLst>
          </p:cNvPr>
          <p:cNvPicPr>
            <a:picLocks noChangeAspect="1"/>
          </p:cNvPicPr>
          <p:nvPr/>
        </p:nvPicPr>
        <p:blipFill>
          <a:blip r:embed="rId7"/>
          <a:stretch>
            <a:fillRect/>
          </a:stretch>
        </p:blipFill>
        <p:spPr>
          <a:xfrm>
            <a:off x="931928" y="1637752"/>
            <a:ext cx="5022796" cy="2926124"/>
          </a:xfrm>
          <a:prstGeom prst="rect">
            <a:avLst/>
          </a:prstGeom>
        </p:spPr>
      </p:pic>
      <p:pic>
        <p:nvPicPr>
          <p:cNvPr id="12" name="Imagen 11">
            <a:extLst>
              <a:ext uri="{FF2B5EF4-FFF2-40B4-BE49-F238E27FC236}">
                <a16:creationId xmlns:a16="http://schemas.microsoft.com/office/drawing/2014/main" id="{463FC4BF-F685-8F53-9E64-29BC9C63FFCC}"/>
              </a:ext>
            </a:extLst>
          </p:cNvPr>
          <p:cNvPicPr>
            <a:picLocks noChangeAspect="1"/>
          </p:cNvPicPr>
          <p:nvPr/>
        </p:nvPicPr>
        <p:blipFill>
          <a:blip r:embed="rId8"/>
          <a:stretch>
            <a:fillRect/>
          </a:stretch>
        </p:blipFill>
        <p:spPr>
          <a:xfrm>
            <a:off x="6466714" y="1612870"/>
            <a:ext cx="5195977" cy="3024524"/>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521D-8936-E7A3-655B-652E55EBA3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06D48DC-8D36-C44C-67D5-BFEF6524C62E}"/>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E295E5C-0B9E-4B28-7F9C-9CE69CE625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1A4E98-EBBD-C1CF-7FDF-3AA0AC7B09F8}"/>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95B93DC7-CE29-91CD-1114-DE7A04C91D1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47F423D6-BF49-F16B-9504-5EEC1CA0F576}"/>
                  </a:ext>
                </a:extLst>
              </p:cNvPr>
              <p:cNvSpPr txBox="1"/>
              <p:nvPr/>
            </p:nvSpPr>
            <p:spPr>
              <a:xfrm>
                <a:off x="583019" y="1524000"/>
                <a:ext cx="11199971" cy="280076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caso, se ha vuelto a diseñar un acoplador direccional, con la diferencia de que ahora se ha llevado a cabo un barrido con la longitud de onda. Después se ha realizado una simulación de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función de dichas longitudes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la longitud de acoplo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disminuye porque el campo óptico se extiende más fuera del núcleo, incrementando el solapamiento de los campos evanescentes entre las guías. Como consecuencia, el acoplo entre ellas se vuelve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la diferencia entre los índices efectivos de los modos acoplados aumenta, lo que implica, según la expresión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que se necesita una menor longitud de propagación para transferir completamente la potencia de una guía a la otra.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tanto, la transferencia de potencia es más rápida y la longitud de acoplo disminuye al aumentar la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presenta menor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debido a que el campo se extiende más fuera del núcleo por la menor confinación, aumentando el solapamiento entre las guías.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el acoplo es más débil y los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son más altos. Además,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una respuesta más suave frente a variaciones de longitud de onda, lo que lo hace más robusto que la Deep frente a cambios en dicho parámetro.</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47F423D6-BF49-F16B-9504-5EEC1CA0F576}"/>
                  </a:ext>
                </a:extLst>
              </p:cNvPr>
              <p:cNvSpPr txBox="1">
                <a:spLocks noRot="1" noChangeAspect="1" noMove="1" noResize="1" noEditPoints="1" noAdjustHandles="1" noChangeArrowheads="1" noChangeShapeType="1" noTextEdit="1"/>
              </p:cNvSpPr>
              <p:nvPr/>
            </p:nvSpPr>
            <p:spPr>
              <a:xfrm>
                <a:off x="583019" y="1524000"/>
                <a:ext cx="11199971" cy="280076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5043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BA25E939-8302-DF96-BBAA-1F5765ECB437}"/>
              </a:ext>
            </a:extLst>
          </p:cNvPr>
          <p:cNvPicPr>
            <a:picLocks noChangeAspect="1"/>
          </p:cNvPicPr>
          <p:nvPr/>
        </p:nvPicPr>
        <p:blipFill>
          <a:blip r:embed="rId7"/>
          <a:srcRect t="2221"/>
          <a:stretch>
            <a:fillRect/>
          </a:stretch>
        </p:blipFill>
        <p:spPr>
          <a:xfrm>
            <a:off x="762638" y="1617862"/>
            <a:ext cx="5190531" cy="2965904"/>
          </a:xfrm>
          <a:prstGeom prst="rect">
            <a:avLst/>
          </a:prstGeom>
        </p:spPr>
      </p:pic>
      <p:pic>
        <p:nvPicPr>
          <p:cNvPr id="12" name="Imagen 11">
            <a:extLst>
              <a:ext uri="{FF2B5EF4-FFF2-40B4-BE49-F238E27FC236}">
                <a16:creationId xmlns:a16="http://schemas.microsoft.com/office/drawing/2014/main" id="{F93A7FA9-C5A6-DF2A-1516-B3C2139CC821}"/>
              </a:ext>
            </a:extLst>
          </p:cNvPr>
          <p:cNvPicPr>
            <a:picLocks noChangeAspect="1"/>
          </p:cNvPicPr>
          <p:nvPr/>
        </p:nvPicPr>
        <p:blipFill>
          <a:blip r:embed="rId8"/>
          <a:stretch>
            <a:fillRect/>
          </a:stretch>
        </p:blipFill>
        <p:spPr>
          <a:xfrm>
            <a:off x="6578859" y="1592639"/>
            <a:ext cx="5155647" cy="3016350"/>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29</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B802B6FA-71DA-4593-A6D6-F093940F1C7D}"/>
              </a:ext>
            </a:extLst>
          </p:cNvPr>
          <p:cNvPicPr>
            <a:picLocks noChangeAspect="1"/>
          </p:cNvPicPr>
          <p:nvPr/>
        </p:nvPicPr>
        <p:blipFill>
          <a:blip r:embed="rId7"/>
          <a:stretch>
            <a:fillRect/>
          </a:stretch>
        </p:blipFill>
        <p:spPr>
          <a:xfrm>
            <a:off x="914400" y="1614914"/>
            <a:ext cx="5117123" cy="2971800"/>
          </a:xfrm>
          <a:prstGeom prst="rect">
            <a:avLst/>
          </a:prstGeom>
        </p:spPr>
      </p:pic>
      <p:pic>
        <p:nvPicPr>
          <p:cNvPr id="12" name="Imagen 11">
            <a:extLst>
              <a:ext uri="{FF2B5EF4-FFF2-40B4-BE49-F238E27FC236}">
                <a16:creationId xmlns:a16="http://schemas.microsoft.com/office/drawing/2014/main" id="{7DE0037C-FE91-C3C4-3F74-D707078E978A}"/>
              </a:ext>
            </a:extLst>
          </p:cNvPr>
          <p:cNvPicPr>
            <a:picLocks noChangeAspect="1"/>
          </p:cNvPicPr>
          <p:nvPr/>
        </p:nvPicPr>
        <p:blipFill>
          <a:blip r:embed="rId8"/>
          <a:stretch>
            <a:fillRect/>
          </a:stretch>
        </p:blipFill>
        <p:spPr>
          <a:xfrm>
            <a:off x="6506141" y="1613012"/>
            <a:ext cx="5117123" cy="2973702"/>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30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1663</TotalTime>
  <Words>4513</Words>
  <Application>Microsoft Office PowerPoint</Application>
  <PresentationFormat>Panorámica</PresentationFormat>
  <Paragraphs>306</Paragraphs>
  <Slides>30</Slides>
  <Notes>25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30</vt:i4>
      </vt:variant>
    </vt:vector>
  </HeadingPairs>
  <TitlesOfParts>
    <vt:vector size="38"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6.2 µm</vt:lpstr>
      <vt:lpstr>Learning outcome #7 – 1x4 Multimode Interference Coupler  Wavelength 1.55 µm, wMMI = 6.2 µm</vt:lpstr>
      <vt:lpstr>Extra #1 – Directional coupler gap dependence Wavelength 1.55 µm, width 1.0 µm, gap 0.2-2.4 µm (step 0.2 µm) </vt:lpstr>
      <vt:lpstr>Extra #1 – Directional coupler gap dependence Wavelength 1.55 µm, width 1.0 µm, gap 0.2-2.4 µm (step 0.2 µm) </vt:lpstr>
      <vt:lpstr>Extra #2 – Directional wavelength dependence Wavelengths from 1.5 to 1.7 µm, gap = 0.6 µm, width 1.0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37</cp:revision>
  <dcterms:created xsi:type="dcterms:W3CDTF">2025-01-27T02:46:57Z</dcterms:created>
  <dcterms:modified xsi:type="dcterms:W3CDTF">2026-04-29T07:54:22Z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